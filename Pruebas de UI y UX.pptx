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42"/>
          <c:y val="0.02"/>
          <c:w val="0.52"/>
          <c:h val="0.9"/>
        </c:manualLayout>
      </c:layout>
      <c:barChart>
        <c:barDir val="bar"/>
        <c:grouping val="clustered"/>
        <c:ser>
          <c:idx val="0"/>
          <c:order val="0"/>
          <c:tx>
            <c:strRef>
              <c:f>Sheet1!$B$1</c:f>
              <c:strCache>
                <c:ptCount val="1"/>
                <c:pt idx="0">
                  <c:v>Puntos</c:v>
                </c:pt>
              </c:strCache>
            </c:strRef>
          </c:tx>
          <c:spPr>
            <a:solidFill>
              <a:srgbClr val="2A78D6"/>
            </a:solidFill>
            <a:ln w="19050">
              <a:solidFill>
                <a:srgbClr val="FCFCFB"/>
              </a:solidFill>
            </a:ln>
          </c:spPr>
          <c:dPt>
            <c:idx val="7"/>
            <c:spPr>
              <a:solidFill>
                <a:srgbClr val="184F95"/>
              </a:solidFill>
            </c:spPr>
          </c:dPt>
          <c:dPt>
            <c:idx val="8"/>
            <c:spPr>
              <a:solidFill>
                <a:srgbClr val="184F95"/>
              </a:solidFill>
            </c:spPr>
          </c:dPt>
          <c:dPt>
            <c:idx val="9"/>
            <c:spPr>
              <a:solidFill>
                <a:srgbClr val="184F95"/>
              </a:solidFill>
            </c:spPr>
          </c:dPt>
          <c:cat>
            <c:strRef>
              <c:f>Sheet1!$A$2:$A$11</c:f>
              <c:strCache>
                <c:ptCount val="10"/>
                <c:pt idx="0">
                  <c:v>Documentación y reflexión</c:v>
                </c:pt>
                <c:pt idx="1">
                  <c:v>Integración continua</c:v>
                </c:pt>
                <c:pt idx="2">
                  <c:v>Gestión de defectos</c:v>
                </c:pt>
                <c:pt idx="3">
                  <c:v>Regresión visual</c:v>
                </c:pt>
                <c:pt idx="4">
                  <c:v>Page Object Model</c:v>
                </c:pt>
                <c:pt idx="5">
                  <c:v>Localizadores y esperas</c:v>
                </c:pt>
                <c:pt idx="6">
                  <c:v>Estructura y ejecución</c:v>
                </c:pt>
                <c:pt idx="7">
                  <c:v>Usabilidad con usuarios</c:v>
                </c:pt>
                <c:pt idx="8">
                  <c:v>Accesibilidad (axe / WCAG)</c:v>
                </c:pt>
                <c:pt idx="9">
                  <c:v>Pruebas E2E</c:v>
                </c:pt>
              </c:strCache>
            </c:strRef>
          </c:cat>
          <c:val>
            <c:numRef>
              <c:f>Sheet1!$B$2:$B$11</c:f>
              <c:numCache>
                <c:formatCode>General</c:formatCode>
                <c:ptCount val="10"/>
                <c:pt idx="0">
                  <c:v>5</c:v>
                </c:pt>
                <c:pt idx="1">
                  <c:v>5</c:v>
                </c:pt>
                <c:pt idx="2">
                  <c:v>5</c:v>
                </c:pt>
                <c:pt idx="3">
                  <c:v>5</c:v>
                </c:pt>
                <c:pt idx="4">
                  <c:v>5</c:v>
                </c:pt>
                <c:pt idx="5">
                  <c:v>5</c:v>
                </c:pt>
                <c:pt idx="6">
                  <c:v>5</c:v>
                </c:pt>
                <c:pt idx="7">
                  <c:v>10</c:v>
                </c:pt>
                <c:pt idx="8">
                  <c:v>10</c:v>
                </c:pt>
                <c:pt idx="9">
                  <c:v>10</c:v>
                </c:pt>
              </c:numCache>
            </c:numRef>
          </c:val>
        </c:ser>
        <c:dLbls>
          <c:txPr>
            <a:bodyPr/>
            <a:lstStyle/>
            <a:p>
              <a:pPr>
                <a:defRPr sz="1200">
                  <a:solidFill>
                    <a:srgbClr val="52514E"/>
                  </a:solidFill>
                </a:defRPr>
              </a:pPr>
            </a:p>
          </c:txPr>
          <c:dLblPos val="outEnd"/>
          <c:showLegendKey val="0"/>
          <c:showVal val="1"/>
          <c:showCatName val="0"/>
          <c:showSerName val="0"/>
          <c:showPercent val="0"/>
          <c:showBubbleSize val="0"/>
          <c:showLeaderLines val="1"/>
        </c:dLbls>
        <c:gapWidth val="45"/>
        <c:overlap val="-10"/>
        <c:axId val="-2068027336"/>
        <c:axId val="-2113994440"/>
      </c:barChart>
      <c:catAx>
        <c:axId val="-2068027336"/>
        <c:scaling>
          <c:orientation val="minMax"/>
        </c:scaling>
        <c:delete val="0"/>
        <c:axPos val="l"/>
        <c:majorTickMark val="none"/>
        <c:minorTickMark val="none"/>
        <c:tickLblPos val="nextTo"/>
        <c:spPr>
          <a:ln>
            <a:solidFill>
              <a:srgbClr val="C3C2B7"/>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10.0"/>
          <c:min val="0.0"/>
        </c:scaling>
        <c:delete/>
        <c:axPos val="b"/>
        <c:numFmt formatCode="General" sourceLinked="0"/>
        <c:majorTickMark val="none"/>
        <c:minorTickMark val="none"/>
        <c:tickLblPos val="nextTo"/>
        <c:spPr>
          <a:ln>
            <a:solidFill>
              <a:srgbClr val="C3C2B7"/>
            </a:solidFill>
          </a:ln>
        </c:spPr>
        <c:txPr>
          <a:bodyPr/>
          <a:lstStyle/>
          <a:p>
            <a:pPr>
              <a:defRPr>
                <a:solidFill>
                  <a:srgbClr val="52514E"/>
                </a:solidFill>
              </a:defRPr>
            </a:pPr>
          </a:p>
        </c:txPr>
        <c:crossAx val="-2068027336"/>
        <c:crosses val="autoZero"/>
        <c:majorUnit val="5.0"/>
      </c:valAx>
    </c:plotArea>
    <c:dispBlanksAs val="gap"/>
  </c:chart>
  <c:txPr>
    <a:bodyPr/>
    <a:lstStyle/>
    <a:p>
      <a:pPr>
        <a:defRPr sz="1200">
          <a:solidFill>
            <a:srgbClr val="52514E"/>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del taller. La idea que ordena toda la sesión está en el subtítulo: hay preguntas que se responden ejecutando código (¿la interfaz funciona?) y una que solo se responde observando personas (¿la gente entiende cómo usarla?). La captura es la aplicación real que van a probar, la misma Registraduría de los talleres de unitarias, integración y carga, ahora con interfaz web.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del taller. E2E significa end to end, de extremo a extremo: probar el sistema completo como lo usaría una persona, desde el navegador hasta el servidor. Los módulos 1 a 4 se automatizan con Playwright (28 pruebas en total; Selenium es la pista alternativa, con 7). El 5 no se automatiza: es una sesión con cinco personas. El 6 es exploratorio y no suma puntos. Conviene decir desde el principio que el 3B existe para ver fallar a la herramienta: el módulo 3 sale verde y eso, como aprendizaje, no enseña a leer un informe de axe.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tesis del taller. Las cuatro primeras técnicas se automatizan y responden si la interfaz funciona, si las pruebas aguantan cambios, si cumple lo medible de WCAG y si algo cambió sin querer. Ninguna dice si una persona entiende la pantalla. Accesibilidad queda en la frontera a propósito: axe mide cerca del 40 %, el resto es juicio humano.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el camino de una inscripción. El navegador valida primero (nombre, documento, edad entre 0 y 120) y solo si pasa llama a POST /register. El servidor vuelve a validar y además conoce lo que el navegador no puede saber: si la persona está viva y si el documento ya existe. Esta duplicación es la que explota la prueba 09 más adelante. La captura es un rechazo real por minoría de edad.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la primera línea de código, qué es Playwright. Es una librería de Microsoft que abre un navegador real (en el taller, Chromium) y lo maneja desde JavaScript: navega, escribe, hace clic y verifica lo que ve. La prueba de la derecha es la 01 del módulo 1, tal como está en el repositorio. Tres palabras aparecen en todo el taller: test (una prueba), el localizador (cómo se encuentra un elemento) y expect (la aserción: lo que debe cumplirse). Playwright reintenta cada expect hasta que se cumple o se acaba el tiempo, y eso es lo que hace innecesarias las esperas fijas. npm test no necesita que la Registraduría esté corriendo: webServer, en playwright.config.js, la levanta, espera a que /actuator/health responda y la apaga al terminar. Para verlo trabajar: npm run test:headed.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formas de encontrar el mismo botón. getByRole sobrevive a un rediseño y además comprueba que el botón tiene nombre accesible: si un lector de pantalla no lo encuentra, la prueba tampoco. Las clases CSS cambian con el primer ajuste de estilos, y un XPath absoluto se rompe si alguien agrega un div. La rúbrica penaliza el XPath absoluto.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lecciones sobre estabilidad. La primera: cero esperas fijas; Playwright reintenta la aserción hasta que se cumple o se acaba el tiempo. La segunda es una historia real de este repositorio: el documento único se generaba con Date.now() % 1000000. Parece único y no lo es. Con --repeat-each=30 y 8 workers, dos copias arrancaban en el mismo milisegundo y una de cada 30 fallaba con "Documento ya inscrito". No era el servidor ni la red: era la prueba.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mismo escenario del módulo 1 escrito con un Page Object. La prueba dice qué se está probando (una persona de 17 años es rechazada) y RegistroPage sabe cómo se interactúa con la pantalla. Si el botón cambia de texto, se corrige en un lugar. En la entrega, ninguna prueba puede tener un localizador directo.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prueba 09 prueba las dos capas. Por la interfaz es imposible provocar INVALID_AGE: el navegador bloquea 150 antes de enviar, y la prueba verifica que ni siquiera hubo petición. Si solo se prueba por la UI, se concluye que la regla del servidor no existe o sobra, y las dos conclusiones son falsas: la API se llama sin formulario, justo lo que hace el taller de carga. Por eso la entrega pide un escenario de este tipo.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hablar de sus límites, qué es axe. Es un motor de código abierto (axe-core, de la empresa Deque) que recorre la página ya dibujada en el navegador y la compara contra reglas de WCAG. En el taller se usa desde Playwright con la librería @axe-core/playwright: la prueba abre la página, le pide a axe que la analice y exige que la lista de violaciones esté vacía. La salida de abajo es real: es lo que imprime la prueba del taller cuando se ejecuta axe sobre defectuosa.html. Cada violación dice la regla, el impacto, cómo corregirla y el selector del elemento. Axe responde en inglés; los mensajes no se traducen. Cuando se dice "las pruebas de axe pasan" o "salen en verde" se quiere decir exactamente esto: la lista vino vacía. Abajo, WCAG: la norma que axe revisa. Las leyes, como la EAA, suelen exigir el nivel AA.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Contexto legal: el European Accessibility Act es exigible desde junio de 2025 y en Estados Unidos la ADA genera litigio constante. Pero lo importante del módulo es el limite de la herramienta: axe detecta de forma fiable cerca del 40 % de los problemas WCAG, los mecánicos. Lo demás exige juicio. El módulo audita también la página con errores visibles: los estados de error son el punto ciego clásico.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defectuosa.html es la misma pantalla con 17 defectos puestos a mano. Lo que enseña el módulo es que no se reparten en dos montones sino en tres. A: axe los reporta con el filtro WCAG. B: solo si se quita el filtro. C: nunca, hay que buscarlos a mano. La frontera entre A y B la decide una línea de configuración. Las tres listas se obtuvieron ejecutando axe, no leyendo documentación: si una regla cambia de categoría, las pruebas del 3B fallan.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Casi todos los tutoriales copian withTags con las etiquetas WCAG sin decir que ese filtro silencia la categoría best-practice de axe, donde viven el orden de encabezados, la ausencia de main y los tabindex positivos. La prueba 02 del módulo corre la misma página dos veces, con y sin filtro. Pregunta para el Wiki: cuál de las cuatro reglas escondidas le parece más grave y por qué.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defecto más instructivo del grupo C. El campo del nombre solo tiene placeholder, que desaparece al escribir. Axe lo da por bueno porque el placeholder cuenta como nombre accesible en el cálculo de accname. La única queja de axe sobre ese input es su tabindex positivo. La prueba 05 del módulo 3, escrita a mano, exige label for o aria-label y sí lo encuentra: esa es la razón concreta para escribir aserciones propias además de pasar la herramienta.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capturas de referencia reales del taller: el formulario vacío, un resultado de rechazo y el formulario en móvil. toHaveScreenshot compara píxel a píxel. El riesgo del patrón es actualizar las referencias sin mirar el diff: ahí la prueba deja de proteger. Las capturas dependen del sistema operativo y las fuentes, por eso el CI del taller no ejecuta este módulo.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único módulo que no se automatiza. Cinco participantes bastan: con 5 personas se detecta cerca del 85 % de los problemas (Nielsen); después cada uno repite hallazgos. Deben ser personas que no conozcan el proyecto. La diferencia entre instrucción y objetivo decide si la prueba sirve: la instrucción ya contiene la respuesta. Reglas del moderador: no ayudar, no explicar la interfaz, pedir que piensen en voz alta y registrar lo que hacen, no solo lo que dicen.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Diez preguntas al terminar la sesión, de 1 a 5. Las impares suman x - 1, las pares 5 - x, y la suma se multiplica por 2,5. El resultado va de 0 a 100 y no es un porcentaje. 68 es la media de la industria: la mitad de los sistemas medidos puntúan por debajo. Bandas de Sauro y Lewis.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Modulo exploratorio, no suma puntos. No se discute si la IA es buena: se mide, sobre esta aplicación, qué encuentra, qué se inventa y qué se le escapa. Los cuatro experimentos siguen el mismo ciclo, y el paso 4 es posible porque aquí tenemos algo que casi nunca hay en un proyecto real: una verdad conocida. Sabemos qué 17 defectos tiene defectuosa.html y qué reglas aplica la Registraduría, en qué orden. Herramientas: ChatGPT (responde lo que se le pega) y Claude Code (trabaja en una carpeta, ejecuta pruebas y maneja un navegador con Playwright MCP). Esa diferencia es una variable del experimento.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error más fácil de cometer. El taller tiene las respuestas en tres lugares: los comentarios de defectuosa.html, las pruebas de los módulos 1 y 2, y el README. Si la IA los ve, el resultado sale espectacular y no significa nada. En aprendizaje automático esto se llama evaluar con datos que el modelo ya vio. Por eso los scripts preparan copias limpias fuera del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proxy se pone delante de la Registraduría y le introduce seis defectos, uno a la vez. Cada suite se ejecuta siete veces: una limpia y una por sabotaje, y cada detección se confirma repitiendo. Detectado: alguna prueba falló. Sobrevivió: el sabotaje actuo y ninguna prueba lo notó. No ejercitado: ninguna prueba paso por ahí. La suite del taller detecta S4 porque la prueba 09 llama a la API a propósito, y no detecta S6 porque eso lo revisa el módulo 3, que no participa. El ejemplo está escrito a mano (no lo generó ninguna IA) e imita los defectos típicos de las pruebas generadas: pasa en verde con la aplicación intacta y solo detecta 3 de 6. Aclararlo en clase: no es un resultado de ChatGPT ni de Claude Code. Cifras de npm run ia:sabotaje -- --ejemplo.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Playwright es la pista principal (28 pruebas) y Selenium con Java la alternativa (7). Las diferencias que importan en este taller: Playwright espera solo y levanta la aplicación antes de probar; con Selenium hay que esperar a mano con WebDriverWait y tener la app corriendo. Accesibilidad y regresión visual son nativas o casi en Playwright. Selenium sigue siendo el estándar histórico y soporta prácticamente todos los lenguajes.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rúbrica suma 65 puntos: 13 criterios de 5 puntos. Son 10 filas, pero E2E, Accesibilidad y Usabilidad con usuarios valen por dos: son el núcleo del taller. La prueba definitiva antes de entregar: clonar el propio repositorio en otra carpeta y ejecutar npm test. El módulo 6 no suma puntos.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que cierra el taller y que deben responder en el Wiki. Si la respuesta es "ninguna", lo más probable es que la sesión con usuarios se haya hecho con compañeros que ya conocian el formulario, o con tareas escritas como instrucciones. Las otras dos preguntas de la reflexión final están abajo.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1097280"/>
            <a:ext cx="6217920" cy="274320"/>
          </a:xfrm>
          <a:prstGeom prst="rect">
            <a:avLst/>
          </a:prstGeom>
          <a:noFill/>
        </p:spPr>
        <p:txBody>
          <a:bodyPr wrap="square" lIns="0" rIns="0" tIns="0" bIns="0" anchor="t">
            <a:spAutoFit/>
          </a:bodyPr>
          <a:lstStyle/>
          <a:p>
            <a:pPr algn="l">
              <a:lnSpc>
                <a:spcPct val="110000"/>
              </a:lnSpc>
            </a:pPr>
            <a:r>
              <a:rPr sz="1200" b="1" i="0" spc="150">
                <a:solidFill>
                  <a:srgbClr val="2A78D6"/>
                </a:solidFill>
                <a:latin typeface="Segoe UI"/>
              </a:rPr>
              <a:t>TESTING Y VALIDACIÓN DE SOFTWARE</a:t>
            </a:r>
          </a:p>
        </p:txBody>
      </p:sp>
      <p:sp>
        <p:nvSpPr>
          <p:cNvPr id="3" name="TextBox 2"/>
          <p:cNvSpPr txBox="1"/>
          <p:nvPr/>
        </p:nvSpPr>
        <p:spPr>
          <a:xfrm>
            <a:off x="548640" y="1463040"/>
            <a:ext cx="6217920" cy="1737360"/>
          </a:xfrm>
          <a:prstGeom prst="rect">
            <a:avLst/>
          </a:prstGeom>
          <a:noFill/>
        </p:spPr>
        <p:txBody>
          <a:bodyPr wrap="square" lIns="0" rIns="0" tIns="0" bIns="0" anchor="t">
            <a:spAutoFit/>
          </a:bodyPr>
          <a:lstStyle/>
          <a:p>
            <a:pPr algn="l">
              <a:lnSpc>
                <a:spcPct val="100000"/>
              </a:lnSpc>
            </a:pPr>
            <a:r>
              <a:rPr sz="4800" b="1" i="0">
                <a:solidFill>
                  <a:srgbClr val="0B0B0B"/>
                </a:solidFill>
                <a:latin typeface="Segoe UI"/>
              </a:rPr>
              <a:t>Pruebas de UI y UX</a:t>
            </a:r>
          </a:p>
        </p:txBody>
      </p:sp>
      <p:sp>
        <p:nvSpPr>
          <p:cNvPr id="4" name="TextBox 3"/>
          <p:cNvSpPr txBox="1"/>
          <p:nvPr/>
        </p:nvSpPr>
        <p:spPr>
          <a:xfrm>
            <a:off x="548640" y="2331720"/>
            <a:ext cx="6035040" cy="1188720"/>
          </a:xfrm>
          <a:prstGeom prst="rect">
            <a:avLst/>
          </a:prstGeom>
          <a:noFill/>
        </p:spPr>
        <p:txBody>
          <a:bodyPr wrap="square" lIns="0" rIns="0" tIns="0" bIns="0" anchor="t">
            <a:spAutoFit/>
          </a:bodyPr>
          <a:lstStyle/>
          <a:p>
            <a:pPr algn="l">
              <a:lnSpc>
                <a:spcPct val="115000"/>
              </a:lnSpc>
            </a:pPr>
            <a:r>
              <a:rPr sz="2000" b="0" i="0">
                <a:solidFill>
                  <a:srgbClr val="52514E"/>
                </a:solidFill>
                <a:latin typeface="Segoe UI"/>
              </a:rPr>
              <a:t>¿La interfaz funciona? Eso lo responde una máquina. ¿La gente entiende cómo usarla? Eso solo se responde mirando a personas.</a:t>
            </a:r>
          </a:p>
        </p:txBody>
      </p:sp>
      <p:sp>
        <p:nvSpPr>
          <p:cNvPr id="5" name="Rounded Rectangle 4"/>
          <p:cNvSpPr/>
          <p:nvPr/>
        </p:nvSpPr>
        <p:spPr>
          <a:xfrm>
            <a:off x="548640" y="3703320"/>
            <a:ext cx="699516"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E2E</a:t>
            </a:r>
          </a:p>
        </p:txBody>
      </p:sp>
      <p:sp>
        <p:nvSpPr>
          <p:cNvPr id="6" name="Rounded Rectangle 5"/>
          <p:cNvSpPr/>
          <p:nvPr/>
        </p:nvSpPr>
        <p:spPr>
          <a:xfrm>
            <a:off x="1357884" y="3703320"/>
            <a:ext cx="2043684"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Page Object Model</a:t>
            </a:r>
          </a:p>
        </p:txBody>
      </p:sp>
      <p:sp>
        <p:nvSpPr>
          <p:cNvPr id="7" name="Rounded Rectangle 6"/>
          <p:cNvSpPr/>
          <p:nvPr/>
        </p:nvSpPr>
        <p:spPr>
          <a:xfrm>
            <a:off x="3511296" y="3703320"/>
            <a:ext cx="1659636"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Accesibilidad</a:t>
            </a:r>
          </a:p>
        </p:txBody>
      </p:sp>
      <p:sp>
        <p:nvSpPr>
          <p:cNvPr id="8" name="Rounded Rectangle 7"/>
          <p:cNvSpPr/>
          <p:nvPr/>
        </p:nvSpPr>
        <p:spPr>
          <a:xfrm>
            <a:off x="548640" y="4114800"/>
            <a:ext cx="1947672"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Regresión visual</a:t>
            </a:r>
          </a:p>
        </p:txBody>
      </p:sp>
      <p:sp>
        <p:nvSpPr>
          <p:cNvPr id="9" name="Rounded Rectangle 8"/>
          <p:cNvSpPr/>
          <p:nvPr/>
        </p:nvSpPr>
        <p:spPr>
          <a:xfrm>
            <a:off x="2606040" y="4114800"/>
            <a:ext cx="1371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Usabilidad</a:t>
            </a:r>
          </a:p>
        </p:txBody>
      </p:sp>
      <p:sp>
        <p:nvSpPr>
          <p:cNvPr id="10" name="Rounded Rectangle 9"/>
          <p:cNvSpPr/>
          <p:nvPr/>
        </p:nvSpPr>
        <p:spPr>
          <a:xfrm>
            <a:off x="4087368" y="4114800"/>
            <a:ext cx="1659636"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Probar con IA</a:t>
            </a:r>
          </a:p>
        </p:txBody>
      </p:sp>
      <p:sp>
        <p:nvSpPr>
          <p:cNvPr id="11" name="TextBox 10"/>
          <p:cNvSpPr txBox="1"/>
          <p:nvPr/>
        </p:nvSpPr>
        <p:spPr>
          <a:xfrm>
            <a:off x="548640" y="5074920"/>
            <a:ext cx="6035040" cy="822960"/>
          </a:xfrm>
          <a:prstGeom prst="rect">
            <a:avLst/>
          </a:prstGeom>
          <a:noFill/>
        </p:spPr>
        <p:txBody>
          <a:bodyPr wrap="square" lIns="0" rIns="0" tIns="0" bIns="0" anchor="t">
            <a:spAutoFit/>
          </a:bodyPr>
          <a:lstStyle/>
          <a:p>
            <a:pPr algn="l">
              <a:lnSpc>
                <a:spcPct val="120000"/>
              </a:lnSpc>
            </a:pPr>
            <a:r>
              <a:rPr sz="1300" b="1" i="0">
                <a:solidFill>
                  <a:srgbClr val="0B0B0B"/>
                </a:solidFill>
                <a:latin typeface="Segoe UI"/>
              </a:rPr>
              <a:t>Sistema bajo prueba: </a:t>
            </a:r>
            <a:r>
              <a:rPr sz="1300" b="0" i="0">
                <a:solidFill>
                  <a:srgbClr val="52514E"/>
                </a:solidFill>
                <a:latin typeface="Segoe UI"/>
              </a:rPr>
              <a:t>la Registraduría (Spring Boot), la misma aplicación de los talleres de pruebas unitarias, de integración y de carga.</a:t>
            </a:r>
          </a:p>
        </p:txBody>
      </p:sp>
      <p:sp>
        <p:nvSpPr>
          <p:cNvPr id="12" name="Rounded Rectangle 11"/>
          <p:cNvSpPr/>
          <p:nvPr/>
        </p:nvSpPr>
        <p:spPr>
          <a:xfrm>
            <a:off x="7086600" y="731520"/>
            <a:ext cx="4572000" cy="5243843"/>
          </a:xfrm>
          <a:prstGeom prst="roundRect">
            <a:avLst>
              <a:gd name="adj" fmla="val 2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Rectangle 12"/>
          <p:cNvSpPr/>
          <p:nvPr/>
        </p:nvSpPr>
        <p:spPr>
          <a:xfrm>
            <a:off x="7095744" y="740664"/>
            <a:ext cx="4553712" cy="301752"/>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4" name="Oval 13"/>
          <p:cNvSpPr/>
          <p:nvPr/>
        </p:nvSpPr>
        <p:spPr>
          <a:xfrm>
            <a:off x="7223760" y="841248"/>
            <a:ext cx="91440" cy="91440"/>
          </a:xfrm>
          <a:prstGeom prst="ellipse">
            <a:avLst/>
          </a:prstGeom>
          <a:solidFill>
            <a:srgbClr val="D03B3B"/>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79208" y="841248"/>
            <a:ext cx="91440" cy="91440"/>
          </a:xfrm>
          <a:prstGeom prst="ellipse">
            <a:avLst/>
          </a:prstGeom>
          <a:solidFill>
            <a:srgbClr val="FAB219"/>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534656" y="841248"/>
            <a:ext cx="91440" cy="91440"/>
          </a:xfrm>
          <a:prstGeom prst="ellipse">
            <a:avLst/>
          </a:prstGeom>
          <a:solidFill>
            <a:srgbClr val="0CA30C"/>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99831" y="795528"/>
            <a:ext cx="2926080" cy="1828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a:r>
              <a:rPr sz="900" b="0">
                <a:solidFill>
                  <a:srgbClr val="52514E"/>
                </a:solidFill>
                <a:latin typeface="Segoe UI"/>
              </a:rPr>
              <a:t>localhost:8080/</a:t>
            </a:r>
          </a:p>
        </p:txBody>
      </p:sp>
      <p:pic>
        <p:nvPicPr>
          <p:cNvPr id="18" name="Picture 17" descr="portada.png"/>
          <p:cNvPicPr>
            <a:picLocks noChangeAspect="1"/>
          </p:cNvPicPr>
          <p:nvPr/>
        </p:nvPicPr>
        <p:blipFill>
          <a:blip r:embed="rId3"/>
          <a:stretch>
            <a:fillRect/>
          </a:stretch>
        </p:blipFill>
        <p:spPr>
          <a:xfrm>
            <a:off x="7086600" y="1042416"/>
            <a:ext cx="4572000" cy="493294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MAPA DE LA SESIÓN</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Siete módulos, cinco preguntas distintas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2</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Rounded Rectangle 5"/>
          <p:cNvSpPr/>
          <p:nvPr/>
        </p:nvSpPr>
        <p:spPr>
          <a:xfrm>
            <a:off x="548640" y="1600200"/>
            <a:ext cx="2587752" cy="2148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77240" y="1783080"/>
            <a:ext cx="1097280" cy="548640"/>
          </a:xfrm>
          <a:prstGeom prst="rect">
            <a:avLst/>
          </a:prstGeom>
          <a:noFill/>
        </p:spPr>
        <p:txBody>
          <a:bodyPr wrap="square" lIns="0" rIns="0" tIns="0" bIns="0" anchor="t">
            <a:spAutoFit/>
          </a:bodyPr>
          <a:lstStyle/>
          <a:p>
            <a:pPr algn="l">
              <a:lnSpc>
                <a:spcPct val="110000"/>
              </a:lnSpc>
            </a:pPr>
            <a:r>
              <a:rPr sz="2800" b="1" i="0">
                <a:solidFill>
                  <a:srgbClr val="2A78D6"/>
                </a:solidFill>
                <a:latin typeface="Segoe UI"/>
              </a:rPr>
              <a:t>1</a:t>
            </a:r>
          </a:p>
        </p:txBody>
      </p:sp>
      <p:sp>
        <p:nvSpPr>
          <p:cNvPr id="8" name="TextBox 7"/>
          <p:cNvSpPr txBox="1"/>
          <p:nvPr/>
        </p:nvSpPr>
        <p:spPr>
          <a:xfrm>
            <a:off x="777240" y="2377440"/>
            <a:ext cx="2176272"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Pruebas E2E</a:t>
            </a:r>
          </a:p>
        </p:txBody>
      </p:sp>
      <p:sp>
        <p:nvSpPr>
          <p:cNvPr id="9" name="TextBox 8"/>
          <p:cNvSpPr txBox="1"/>
          <p:nvPr/>
        </p:nvSpPr>
        <p:spPr>
          <a:xfrm>
            <a:off x="777240" y="2697480"/>
            <a:ext cx="2176272" cy="6400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¿La interfaz funciona?</a:t>
            </a:r>
          </a:p>
        </p:txBody>
      </p:sp>
      <p:sp>
        <p:nvSpPr>
          <p:cNvPr id="10" name="Rounded Rectangle 9"/>
          <p:cNvSpPr/>
          <p:nvPr/>
        </p:nvSpPr>
        <p:spPr>
          <a:xfrm>
            <a:off x="777240" y="3291839"/>
            <a:ext cx="1065276"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000" b="1">
                <a:solidFill>
                  <a:srgbClr val="184F95"/>
                </a:solidFill>
                <a:latin typeface="Segoe UI"/>
              </a:rPr>
              <a:t>9 pruebas</a:t>
            </a:r>
          </a:p>
        </p:txBody>
      </p:sp>
      <p:sp>
        <p:nvSpPr>
          <p:cNvPr id="11" name="Rounded Rectangle 10"/>
          <p:cNvSpPr/>
          <p:nvPr/>
        </p:nvSpPr>
        <p:spPr>
          <a:xfrm>
            <a:off x="3383280" y="1600200"/>
            <a:ext cx="2587752" cy="2148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2" name="TextBox 11"/>
          <p:cNvSpPr txBox="1"/>
          <p:nvPr/>
        </p:nvSpPr>
        <p:spPr>
          <a:xfrm>
            <a:off x="3611880" y="1783080"/>
            <a:ext cx="1097280" cy="548640"/>
          </a:xfrm>
          <a:prstGeom prst="rect">
            <a:avLst/>
          </a:prstGeom>
          <a:noFill/>
        </p:spPr>
        <p:txBody>
          <a:bodyPr wrap="square" lIns="0" rIns="0" tIns="0" bIns="0" anchor="t">
            <a:spAutoFit/>
          </a:bodyPr>
          <a:lstStyle/>
          <a:p>
            <a:pPr algn="l">
              <a:lnSpc>
                <a:spcPct val="110000"/>
              </a:lnSpc>
            </a:pPr>
            <a:r>
              <a:rPr sz="2800" b="1" i="0">
                <a:solidFill>
                  <a:srgbClr val="2A78D6"/>
                </a:solidFill>
                <a:latin typeface="Segoe UI"/>
              </a:rPr>
              <a:t>2</a:t>
            </a:r>
          </a:p>
        </p:txBody>
      </p:sp>
      <p:sp>
        <p:nvSpPr>
          <p:cNvPr id="13" name="TextBox 12"/>
          <p:cNvSpPr txBox="1"/>
          <p:nvPr/>
        </p:nvSpPr>
        <p:spPr>
          <a:xfrm>
            <a:off x="3611880" y="2377440"/>
            <a:ext cx="2176272"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Page Object Model</a:t>
            </a:r>
          </a:p>
        </p:txBody>
      </p:sp>
      <p:sp>
        <p:nvSpPr>
          <p:cNvPr id="14" name="TextBox 13"/>
          <p:cNvSpPr txBox="1"/>
          <p:nvPr/>
        </p:nvSpPr>
        <p:spPr>
          <a:xfrm>
            <a:off x="3611880" y="2697480"/>
            <a:ext cx="2176272" cy="6400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¿Las pruebas sobreviven a un rediseño?</a:t>
            </a:r>
          </a:p>
        </p:txBody>
      </p:sp>
      <p:sp>
        <p:nvSpPr>
          <p:cNvPr id="15" name="Rounded Rectangle 14"/>
          <p:cNvSpPr/>
          <p:nvPr/>
        </p:nvSpPr>
        <p:spPr>
          <a:xfrm>
            <a:off x="3611880" y="3291839"/>
            <a:ext cx="1065276"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000" b="1">
                <a:solidFill>
                  <a:srgbClr val="184F95"/>
                </a:solidFill>
                <a:latin typeface="Segoe UI"/>
              </a:rPr>
              <a:t>5 pruebas</a:t>
            </a:r>
          </a:p>
        </p:txBody>
      </p:sp>
      <p:sp>
        <p:nvSpPr>
          <p:cNvPr id="16" name="Rounded Rectangle 15"/>
          <p:cNvSpPr/>
          <p:nvPr/>
        </p:nvSpPr>
        <p:spPr>
          <a:xfrm>
            <a:off x="6217920" y="1600200"/>
            <a:ext cx="2587752" cy="2148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6446520" y="1783080"/>
            <a:ext cx="1097280" cy="548640"/>
          </a:xfrm>
          <a:prstGeom prst="rect">
            <a:avLst/>
          </a:prstGeom>
          <a:noFill/>
        </p:spPr>
        <p:txBody>
          <a:bodyPr wrap="square" lIns="0" rIns="0" tIns="0" bIns="0" anchor="t">
            <a:spAutoFit/>
          </a:bodyPr>
          <a:lstStyle/>
          <a:p>
            <a:pPr algn="l">
              <a:lnSpc>
                <a:spcPct val="110000"/>
              </a:lnSpc>
            </a:pPr>
            <a:r>
              <a:rPr sz="2800" b="1" i="0">
                <a:solidFill>
                  <a:srgbClr val="2A78D6"/>
                </a:solidFill>
                <a:latin typeface="Segoe UI"/>
              </a:rPr>
              <a:t>3</a:t>
            </a:r>
          </a:p>
        </p:txBody>
      </p:sp>
      <p:sp>
        <p:nvSpPr>
          <p:cNvPr id="18" name="TextBox 17"/>
          <p:cNvSpPr txBox="1"/>
          <p:nvPr/>
        </p:nvSpPr>
        <p:spPr>
          <a:xfrm>
            <a:off x="6446520" y="2377440"/>
            <a:ext cx="2176272"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Accesibilidad</a:t>
            </a:r>
          </a:p>
        </p:txBody>
      </p:sp>
      <p:sp>
        <p:nvSpPr>
          <p:cNvPr id="19" name="TextBox 18"/>
          <p:cNvSpPr txBox="1"/>
          <p:nvPr/>
        </p:nvSpPr>
        <p:spPr>
          <a:xfrm>
            <a:off x="6446520" y="2697480"/>
            <a:ext cx="2176272" cy="6400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¿Cumple lo que una máquina puede medir de WCAG?</a:t>
            </a:r>
          </a:p>
        </p:txBody>
      </p:sp>
      <p:sp>
        <p:nvSpPr>
          <p:cNvPr id="20" name="Rounded Rectangle 19"/>
          <p:cNvSpPr/>
          <p:nvPr/>
        </p:nvSpPr>
        <p:spPr>
          <a:xfrm>
            <a:off x="6446520" y="3291839"/>
            <a:ext cx="1065276"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000" b="1">
                <a:solidFill>
                  <a:srgbClr val="184F95"/>
                </a:solidFill>
                <a:latin typeface="Segoe UI"/>
              </a:rPr>
              <a:t>5 pruebas</a:t>
            </a:r>
          </a:p>
        </p:txBody>
      </p:sp>
      <p:sp>
        <p:nvSpPr>
          <p:cNvPr id="21" name="Rounded Rectangle 20"/>
          <p:cNvSpPr/>
          <p:nvPr/>
        </p:nvSpPr>
        <p:spPr>
          <a:xfrm>
            <a:off x="9052560" y="1600200"/>
            <a:ext cx="2587752" cy="2148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2" name="TextBox 21"/>
          <p:cNvSpPr txBox="1"/>
          <p:nvPr/>
        </p:nvSpPr>
        <p:spPr>
          <a:xfrm>
            <a:off x="9281160" y="1783080"/>
            <a:ext cx="1097280" cy="548640"/>
          </a:xfrm>
          <a:prstGeom prst="rect">
            <a:avLst/>
          </a:prstGeom>
          <a:noFill/>
        </p:spPr>
        <p:txBody>
          <a:bodyPr wrap="square" lIns="0" rIns="0" tIns="0" bIns="0" anchor="t">
            <a:spAutoFit/>
          </a:bodyPr>
          <a:lstStyle/>
          <a:p>
            <a:pPr algn="l">
              <a:lnSpc>
                <a:spcPct val="110000"/>
              </a:lnSpc>
            </a:pPr>
            <a:r>
              <a:rPr sz="2800" b="1" i="0">
                <a:solidFill>
                  <a:srgbClr val="2A78D6"/>
                </a:solidFill>
                <a:latin typeface="Segoe UI"/>
              </a:rPr>
              <a:t>3B</a:t>
            </a:r>
          </a:p>
        </p:txBody>
      </p:sp>
      <p:sp>
        <p:nvSpPr>
          <p:cNvPr id="23" name="TextBox 22"/>
          <p:cNvSpPr txBox="1"/>
          <p:nvPr/>
        </p:nvSpPr>
        <p:spPr>
          <a:xfrm>
            <a:off x="9281160" y="2377440"/>
            <a:ext cx="2176272"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Ver fallar a axe</a:t>
            </a:r>
          </a:p>
        </p:txBody>
      </p:sp>
      <p:sp>
        <p:nvSpPr>
          <p:cNvPr id="24" name="TextBox 23"/>
          <p:cNvSpPr txBox="1"/>
          <p:nvPr/>
        </p:nvSpPr>
        <p:spPr>
          <a:xfrm>
            <a:off x="9281160" y="2697480"/>
            <a:ext cx="2176272" cy="6400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¿Qué no ve axe? 17 defectos sembrados</a:t>
            </a:r>
          </a:p>
        </p:txBody>
      </p:sp>
      <p:sp>
        <p:nvSpPr>
          <p:cNvPr id="25" name="Rounded Rectangle 24"/>
          <p:cNvSpPr/>
          <p:nvPr/>
        </p:nvSpPr>
        <p:spPr>
          <a:xfrm>
            <a:off x="9281160" y="3291839"/>
            <a:ext cx="1065276"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000" b="1">
                <a:solidFill>
                  <a:srgbClr val="184F95"/>
                </a:solidFill>
                <a:latin typeface="Segoe UI"/>
              </a:rPr>
              <a:t>6 pruebas</a:t>
            </a:r>
          </a:p>
        </p:txBody>
      </p:sp>
      <p:sp>
        <p:nvSpPr>
          <p:cNvPr id="26" name="Rounded Rectangle 25"/>
          <p:cNvSpPr/>
          <p:nvPr/>
        </p:nvSpPr>
        <p:spPr>
          <a:xfrm>
            <a:off x="548640" y="4023360"/>
            <a:ext cx="2587752" cy="2148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7" name="TextBox 26"/>
          <p:cNvSpPr txBox="1"/>
          <p:nvPr/>
        </p:nvSpPr>
        <p:spPr>
          <a:xfrm>
            <a:off x="777240" y="4206240"/>
            <a:ext cx="1097280" cy="548640"/>
          </a:xfrm>
          <a:prstGeom prst="rect">
            <a:avLst/>
          </a:prstGeom>
          <a:noFill/>
        </p:spPr>
        <p:txBody>
          <a:bodyPr wrap="square" lIns="0" rIns="0" tIns="0" bIns="0" anchor="t">
            <a:spAutoFit/>
          </a:bodyPr>
          <a:lstStyle/>
          <a:p>
            <a:pPr algn="l">
              <a:lnSpc>
                <a:spcPct val="110000"/>
              </a:lnSpc>
            </a:pPr>
            <a:r>
              <a:rPr sz="2800" b="1" i="0">
                <a:solidFill>
                  <a:srgbClr val="2A78D6"/>
                </a:solidFill>
                <a:latin typeface="Segoe UI"/>
              </a:rPr>
              <a:t>4</a:t>
            </a:r>
          </a:p>
        </p:txBody>
      </p:sp>
      <p:sp>
        <p:nvSpPr>
          <p:cNvPr id="28" name="TextBox 27"/>
          <p:cNvSpPr txBox="1"/>
          <p:nvPr/>
        </p:nvSpPr>
        <p:spPr>
          <a:xfrm>
            <a:off x="777240" y="4800600"/>
            <a:ext cx="2176272"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Regresión visual</a:t>
            </a:r>
          </a:p>
        </p:txBody>
      </p:sp>
      <p:sp>
        <p:nvSpPr>
          <p:cNvPr id="29" name="TextBox 28"/>
          <p:cNvSpPr txBox="1"/>
          <p:nvPr/>
        </p:nvSpPr>
        <p:spPr>
          <a:xfrm>
            <a:off x="777240" y="5120640"/>
            <a:ext cx="2176272" cy="6400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¿Cambió algo sin querer?</a:t>
            </a:r>
          </a:p>
        </p:txBody>
      </p:sp>
      <p:sp>
        <p:nvSpPr>
          <p:cNvPr id="30" name="Rounded Rectangle 29"/>
          <p:cNvSpPr/>
          <p:nvPr/>
        </p:nvSpPr>
        <p:spPr>
          <a:xfrm>
            <a:off x="777240" y="5715000"/>
            <a:ext cx="1065276"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000" b="1">
                <a:solidFill>
                  <a:srgbClr val="184F95"/>
                </a:solidFill>
                <a:latin typeface="Segoe UI"/>
              </a:rPr>
              <a:t>3 pruebas</a:t>
            </a:r>
          </a:p>
        </p:txBody>
      </p:sp>
      <p:sp>
        <p:nvSpPr>
          <p:cNvPr id="31" name="Rounded Rectangle 30"/>
          <p:cNvSpPr/>
          <p:nvPr/>
        </p:nvSpPr>
        <p:spPr>
          <a:xfrm>
            <a:off x="3383280" y="4023360"/>
            <a:ext cx="2587752" cy="2148840"/>
          </a:xfrm>
          <a:prstGeom prst="roundRect">
            <a:avLst>
              <a:gd name="adj" fmla="val 5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2" name="TextBox 31"/>
          <p:cNvSpPr txBox="1"/>
          <p:nvPr/>
        </p:nvSpPr>
        <p:spPr>
          <a:xfrm>
            <a:off x="3611880" y="4206240"/>
            <a:ext cx="1097280" cy="548640"/>
          </a:xfrm>
          <a:prstGeom prst="rect">
            <a:avLst/>
          </a:prstGeom>
          <a:noFill/>
        </p:spPr>
        <p:txBody>
          <a:bodyPr wrap="square" lIns="0" rIns="0" tIns="0" bIns="0" anchor="t">
            <a:spAutoFit/>
          </a:bodyPr>
          <a:lstStyle/>
          <a:p>
            <a:pPr algn="l">
              <a:lnSpc>
                <a:spcPct val="110000"/>
              </a:lnSpc>
            </a:pPr>
            <a:r>
              <a:rPr sz="2800" b="1" i="0">
                <a:solidFill>
                  <a:srgbClr val="EB6834"/>
                </a:solidFill>
                <a:latin typeface="Segoe UI"/>
              </a:rPr>
              <a:t>5</a:t>
            </a:r>
          </a:p>
        </p:txBody>
      </p:sp>
      <p:sp>
        <p:nvSpPr>
          <p:cNvPr id="33" name="TextBox 32"/>
          <p:cNvSpPr txBox="1"/>
          <p:nvPr/>
        </p:nvSpPr>
        <p:spPr>
          <a:xfrm>
            <a:off x="3611880" y="4800600"/>
            <a:ext cx="2176272"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Usabilidad con usuarios</a:t>
            </a:r>
          </a:p>
        </p:txBody>
      </p:sp>
      <p:sp>
        <p:nvSpPr>
          <p:cNvPr id="34" name="TextBox 33"/>
          <p:cNvSpPr txBox="1"/>
          <p:nvPr/>
        </p:nvSpPr>
        <p:spPr>
          <a:xfrm>
            <a:off x="3611880" y="5120640"/>
            <a:ext cx="2176272" cy="6400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¿La gente entiende cómo usarla?</a:t>
            </a:r>
          </a:p>
        </p:txBody>
      </p:sp>
      <p:sp>
        <p:nvSpPr>
          <p:cNvPr id="35" name="Rounded Rectangle 34"/>
          <p:cNvSpPr/>
          <p:nvPr/>
        </p:nvSpPr>
        <p:spPr>
          <a:xfrm>
            <a:off x="3611880" y="5715000"/>
            <a:ext cx="153162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000" b="1">
                <a:solidFill>
                  <a:srgbClr val="EB6834"/>
                </a:solidFill>
                <a:latin typeface="Segoe UI"/>
              </a:rPr>
              <a:t>sin automatizar</a:t>
            </a:r>
          </a:p>
        </p:txBody>
      </p:sp>
      <p:sp>
        <p:nvSpPr>
          <p:cNvPr id="36" name="Rounded Rectangle 35"/>
          <p:cNvSpPr/>
          <p:nvPr/>
        </p:nvSpPr>
        <p:spPr>
          <a:xfrm>
            <a:off x="6217920" y="4023360"/>
            <a:ext cx="2587752" cy="2148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7" name="TextBox 36"/>
          <p:cNvSpPr txBox="1"/>
          <p:nvPr/>
        </p:nvSpPr>
        <p:spPr>
          <a:xfrm>
            <a:off x="6446520" y="4206240"/>
            <a:ext cx="1097280" cy="548640"/>
          </a:xfrm>
          <a:prstGeom prst="rect">
            <a:avLst/>
          </a:prstGeom>
          <a:noFill/>
        </p:spPr>
        <p:txBody>
          <a:bodyPr wrap="square" lIns="0" rIns="0" tIns="0" bIns="0" anchor="t">
            <a:spAutoFit/>
          </a:bodyPr>
          <a:lstStyle/>
          <a:p>
            <a:pPr algn="l">
              <a:lnSpc>
                <a:spcPct val="110000"/>
              </a:lnSpc>
            </a:pPr>
            <a:r>
              <a:rPr sz="2800" b="1" i="0">
                <a:solidFill>
                  <a:srgbClr val="2A78D6"/>
                </a:solidFill>
                <a:latin typeface="Segoe UI"/>
              </a:rPr>
              <a:t>6</a:t>
            </a:r>
          </a:p>
        </p:txBody>
      </p:sp>
      <p:sp>
        <p:nvSpPr>
          <p:cNvPr id="38" name="TextBox 37"/>
          <p:cNvSpPr txBox="1"/>
          <p:nvPr/>
        </p:nvSpPr>
        <p:spPr>
          <a:xfrm>
            <a:off x="6446520" y="4800600"/>
            <a:ext cx="2176272"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Probar con IA</a:t>
            </a:r>
          </a:p>
        </p:txBody>
      </p:sp>
      <p:sp>
        <p:nvSpPr>
          <p:cNvPr id="39" name="TextBox 38"/>
          <p:cNvSpPr txBox="1"/>
          <p:nvPr/>
        </p:nvSpPr>
        <p:spPr>
          <a:xfrm>
            <a:off x="6446520" y="5120640"/>
            <a:ext cx="2176272" cy="6400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¿Sirve una IA para probar? Se mide, no se opina</a:t>
            </a:r>
          </a:p>
        </p:txBody>
      </p:sp>
      <p:sp>
        <p:nvSpPr>
          <p:cNvPr id="40" name="Rounded Rectangle 39"/>
          <p:cNvSpPr/>
          <p:nvPr/>
        </p:nvSpPr>
        <p:spPr>
          <a:xfrm>
            <a:off x="6446520" y="5715000"/>
            <a:ext cx="1920240" cy="292608"/>
          </a:xfrm>
          <a:prstGeom prst="roundRect">
            <a:avLst>
              <a:gd name="adj" fmla="val 50000"/>
            </a:avLst>
          </a:prstGeom>
          <a:solidFill>
            <a:srgbClr val="E4E0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000" b="1">
                <a:solidFill>
                  <a:srgbClr val="4A3AA7"/>
                </a:solidFill>
                <a:latin typeface="Segoe UI"/>
              </a:rPr>
              <a:t>exploratorio · 0 pts</a:t>
            </a:r>
          </a:p>
        </p:txBody>
      </p:sp>
      <p:sp>
        <p:nvSpPr>
          <p:cNvPr id="41" name="Rounded Rectangle 40"/>
          <p:cNvSpPr/>
          <p:nvPr/>
        </p:nvSpPr>
        <p:spPr>
          <a:xfrm>
            <a:off x="9052560" y="4023360"/>
            <a:ext cx="2587752" cy="2148840"/>
          </a:xfrm>
          <a:prstGeom prst="roundRect">
            <a:avLst>
              <a:gd name="adj" fmla="val 5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42" name="TextBox 41"/>
          <p:cNvSpPr txBox="1"/>
          <p:nvPr/>
        </p:nvSpPr>
        <p:spPr>
          <a:xfrm>
            <a:off x="9281160" y="4206240"/>
            <a:ext cx="1097280" cy="548640"/>
          </a:xfrm>
          <a:prstGeom prst="rect">
            <a:avLst/>
          </a:prstGeom>
          <a:noFill/>
        </p:spPr>
        <p:txBody>
          <a:bodyPr wrap="square" lIns="0" rIns="0" tIns="0" bIns="0" anchor="t">
            <a:spAutoFit/>
          </a:bodyPr>
          <a:lstStyle/>
          <a:p>
            <a:pPr algn="l">
              <a:lnSpc>
                <a:spcPct val="110000"/>
              </a:lnSpc>
            </a:pPr>
            <a:r>
              <a:rPr sz="2800" b="1" i="0">
                <a:solidFill>
                  <a:srgbClr val="2A78D6"/>
                </a:solidFill>
                <a:latin typeface="Segoe UI"/>
              </a:rPr>
              <a:t>→</a:t>
            </a:r>
          </a:p>
        </p:txBody>
      </p:sp>
      <p:sp>
        <p:nvSpPr>
          <p:cNvPr id="43" name="TextBox 42"/>
          <p:cNvSpPr txBox="1"/>
          <p:nvPr/>
        </p:nvSpPr>
        <p:spPr>
          <a:xfrm>
            <a:off x="9281160" y="4800600"/>
            <a:ext cx="2176272" cy="36576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Entrega</a:t>
            </a:r>
          </a:p>
        </p:txBody>
      </p:sp>
      <p:sp>
        <p:nvSpPr>
          <p:cNvPr id="44" name="TextBox 43"/>
          <p:cNvSpPr txBox="1"/>
          <p:nvPr/>
        </p:nvSpPr>
        <p:spPr>
          <a:xfrm>
            <a:off x="9281160" y="5120640"/>
            <a:ext cx="2176272" cy="64008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Repositorio, Wiki, CI y reflexión final</a:t>
            </a:r>
          </a:p>
        </p:txBody>
      </p:sp>
      <p:sp>
        <p:nvSpPr>
          <p:cNvPr id="45" name="Rounded Rectangle 44"/>
          <p:cNvSpPr/>
          <p:nvPr/>
        </p:nvSpPr>
        <p:spPr>
          <a:xfrm>
            <a:off x="9281160" y="5715000"/>
            <a:ext cx="1687068" cy="292608"/>
          </a:xfrm>
          <a:prstGeom prst="roundRect">
            <a:avLst>
              <a:gd name="adj" fmla="val 50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000" b="1">
                <a:solidFill>
                  <a:srgbClr val="52514E"/>
                </a:solidFill>
                <a:latin typeface="Segoe UI"/>
              </a:rPr>
              <a:t>rúbrica de 65 pts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UI Y UX</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Automatizar responde cuatro preguntas. La quinta, no</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3</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Rounded Rectangle 5"/>
          <p:cNvSpPr/>
          <p:nvPr/>
        </p:nvSpPr>
        <p:spPr>
          <a:xfrm>
            <a:off x="548640" y="2286000"/>
            <a:ext cx="2057400" cy="20116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49808" y="2487168"/>
            <a:ext cx="1691640" cy="274320"/>
          </a:xfrm>
          <a:prstGeom prst="rect">
            <a:avLst/>
          </a:prstGeom>
          <a:noFill/>
        </p:spPr>
        <p:txBody>
          <a:bodyPr wrap="square" lIns="0" rIns="0" tIns="0" bIns="0" anchor="t">
            <a:spAutoFit/>
          </a:bodyPr>
          <a:lstStyle/>
          <a:p>
            <a:pPr algn="l">
              <a:lnSpc>
                <a:spcPct val="110000"/>
              </a:lnSpc>
            </a:pPr>
            <a:r>
              <a:rPr sz="1100" b="1" i="0" spc="100">
                <a:solidFill>
                  <a:srgbClr val="2A78D6"/>
                </a:solidFill>
                <a:latin typeface="Segoe UI"/>
              </a:rPr>
              <a:t>M1</a:t>
            </a:r>
          </a:p>
        </p:txBody>
      </p:sp>
      <p:sp>
        <p:nvSpPr>
          <p:cNvPr id="8" name="TextBox 7"/>
          <p:cNvSpPr txBox="1"/>
          <p:nvPr/>
        </p:nvSpPr>
        <p:spPr>
          <a:xfrm>
            <a:off x="749808" y="2788920"/>
            <a:ext cx="16916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E2E</a:t>
            </a:r>
          </a:p>
        </p:txBody>
      </p:sp>
      <p:sp>
        <p:nvSpPr>
          <p:cNvPr id="9" name="TextBox 8"/>
          <p:cNvSpPr txBox="1"/>
          <p:nvPr/>
        </p:nvSpPr>
        <p:spPr>
          <a:xfrm>
            <a:off x="749808" y="3200400"/>
            <a:ext cx="1691640" cy="91440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¿La interfaz funciona?</a:t>
            </a:r>
          </a:p>
        </p:txBody>
      </p:sp>
      <p:sp>
        <p:nvSpPr>
          <p:cNvPr id="10" name="Rounded Rectangle 9"/>
          <p:cNvSpPr/>
          <p:nvPr/>
        </p:nvSpPr>
        <p:spPr>
          <a:xfrm>
            <a:off x="2807208" y="2286000"/>
            <a:ext cx="2057400" cy="20116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3008376" y="2487168"/>
            <a:ext cx="1691640" cy="274320"/>
          </a:xfrm>
          <a:prstGeom prst="rect">
            <a:avLst/>
          </a:prstGeom>
          <a:noFill/>
        </p:spPr>
        <p:txBody>
          <a:bodyPr wrap="square" lIns="0" rIns="0" tIns="0" bIns="0" anchor="t">
            <a:spAutoFit/>
          </a:bodyPr>
          <a:lstStyle/>
          <a:p>
            <a:pPr algn="l">
              <a:lnSpc>
                <a:spcPct val="110000"/>
              </a:lnSpc>
            </a:pPr>
            <a:r>
              <a:rPr sz="1100" b="1" i="0" spc="100">
                <a:solidFill>
                  <a:srgbClr val="2A78D6"/>
                </a:solidFill>
                <a:latin typeface="Segoe UI"/>
              </a:rPr>
              <a:t>M2</a:t>
            </a:r>
          </a:p>
        </p:txBody>
      </p:sp>
      <p:sp>
        <p:nvSpPr>
          <p:cNvPr id="12" name="TextBox 11"/>
          <p:cNvSpPr txBox="1"/>
          <p:nvPr/>
        </p:nvSpPr>
        <p:spPr>
          <a:xfrm>
            <a:off x="3008376" y="2788920"/>
            <a:ext cx="16916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Page Objects</a:t>
            </a:r>
          </a:p>
        </p:txBody>
      </p:sp>
      <p:sp>
        <p:nvSpPr>
          <p:cNvPr id="13" name="TextBox 12"/>
          <p:cNvSpPr txBox="1"/>
          <p:nvPr/>
        </p:nvSpPr>
        <p:spPr>
          <a:xfrm>
            <a:off x="3008376" y="3200400"/>
            <a:ext cx="1691640" cy="91440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¿Las pruebas sobreviven a un rediseño?</a:t>
            </a:r>
          </a:p>
        </p:txBody>
      </p:sp>
      <p:sp>
        <p:nvSpPr>
          <p:cNvPr id="14" name="Rounded Rectangle 13"/>
          <p:cNvSpPr/>
          <p:nvPr/>
        </p:nvSpPr>
        <p:spPr>
          <a:xfrm>
            <a:off x="5065776" y="2286000"/>
            <a:ext cx="2057400" cy="20116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5" name="TextBox 14"/>
          <p:cNvSpPr txBox="1"/>
          <p:nvPr/>
        </p:nvSpPr>
        <p:spPr>
          <a:xfrm>
            <a:off x="5266944" y="2487168"/>
            <a:ext cx="1691640" cy="274320"/>
          </a:xfrm>
          <a:prstGeom prst="rect">
            <a:avLst/>
          </a:prstGeom>
          <a:noFill/>
        </p:spPr>
        <p:txBody>
          <a:bodyPr wrap="square" lIns="0" rIns="0" tIns="0" bIns="0" anchor="t">
            <a:spAutoFit/>
          </a:bodyPr>
          <a:lstStyle/>
          <a:p>
            <a:pPr algn="l">
              <a:lnSpc>
                <a:spcPct val="110000"/>
              </a:lnSpc>
            </a:pPr>
            <a:r>
              <a:rPr sz="1100" b="1" i="0" spc="100">
                <a:solidFill>
                  <a:srgbClr val="2A78D6"/>
                </a:solidFill>
                <a:latin typeface="Segoe UI"/>
              </a:rPr>
              <a:t>M3 · 3B</a:t>
            </a:r>
          </a:p>
        </p:txBody>
      </p:sp>
      <p:sp>
        <p:nvSpPr>
          <p:cNvPr id="16" name="TextBox 15"/>
          <p:cNvSpPr txBox="1"/>
          <p:nvPr/>
        </p:nvSpPr>
        <p:spPr>
          <a:xfrm>
            <a:off x="5266944" y="2788920"/>
            <a:ext cx="16916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Accesibilidad</a:t>
            </a:r>
          </a:p>
        </p:txBody>
      </p:sp>
      <p:sp>
        <p:nvSpPr>
          <p:cNvPr id="17" name="TextBox 16"/>
          <p:cNvSpPr txBox="1"/>
          <p:nvPr/>
        </p:nvSpPr>
        <p:spPr>
          <a:xfrm>
            <a:off x="5266944" y="3200400"/>
            <a:ext cx="1691640" cy="91440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¿Cumple lo que una máquina puede medir de WCAG?</a:t>
            </a:r>
          </a:p>
        </p:txBody>
      </p:sp>
      <p:sp>
        <p:nvSpPr>
          <p:cNvPr id="18" name="Rounded Rectangle 17"/>
          <p:cNvSpPr/>
          <p:nvPr/>
        </p:nvSpPr>
        <p:spPr>
          <a:xfrm>
            <a:off x="7324344" y="2286000"/>
            <a:ext cx="2057400" cy="20116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9" name="TextBox 18"/>
          <p:cNvSpPr txBox="1"/>
          <p:nvPr/>
        </p:nvSpPr>
        <p:spPr>
          <a:xfrm>
            <a:off x="7525512" y="2487168"/>
            <a:ext cx="1691640" cy="274320"/>
          </a:xfrm>
          <a:prstGeom prst="rect">
            <a:avLst/>
          </a:prstGeom>
          <a:noFill/>
        </p:spPr>
        <p:txBody>
          <a:bodyPr wrap="square" lIns="0" rIns="0" tIns="0" bIns="0" anchor="t">
            <a:spAutoFit/>
          </a:bodyPr>
          <a:lstStyle/>
          <a:p>
            <a:pPr algn="l">
              <a:lnSpc>
                <a:spcPct val="110000"/>
              </a:lnSpc>
            </a:pPr>
            <a:r>
              <a:rPr sz="1100" b="1" i="0" spc="100">
                <a:solidFill>
                  <a:srgbClr val="2A78D6"/>
                </a:solidFill>
                <a:latin typeface="Segoe UI"/>
              </a:rPr>
              <a:t>M4</a:t>
            </a:r>
          </a:p>
        </p:txBody>
      </p:sp>
      <p:sp>
        <p:nvSpPr>
          <p:cNvPr id="20" name="TextBox 19"/>
          <p:cNvSpPr txBox="1"/>
          <p:nvPr/>
        </p:nvSpPr>
        <p:spPr>
          <a:xfrm>
            <a:off x="7525512" y="2788920"/>
            <a:ext cx="16916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Regresión visual</a:t>
            </a:r>
          </a:p>
        </p:txBody>
      </p:sp>
      <p:sp>
        <p:nvSpPr>
          <p:cNvPr id="21" name="TextBox 20"/>
          <p:cNvSpPr txBox="1"/>
          <p:nvPr/>
        </p:nvSpPr>
        <p:spPr>
          <a:xfrm>
            <a:off x="7525512" y="3200400"/>
            <a:ext cx="1691640" cy="91440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¿Cambió algo sin querer?</a:t>
            </a:r>
          </a:p>
        </p:txBody>
      </p:sp>
      <p:sp>
        <p:nvSpPr>
          <p:cNvPr id="22" name="Rounded Rectangle 21"/>
          <p:cNvSpPr/>
          <p:nvPr/>
        </p:nvSpPr>
        <p:spPr>
          <a:xfrm>
            <a:off x="9582912" y="2286000"/>
            <a:ext cx="2057400" cy="2011680"/>
          </a:xfrm>
          <a:prstGeom prst="roundRect">
            <a:avLst>
              <a:gd name="adj" fmla="val 5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3" name="TextBox 22"/>
          <p:cNvSpPr txBox="1"/>
          <p:nvPr/>
        </p:nvSpPr>
        <p:spPr>
          <a:xfrm>
            <a:off x="9784080" y="2487168"/>
            <a:ext cx="1691640" cy="274320"/>
          </a:xfrm>
          <a:prstGeom prst="rect">
            <a:avLst/>
          </a:prstGeom>
          <a:noFill/>
        </p:spPr>
        <p:txBody>
          <a:bodyPr wrap="square" lIns="0" rIns="0" tIns="0" bIns="0" anchor="t">
            <a:spAutoFit/>
          </a:bodyPr>
          <a:lstStyle/>
          <a:p>
            <a:pPr algn="l">
              <a:lnSpc>
                <a:spcPct val="110000"/>
              </a:lnSpc>
            </a:pPr>
            <a:r>
              <a:rPr sz="1100" b="1" i="0" spc="100">
                <a:solidFill>
                  <a:srgbClr val="EB6834"/>
                </a:solidFill>
                <a:latin typeface="Segoe UI"/>
              </a:rPr>
              <a:t>M5</a:t>
            </a:r>
          </a:p>
        </p:txBody>
      </p:sp>
      <p:sp>
        <p:nvSpPr>
          <p:cNvPr id="24" name="TextBox 23"/>
          <p:cNvSpPr txBox="1"/>
          <p:nvPr/>
        </p:nvSpPr>
        <p:spPr>
          <a:xfrm>
            <a:off x="9784080" y="2788920"/>
            <a:ext cx="16916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Usabilidad</a:t>
            </a:r>
          </a:p>
        </p:txBody>
      </p:sp>
      <p:sp>
        <p:nvSpPr>
          <p:cNvPr id="25" name="TextBox 24"/>
          <p:cNvSpPr txBox="1"/>
          <p:nvPr/>
        </p:nvSpPr>
        <p:spPr>
          <a:xfrm>
            <a:off x="9784080" y="3200400"/>
            <a:ext cx="1691640" cy="91440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¿La gente entiende cómo usarla?</a:t>
            </a:r>
          </a:p>
        </p:txBody>
      </p:sp>
      <p:cxnSp>
        <p:nvCxnSpPr>
          <p:cNvPr id="26" name="Connector 25"/>
          <p:cNvCxnSpPr/>
          <p:nvPr/>
        </p:nvCxnSpPr>
        <p:spPr>
          <a:xfrm>
            <a:off x="548640" y="2011680"/>
            <a:ext cx="8833104" cy="0"/>
          </a:xfrm>
          <a:prstGeom prst="line">
            <a:avLst/>
          </a:prstGeom>
          <a:ln w="19050">
            <a:solidFill>
              <a:srgbClr val="2A78D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2011680"/>
            <a:ext cx="0" cy="137160"/>
          </a:xfrm>
          <a:prstGeom prst="line">
            <a:avLst/>
          </a:prstGeom>
          <a:ln w="19050">
            <a:solidFill>
              <a:srgbClr val="2A78D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81744" y="2011680"/>
            <a:ext cx="0" cy="137160"/>
          </a:xfrm>
          <a:prstGeom prst="line">
            <a:avLst/>
          </a:prstGeom>
          <a:ln w="19050">
            <a:solidFill>
              <a:srgbClr val="2A78D6"/>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1572768"/>
            <a:ext cx="7315200" cy="365760"/>
          </a:xfrm>
          <a:prstGeom prst="rect">
            <a:avLst/>
          </a:prstGeom>
          <a:noFill/>
        </p:spPr>
        <p:txBody>
          <a:bodyPr wrap="square" lIns="0" rIns="0" tIns="0" bIns="0" anchor="t">
            <a:spAutoFit/>
          </a:bodyPr>
          <a:lstStyle/>
          <a:p>
            <a:pPr algn="l">
              <a:lnSpc>
                <a:spcPct val="110000"/>
              </a:lnSpc>
            </a:pPr>
            <a:r>
              <a:rPr sz="1300" b="1" i="0">
                <a:solidFill>
                  <a:srgbClr val="2A78D6"/>
                </a:solidFill>
                <a:latin typeface="Segoe UI"/>
              </a:rPr>
              <a:t>UI · lo mide una máquina ejecutando pruebas</a:t>
            </a:r>
          </a:p>
        </p:txBody>
      </p:sp>
      <p:cxnSp>
        <p:nvCxnSpPr>
          <p:cNvPr id="30" name="Connector 29"/>
          <p:cNvCxnSpPr/>
          <p:nvPr/>
        </p:nvCxnSpPr>
        <p:spPr>
          <a:xfrm>
            <a:off x="9582912" y="2011680"/>
            <a:ext cx="2057400" cy="0"/>
          </a:xfrm>
          <a:prstGeom prst="line">
            <a:avLst/>
          </a:prstGeom>
          <a:ln w="19050">
            <a:solidFill>
              <a:srgbClr val="EB683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582912" y="2011680"/>
            <a:ext cx="0" cy="137160"/>
          </a:xfrm>
          <a:prstGeom prst="line">
            <a:avLst/>
          </a:prstGeom>
          <a:ln w="19050">
            <a:solidFill>
              <a:srgbClr val="EB683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640312" y="2011680"/>
            <a:ext cx="0" cy="137160"/>
          </a:xfrm>
          <a:prstGeom prst="line">
            <a:avLst/>
          </a:prstGeom>
          <a:ln w="19050">
            <a:solidFill>
              <a:srgbClr val="EB6834"/>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582912" y="1572768"/>
            <a:ext cx="2331720" cy="365760"/>
          </a:xfrm>
          <a:prstGeom prst="rect">
            <a:avLst/>
          </a:prstGeom>
          <a:noFill/>
        </p:spPr>
        <p:txBody>
          <a:bodyPr wrap="square" lIns="0" rIns="0" tIns="0" bIns="0" anchor="t">
            <a:spAutoFit/>
          </a:bodyPr>
          <a:lstStyle/>
          <a:p>
            <a:pPr algn="l">
              <a:lnSpc>
                <a:spcPct val="110000"/>
              </a:lnSpc>
            </a:pPr>
            <a:r>
              <a:rPr sz="1300" b="1" i="0">
                <a:solidFill>
                  <a:srgbClr val="EB6834"/>
                </a:solidFill>
                <a:latin typeface="Segoe UI"/>
              </a:rPr>
              <a:t>UX · observando personas</a:t>
            </a:r>
          </a:p>
        </p:txBody>
      </p:sp>
      <p:sp>
        <p:nvSpPr>
          <p:cNvPr id="34" name="TextBox 33"/>
          <p:cNvSpPr txBox="1"/>
          <p:nvPr/>
        </p:nvSpPr>
        <p:spPr>
          <a:xfrm>
            <a:off x="548640" y="4800600"/>
            <a:ext cx="10515600" cy="1097280"/>
          </a:xfrm>
          <a:prstGeom prst="rect">
            <a:avLst/>
          </a:prstGeom>
          <a:noFill/>
        </p:spPr>
        <p:txBody>
          <a:bodyPr wrap="square" lIns="0" rIns="0" tIns="0" bIns="0" anchor="t">
            <a:spAutoFit/>
          </a:bodyPr>
          <a:lstStyle/>
          <a:p>
            <a:pPr algn="l">
              <a:lnSpc>
                <a:spcPct val="120000"/>
              </a:lnSpc>
            </a:pPr>
            <a:r>
              <a:rPr sz="1800" b="1" i="0">
                <a:solidFill>
                  <a:srgbClr val="0B0B0B"/>
                </a:solidFill>
                <a:latin typeface="Segoe UI"/>
              </a:rPr>
              <a:t>Un formulario puede pasar las 28 pruebas automatizadas </a:t>
            </a:r>
            <a:r>
              <a:rPr sz="1800" b="0" i="0">
                <a:solidFill>
                  <a:srgbClr val="52514E"/>
                </a:solidFill>
                <a:latin typeface="Segoe UI"/>
              </a:rPr>
              <a:t>y aun así hacer que la gente abandone en el segundo campo. La usabilidad se mide observando a personas, no ejecutando código.</a:t>
            </a:r>
          </a:p>
        </p:txBody>
      </p:sp>
      <p:sp>
        <p:nvSpPr>
          <p:cNvPr id="35" name="TextBox 34"/>
          <p:cNvSpPr txBox="1"/>
          <p:nvPr/>
        </p:nvSpPr>
        <p:spPr>
          <a:xfrm>
            <a:off x="548640" y="5897880"/>
            <a:ext cx="11064240" cy="365760"/>
          </a:xfrm>
          <a:prstGeom prst="rect">
            <a:avLst/>
          </a:prstGeom>
          <a:noFill/>
        </p:spPr>
        <p:txBody>
          <a:bodyPr wrap="square" lIns="0" rIns="0" tIns="0" bIns="0" anchor="t">
            <a:spAutoFit/>
          </a:bodyPr>
          <a:lstStyle/>
          <a:p>
            <a:pPr algn="l">
              <a:lnSpc>
                <a:spcPct val="110000"/>
              </a:lnSpc>
            </a:pPr>
            <a:r>
              <a:rPr sz="1200" b="1" i="0">
                <a:solidFill>
                  <a:srgbClr val="52514E"/>
                </a:solidFill>
                <a:latin typeface="Segoe UI"/>
              </a:rPr>
              <a:t>E2E </a:t>
            </a:r>
            <a:r>
              <a:rPr sz="1200" b="0" i="0">
                <a:solidFill>
                  <a:srgbClr val="898781"/>
                </a:solidFill>
                <a:latin typeface="Segoe UI"/>
              </a:rPr>
              <a:t>(end to end, de extremo a extremo): probar el sistema completo como lo usaría una persona, del navegador al servidor.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SISTEMA BAJO PRUEBA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La regla de negocio vive en dos lugares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4</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Rounded Rectangle 5"/>
          <p:cNvSpPr/>
          <p:nvPr/>
        </p:nvSpPr>
        <p:spPr>
          <a:xfrm>
            <a:off x="548640" y="1600200"/>
            <a:ext cx="6309360" cy="91440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77240" y="1728216"/>
            <a:ext cx="585216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Persona en el navegador</a:t>
            </a:r>
          </a:p>
        </p:txBody>
      </p:sp>
      <p:sp>
        <p:nvSpPr>
          <p:cNvPr id="8" name="TextBox 7"/>
          <p:cNvSpPr txBox="1"/>
          <p:nvPr/>
        </p:nvSpPr>
        <p:spPr>
          <a:xfrm>
            <a:off x="777240" y="2039112"/>
            <a:ext cx="5852160" cy="45720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Llena el formulario y pulsa "Registrar votante".</a:t>
            </a:r>
          </a:p>
        </p:txBody>
      </p:sp>
      <p:cxnSp>
        <p:nvCxnSpPr>
          <p:cNvPr id="9" name="Connector 8"/>
          <p:cNvCxnSpPr/>
          <p:nvPr/>
        </p:nvCxnSpPr>
        <p:spPr>
          <a:xfrm>
            <a:off x="1097280" y="2514600"/>
            <a:ext cx="0" cy="246888"/>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2761488"/>
            <a:ext cx="6309360" cy="914400"/>
          </a:xfrm>
          <a:prstGeom prst="roundRect">
            <a:avLst>
              <a:gd name="adj" fmla="val 5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777240" y="2889504"/>
            <a:ext cx="5852160" cy="320040"/>
          </a:xfrm>
          <a:prstGeom prst="rect">
            <a:avLst/>
          </a:prstGeom>
          <a:noFill/>
        </p:spPr>
        <p:txBody>
          <a:bodyPr wrap="square" lIns="0" rIns="0" tIns="0" bIns="0" anchor="t">
            <a:spAutoFit/>
          </a:bodyPr>
          <a:lstStyle/>
          <a:p>
            <a:pPr algn="l">
              <a:lnSpc>
                <a:spcPct val="110000"/>
              </a:lnSpc>
            </a:pPr>
            <a:r>
              <a:rPr sz="1500" b="1" i="0">
                <a:solidFill>
                  <a:srgbClr val="184F95"/>
                </a:solidFill>
                <a:latin typeface="Segoe UI"/>
              </a:rPr>
              <a:t>Capa 1 · app.js en el navegador</a:t>
            </a:r>
          </a:p>
        </p:txBody>
      </p:sp>
      <p:sp>
        <p:nvSpPr>
          <p:cNvPr id="12" name="TextBox 11"/>
          <p:cNvSpPr txBox="1"/>
          <p:nvPr/>
        </p:nvSpPr>
        <p:spPr>
          <a:xfrm>
            <a:off x="777240" y="3200400"/>
            <a:ext cx="5852160" cy="45720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Valida nombre, documento y edad entre 0 y 120. Si falla, muestra el error y no llama al servidor.</a:t>
            </a:r>
          </a:p>
        </p:txBody>
      </p:sp>
      <p:cxnSp>
        <p:nvCxnSpPr>
          <p:cNvPr id="13" name="Connector 12"/>
          <p:cNvCxnSpPr/>
          <p:nvPr/>
        </p:nvCxnSpPr>
        <p:spPr>
          <a:xfrm>
            <a:off x="1097280" y="3675887"/>
            <a:ext cx="0" cy="246889"/>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922776"/>
            <a:ext cx="6309360" cy="914400"/>
          </a:xfrm>
          <a:prstGeom prst="roundRect">
            <a:avLst>
              <a:gd name="adj" fmla="val 5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5" name="TextBox 14"/>
          <p:cNvSpPr txBox="1"/>
          <p:nvPr/>
        </p:nvSpPr>
        <p:spPr>
          <a:xfrm>
            <a:off x="777240" y="4050791"/>
            <a:ext cx="5852160" cy="320040"/>
          </a:xfrm>
          <a:prstGeom prst="rect">
            <a:avLst/>
          </a:prstGeom>
          <a:noFill/>
        </p:spPr>
        <p:txBody>
          <a:bodyPr wrap="square" lIns="0" rIns="0" tIns="0" bIns="0" anchor="t">
            <a:spAutoFit/>
          </a:bodyPr>
          <a:lstStyle/>
          <a:p>
            <a:pPr algn="l">
              <a:lnSpc>
                <a:spcPct val="110000"/>
              </a:lnSpc>
            </a:pPr>
            <a:r>
              <a:rPr sz="1500" b="1" i="0">
                <a:solidFill>
                  <a:srgbClr val="184F95"/>
                </a:solidFill>
                <a:latin typeface="Segoe UI"/>
              </a:rPr>
              <a:t>Capa 2 · POST /register (Spring Boot)</a:t>
            </a:r>
          </a:p>
        </p:txBody>
      </p:sp>
      <p:sp>
        <p:nvSpPr>
          <p:cNvPr id="16" name="TextBox 15"/>
          <p:cNvSpPr txBox="1"/>
          <p:nvPr/>
        </p:nvSpPr>
        <p:spPr>
          <a:xfrm>
            <a:off x="777240" y="4361688"/>
            <a:ext cx="5852160" cy="45720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Valida documento, vida, edad y duplicados, en ese orden, y responde VALID o el motivo: INVALID, DEAD, INVALID_AGE, UNDERAGE o DUPLICATED.</a:t>
            </a:r>
          </a:p>
        </p:txBody>
      </p:sp>
      <p:cxnSp>
        <p:nvCxnSpPr>
          <p:cNvPr id="17" name="Connector 16"/>
          <p:cNvCxnSpPr/>
          <p:nvPr/>
        </p:nvCxnSpPr>
        <p:spPr>
          <a:xfrm>
            <a:off x="1097280" y="4837176"/>
            <a:ext cx="0" cy="246888"/>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5084064"/>
            <a:ext cx="6309360" cy="91440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9" name="TextBox 18"/>
          <p:cNvSpPr txBox="1"/>
          <p:nvPr/>
        </p:nvSpPr>
        <p:spPr>
          <a:xfrm>
            <a:off x="777240" y="5212080"/>
            <a:ext cx="5852160" cy="320040"/>
          </a:xfrm>
          <a:prstGeom prst="rect">
            <a:avLst/>
          </a:prstGeom>
          <a:noFill/>
        </p:spPr>
        <p:txBody>
          <a:bodyPr wrap="square" lIns="0" rIns="0" tIns="0" bIns="0" anchor="t">
            <a:spAutoFit/>
          </a:bodyPr>
          <a:lstStyle/>
          <a:p>
            <a:pPr algn="l">
              <a:lnSpc>
                <a:spcPct val="110000"/>
              </a:lnSpc>
            </a:pPr>
            <a:r>
              <a:rPr sz="1500" b="1" i="0">
                <a:solidFill>
                  <a:srgbClr val="0B0B0B"/>
                </a:solidFill>
                <a:latin typeface="Segoe UI"/>
              </a:rPr>
              <a:t>Resultado en pantalla</a:t>
            </a:r>
          </a:p>
        </p:txBody>
      </p:sp>
      <p:sp>
        <p:nvSpPr>
          <p:cNvPr id="20" name="TextBox 19"/>
          <p:cNvSpPr txBox="1"/>
          <p:nvPr/>
        </p:nvSpPr>
        <p:spPr>
          <a:xfrm>
            <a:off x="777240" y="5522976"/>
            <a:ext cx="5852160" cy="45720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Con role="status" (ARIA), el lector de pantalla, el programa que lee en voz alta, lo anuncia.</a:t>
            </a:r>
          </a:p>
        </p:txBody>
      </p:sp>
      <p:sp>
        <p:nvSpPr>
          <p:cNvPr id="21" name="Rounded Rectangle 20"/>
          <p:cNvSpPr/>
          <p:nvPr/>
        </p:nvSpPr>
        <p:spPr>
          <a:xfrm>
            <a:off x="7772400" y="1417320"/>
            <a:ext cx="3154680" cy="4816753"/>
          </a:xfrm>
          <a:prstGeom prst="roundRect">
            <a:avLst>
              <a:gd name="adj" fmla="val 2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2" name="Rectangle 21"/>
          <p:cNvSpPr/>
          <p:nvPr/>
        </p:nvSpPr>
        <p:spPr>
          <a:xfrm>
            <a:off x="7781544" y="1426464"/>
            <a:ext cx="3136392" cy="301752"/>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3" name="Oval 22"/>
          <p:cNvSpPr/>
          <p:nvPr/>
        </p:nvSpPr>
        <p:spPr>
          <a:xfrm>
            <a:off x="7909559" y="1527048"/>
            <a:ext cx="91440" cy="91440"/>
          </a:xfrm>
          <a:prstGeom prst="ellipse">
            <a:avLst/>
          </a:prstGeom>
          <a:solidFill>
            <a:srgbClr val="D03B3B"/>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65007" y="1527048"/>
            <a:ext cx="91440" cy="91440"/>
          </a:xfrm>
          <a:prstGeom prst="ellipse">
            <a:avLst/>
          </a:prstGeom>
          <a:solidFill>
            <a:srgbClr val="FAB219"/>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0455" y="1527048"/>
            <a:ext cx="91440" cy="91440"/>
          </a:xfrm>
          <a:prstGeom prst="ellipse">
            <a:avLst/>
          </a:prstGeom>
          <a:solidFill>
            <a:srgbClr val="0CA30C"/>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485632" y="1481328"/>
            <a:ext cx="2286000" cy="1828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a:r>
              <a:rPr sz="900" b="0">
                <a:solidFill>
                  <a:srgbClr val="52514E"/>
                </a:solidFill>
                <a:latin typeface="Segoe UI"/>
              </a:rPr>
              <a:t>localhost:8080/</a:t>
            </a:r>
          </a:p>
        </p:txBody>
      </p:sp>
      <p:pic>
        <p:nvPicPr>
          <p:cNvPr id="27" name="Picture 26" descr="formulario-resultado.png"/>
          <p:cNvPicPr>
            <a:picLocks noChangeAspect="1"/>
          </p:cNvPicPr>
          <p:nvPr/>
        </p:nvPicPr>
        <p:blipFill>
          <a:blip r:embed="rId3"/>
          <a:stretch>
            <a:fillRect/>
          </a:stretch>
        </p:blipFill>
        <p:spPr>
          <a:xfrm>
            <a:off x="7772400" y="1728216"/>
            <a:ext cx="3154680" cy="450585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1 · LA HERRAMIENTA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Playwright: un navegador controlado por código</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5</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Oval 5"/>
          <p:cNvSpPr/>
          <p:nvPr/>
        </p:nvSpPr>
        <p:spPr>
          <a:xfrm>
            <a:off x="557784" y="165506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170078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1</a:t>
            </a:r>
          </a:p>
        </p:txBody>
      </p:sp>
      <p:sp>
        <p:nvSpPr>
          <p:cNvPr id="8" name="TextBox 7"/>
          <p:cNvSpPr txBox="1"/>
          <p:nvPr/>
        </p:nvSpPr>
        <p:spPr>
          <a:xfrm>
            <a:off x="1097280" y="1645920"/>
            <a:ext cx="42062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Qué es</a:t>
            </a:r>
          </a:p>
        </p:txBody>
      </p:sp>
      <p:sp>
        <p:nvSpPr>
          <p:cNvPr id="9" name="TextBox 8"/>
          <p:cNvSpPr txBox="1"/>
          <p:nvPr/>
        </p:nvSpPr>
        <p:spPr>
          <a:xfrm>
            <a:off x="1097280" y="2011680"/>
            <a:ext cx="4206240" cy="73152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Una librería de Microsoft que abre un navegador real (aquí, Chromium) y lo maneja desde JavaScript.</a:t>
            </a:r>
          </a:p>
        </p:txBody>
      </p:sp>
      <p:sp>
        <p:nvSpPr>
          <p:cNvPr id="10" name="Oval 9"/>
          <p:cNvSpPr/>
          <p:nvPr/>
        </p:nvSpPr>
        <p:spPr>
          <a:xfrm>
            <a:off x="557784" y="284378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88950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2</a:t>
            </a:r>
          </a:p>
        </p:txBody>
      </p:sp>
      <p:sp>
        <p:nvSpPr>
          <p:cNvPr id="12" name="TextBox 11"/>
          <p:cNvSpPr txBox="1"/>
          <p:nvPr/>
        </p:nvSpPr>
        <p:spPr>
          <a:xfrm>
            <a:off x="1097280" y="2834640"/>
            <a:ext cx="42062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Qué es page</a:t>
            </a:r>
          </a:p>
        </p:txBody>
      </p:sp>
      <p:sp>
        <p:nvSpPr>
          <p:cNvPr id="13" name="TextBox 12"/>
          <p:cNvSpPr txBox="1"/>
          <p:nvPr/>
        </p:nvSpPr>
        <p:spPr>
          <a:xfrm>
            <a:off x="1097280" y="3200400"/>
            <a:ext cx="4206240" cy="73152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La pestaña del navegador. Cada prueba recibe una nueva y limpia, sin lo que dejó la anterior.</a:t>
            </a:r>
          </a:p>
        </p:txBody>
      </p:sp>
      <p:sp>
        <p:nvSpPr>
          <p:cNvPr id="14" name="Oval 13"/>
          <p:cNvSpPr/>
          <p:nvPr/>
        </p:nvSpPr>
        <p:spPr>
          <a:xfrm>
            <a:off x="557784" y="403250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7784" y="407822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3</a:t>
            </a:r>
          </a:p>
        </p:txBody>
      </p:sp>
      <p:sp>
        <p:nvSpPr>
          <p:cNvPr id="16" name="TextBox 15"/>
          <p:cNvSpPr txBox="1"/>
          <p:nvPr/>
        </p:nvSpPr>
        <p:spPr>
          <a:xfrm>
            <a:off x="1097280" y="4023360"/>
            <a:ext cx="42062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Cómo corre</a:t>
            </a:r>
          </a:p>
        </p:txBody>
      </p:sp>
      <p:sp>
        <p:nvSpPr>
          <p:cNvPr id="17" name="TextBox 16"/>
          <p:cNvSpPr txBox="1"/>
          <p:nvPr/>
        </p:nvSpPr>
        <p:spPr>
          <a:xfrm>
            <a:off x="1097280" y="4389120"/>
            <a:ext cx="4206240" cy="73152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npm test ejecuta todas las pruebas. Antes, webServer levanta la Registraduría y espera a que responda.</a:t>
            </a:r>
          </a:p>
        </p:txBody>
      </p:sp>
      <p:sp>
        <p:nvSpPr>
          <p:cNvPr id="18" name="TextBox 17"/>
          <p:cNvSpPr txBox="1"/>
          <p:nvPr/>
        </p:nvSpPr>
        <p:spPr>
          <a:xfrm>
            <a:off x="548640" y="5257800"/>
            <a:ext cx="4846320" cy="914400"/>
          </a:xfrm>
          <a:prstGeom prst="rect">
            <a:avLst/>
          </a:prstGeom>
          <a:noFill/>
        </p:spPr>
        <p:txBody>
          <a:bodyPr wrap="square" lIns="0" rIns="0" tIns="0" bIns="0" anchor="t">
            <a:spAutoFit/>
          </a:bodyPr>
          <a:lstStyle/>
          <a:p>
            <a:pPr algn="l">
              <a:lnSpc>
                <a:spcPct val="130000"/>
              </a:lnSpc>
            </a:pPr>
            <a:r>
              <a:rPr sz="1300" b="1" i="0">
                <a:solidFill>
                  <a:srgbClr val="0B0B0B"/>
                </a:solidFill>
                <a:latin typeface="Segoe UI"/>
              </a:rPr>
              <a:t>Para verlo trabajar: </a:t>
            </a:r>
            <a:r>
              <a:rPr sz="1300" b="0" i="0">
                <a:solidFill>
                  <a:srgbClr val="0B0B0B"/>
                </a:solidFill>
                <a:latin typeface="Consolas"/>
              </a:rPr>
              <a:t>npm run test:headed</a:t>
            </a:r>
            <a:r>
              <a:rPr sz="1300" b="0" i="0">
                <a:solidFill>
                  <a:srgbClr val="52514E"/>
                </a:solidFill>
                <a:latin typeface="Segoe UI"/>
              </a:rPr>
              <a:t>. Para ir paso a paso: </a:t>
            </a:r>
            <a:r>
              <a:rPr sz="1300" b="0" i="0">
                <a:solidFill>
                  <a:srgbClr val="0B0B0B"/>
                </a:solidFill>
                <a:latin typeface="Consolas"/>
              </a:rPr>
              <a:t>npm run test:ui</a:t>
            </a:r>
            <a:r>
              <a:rPr sz="1300" b="0" i="0">
                <a:solidFill>
                  <a:srgbClr val="52514E"/>
                </a:solidFill>
                <a:latin typeface="Segoe UI"/>
              </a:rPr>
              <a:t>.</a:t>
            </a:r>
          </a:p>
        </p:txBody>
      </p:sp>
      <p:sp>
        <p:nvSpPr>
          <p:cNvPr id="19" name="TextBox 18"/>
          <p:cNvSpPr txBox="1"/>
          <p:nvPr/>
        </p:nvSpPr>
        <p:spPr>
          <a:xfrm>
            <a:off x="5669280" y="1554480"/>
            <a:ext cx="5943600" cy="320040"/>
          </a:xfrm>
          <a:prstGeom prst="rect">
            <a:avLst/>
          </a:prstGeom>
          <a:noFill/>
        </p:spPr>
        <p:txBody>
          <a:bodyPr wrap="square" lIns="0" rIns="0" tIns="0" bIns="0" anchor="t">
            <a:spAutoFit/>
          </a:bodyPr>
          <a:lstStyle/>
          <a:p>
            <a:pPr algn="l">
              <a:lnSpc>
                <a:spcPct val="110000"/>
              </a:lnSpc>
            </a:pPr>
            <a:r>
              <a:rPr sz="1400" b="1" i="0">
                <a:solidFill>
                  <a:srgbClr val="2A78D6"/>
                </a:solidFill>
                <a:latin typeface="Segoe UI"/>
              </a:rPr>
              <a:t>Una prueba real: la 01 del módulo 1</a:t>
            </a:r>
          </a:p>
        </p:txBody>
      </p:sp>
      <p:sp>
        <p:nvSpPr>
          <p:cNvPr id="20" name="Rounded Rectangle 19"/>
          <p:cNvSpPr/>
          <p:nvPr/>
        </p:nvSpPr>
        <p:spPr>
          <a:xfrm>
            <a:off x="5669280" y="1920240"/>
            <a:ext cx="5989320" cy="233172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1" name="TextBox 20"/>
          <p:cNvSpPr txBox="1"/>
          <p:nvPr/>
        </p:nvSpPr>
        <p:spPr>
          <a:xfrm>
            <a:off x="5852160" y="2057400"/>
            <a:ext cx="5623559" cy="2057400"/>
          </a:xfrm>
          <a:prstGeom prst="rect">
            <a:avLst/>
          </a:prstGeom>
          <a:noFill/>
        </p:spPr>
        <p:txBody>
          <a:bodyPr wrap="square" lIns="0" rIns="0" tIns="0" bIns="0">
            <a:spAutoFit/>
          </a:bodyPr>
          <a:lstStyle/>
          <a:p>
            <a:pPr>
              <a:lnSpc>
                <a:spcPct val="105000"/>
              </a:lnSpc>
            </a:pPr>
            <a:r>
              <a:rPr sz="1100" b="0">
                <a:solidFill>
                  <a:srgbClr val="0B0B0B"/>
                </a:solidFill>
                <a:latin typeface="Consolas"/>
              </a:rPr>
              <a:t>test.beforeEach(async ({ page }) =&gt; {</a:t>
            </a:r>
          </a:p>
          <a:p>
            <a:pPr>
              <a:lnSpc>
                <a:spcPct val="105000"/>
              </a:lnSpc>
            </a:pPr>
            <a:r>
              <a:rPr sz="1100" b="0">
                <a:solidFill>
                  <a:srgbClr val="0B0B0B"/>
                </a:solidFill>
                <a:latin typeface="Consolas"/>
              </a:rPr>
              <a:t>  await page.goto('/');        // http://localhost:8080/</a:t>
            </a:r>
          </a:p>
          <a:p>
            <a:pPr>
              <a:lnSpc>
                <a:spcPct val="105000"/>
              </a:lnSpc>
            </a:pPr>
            <a:r>
              <a:rPr sz="1100" b="0">
                <a:solidFill>
                  <a:srgbClr val="0B0B0B"/>
                </a:solidFill>
                <a:latin typeface="Consolas"/>
              </a:rPr>
              <a:t>});</a:t>
            </a:r>
          </a:p>
          <a:p>
            <a:pPr>
              <a:lnSpc>
                <a:spcPct val="105000"/>
              </a:lnSpc>
            </a:pPr>
            <a:r>
              <a:rPr sz="1100" b="0">
                <a:solidFill>
                  <a:srgbClr val="0B0B0B"/>
                </a:solidFill>
                <a:latin typeface="Consolas"/>
              </a:rPr>
              <a:t> </a:t>
            </a:r>
          </a:p>
          <a:p>
            <a:pPr>
              <a:lnSpc>
                <a:spcPct val="105000"/>
              </a:lnSpc>
            </a:pPr>
            <a:r>
              <a:rPr sz="1100" b="1">
                <a:solidFill>
                  <a:srgbClr val="2A78D6"/>
                </a:solidFill>
                <a:latin typeface="Consolas"/>
              </a:rPr>
              <a:t>test('01 - La página carga con el título correcto',</a:t>
            </a:r>
          </a:p>
          <a:p>
            <a:pPr>
              <a:lnSpc>
                <a:spcPct val="105000"/>
              </a:lnSpc>
            </a:pPr>
            <a:r>
              <a:rPr sz="1100" b="0">
                <a:solidFill>
                  <a:srgbClr val="0B0B0B"/>
                </a:solidFill>
                <a:latin typeface="Consolas"/>
              </a:rPr>
              <a:t>  async ({ page }) =&gt; {</a:t>
            </a:r>
          </a:p>
          <a:p>
            <a:pPr>
              <a:lnSpc>
                <a:spcPct val="105000"/>
              </a:lnSpc>
            </a:pPr>
            <a:r>
              <a:rPr sz="1100" b="0">
                <a:solidFill>
                  <a:srgbClr val="0B0B0B"/>
                </a:solidFill>
                <a:latin typeface="Consolas"/>
              </a:rPr>
              <a:t>    await expect(page).toHaveTitle(/Registraduría/);</a:t>
            </a:r>
          </a:p>
          <a:p>
            <a:pPr>
              <a:lnSpc>
                <a:spcPct val="105000"/>
              </a:lnSpc>
            </a:pPr>
            <a:r>
              <a:rPr sz="1100" b="0">
                <a:solidFill>
                  <a:srgbClr val="0B0B0B"/>
                </a:solidFill>
                <a:latin typeface="Consolas"/>
              </a:rPr>
              <a:t>    await expect(page.getByRole('heading',</a:t>
            </a:r>
          </a:p>
          <a:p>
            <a:pPr>
              <a:lnSpc>
                <a:spcPct val="105000"/>
              </a:lnSpc>
            </a:pPr>
            <a:r>
              <a:rPr sz="1100" b="0">
                <a:solidFill>
                  <a:srgbClr val="0B0B0B"/>
                </a:solidFill>
                <a:latin typeface="Consolas"/>
              </a:rPr>
              <a:t>      { name: 'Inscripción de votantes' })).toBeVisible();</a:t>
            </a:r>
          </a:p>
          <a:p>
            <a:pPr>
              <a:lnSpc>
                <a:spcPct val="105000"/>
              </a:lnSpc>
            </a:pPr>
            <a:r>
              <a:rPr sz="1100" b="0">
                <a:solidFill>
                  <a:srgbClr val="0B0B0B"/>
                </a:solidFill>
                <a:latin typeface="Consolas"/>
              </a:rPr>
              <a:t>  });</a:t>
            </a:r>
          </a:p>
        </p:txBody>
      </p:sp>
      <p:sp>
        <p:nvSpPr>
          <p:cNvPr id="22" name="TextBox 21"/>
          <p:cNvSpPr txBox="1"/>
          <p:nvPr/>
        </p:nvSpPr>
        <p:spPr>
          <a:xfrm>
            <a:off x="5669280" y="4480560"/>
            <a:ext cx="2103120" cy="320040"/>
          </a:xfrm>
          <a:prstGeom prst="rect">
            <a:avLst/>
          </a:prstGeom>
          <a:noFill/>
        </p:spPr>
        <p:txBody>
          <a:bodyPr wrap="square" lIns="0" rIns="0" tIns="0" bIns="0" anchor="t">
            <a:spAutoFit/>
          </a:bodyPr>
          <a:lstStyle/>
          <a:p>
            <a:pPr algn="l">
              <a:lnSpc>
                <a:spcPct val="110000"/>
              </a:lnSpc>
            </a:pPr>
            <a:r>
              <a:rPr sz="1200" b="1" i="0">
                <a:solidFill>
                  <a:srgbClr val="0B0B0B"/>
                </a:solidFill>
                <a:latin typeface="Consolas"/>
              </a:rPr>
              <a:t>test(...)</a:t>
            </a:r>
          </a:p>
        </p:txBody>
      </p:sp>
      <p:sp>
        <p:nvSpPr>
          <p:cNvPr id="23" name="TextBox 22"/>
          <p:cNvSpPr txBox="1"/>
          <p:nvPr/>
        </p:nvSpPr>
        <p:spPr>
          <a:xfrm>
            <a:off x="7818120" y="4480560"/>
            <a:ext cx="3840480" cy="3200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una prueba: un escenario con su nombre</a:t>
            </a:r>
          </a:p>
        </p:txBody>
      </p:sp>
      <p:sp>
        <p:nvSpPr>
          <p:cNvPr id="24" name="TextBox 23"/>
          <p:cNvSpPr txBox="1"/>
          <p:nvPr/>
        </p:nvSpPr>
        <p:spPr>
          <a:xfrm>
            <a:off x="5669280" y="4892040"/>
            <a:ext cx="2103120" cy="320040"/>
          </a:xfrm>
          <a:prstGeom prst="rect">
            <a:avLst/>
          </a:prstGeom>
          <a:noFill/>
        </p:spPr>
        <p:txBody>
          <a:bodyPr wrap="square" lIns="0" rIns="0" tIns="0" bIns="0" anchor="t">
            <a:spAutoFit/>
          </a:bodyPr>
          <a:lstStyle/>
          <a:p>
            <a:pPr algn="l">
              <a:lnSpc>
                <a:spcPct val="110000"/>
              </a:lnSpc>
            </a:pPr>
            <a:r>
              <a:rPr sz="1200" b="1" i="0">
                <a:solidFill>
                  <a:srgbClr val="0B0B0B"/>
                </a:solidFill>
                <a:latin typeface="Consolas"/>
              </a:rPr>
              <a:t>page.getByRole(...)</a:t>
            </a:r>
          </a:p>
        </p:txBody>
      </p:sp>
      <p:sp>
        <p:nvSpPr>
          <p:cNvPr id="25" name="TextBox 24"/>
          <p:cNvSpPr txBox="1"/>
          <p:nvPr/>
        </p:nvSpPr>
        <p:spPr>
          <a:xfrm>
            <a:off x="7818120" y="4892040"/>
            <a:ext cx="3840480" cy="3200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un localizador: cómo se encuentra un elemento</a:t>
            </a:r>
          </a:p>
        </p:txBody>
      </p:sp>
      <p:sp>
        <p:nvSpPr>
          <p:cNvPr id="26" name="TextBox 25"/>
          <p:cNvSpPr txBox="1"/>
          <p:nvPr/>
        </p:nvSpPr>
        <p:spPr>
          <a:xfrm>
            <a:off x="5669280" y="5303520"/>
            <a:ext cx="2103120" cy="320040"/>
          </a:xfrm>
          <a:prstGeom prst="rect">
            <a:avLst/>
          </a:prstGeom>
          <a:noFill/>
        </p:spPr>
        <p:txBody>
          <a:bodyPr wrap="square" lIns="0" rIns="0" tIns="0" bIns="0" anchor="t">
            <a:spAutoFit/>
          </a:bodyPr>
          <a:lstStyle/>
          <a:p>
            <a:pPr algn="l">
              <a:lnSpc>
                <a:spcPct val="110000"/>
              </a:lnSpc>
            </a:pPr>
            <a:r>
              <a:rPr sz="1200" b="1" i="0">
                <a:solidFill>
                  <a:srgbClr val="0B0B0B"/>
                </a:solidFill>
                <a:latin typeface="Consolas"/>
              </a:rPr>
              <a:t>expect(...)</a:t>
            </a:r>
          </a:p>
        </p:txBody>
      </p:sp>
      <p:sp>
        <p:nvSpPr>
          <p:cNvPr id="27" name="TextBox 26"/>
          <p:cNvSpPr txBox="1"/>
          <p:nvPr/>
        </p:nvSpPr>
        <p:spPr>
          <a:xfrm>
            <a:off x="7818120" y="5303520"/>
            <a:ext cx="3840480" cy="3200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una aserción: lo que debe cumplirse; se reintenta sola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1 · LOCALIZADORES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Buscar los elementos como los busca una persona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6</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Rounded Rectangle 5"/>
          <p:cNvSpPr/>
          <p:nvPr/>
        </p:nvSpPr>
        <p:spPr>
          <a:xfrm>
            <a:off x="548640" y="1874520"/>
            <a:ext cx="86868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006300"/>
                </a:solidFill>
                <a:latin typeface="Segoe UI"/>
              </a:rPr>
              <a:t>Bien</a:t>
            </a:r>
          </a:p>
        </p:txBody>
      </p:sp>
      <p:sp>
        <p:nvSpPr>
          <p:cNvPr id="7" name="Rounded Rectangle 6"/>
          <p:cNvSpPr/>
          <p:nvPr/>
        </p:nvSpPr>
        <p:spPr>
          <a:xfrm>
            <a:off x="1645920" y="1691640"/>
            <a:ext cx="6126480" cy="658368"/>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TextBox 7"/>
          <p:cNvSpPr txBox="1"/>
          <p:nvPr/>
        </p:nvSpPr>
        <p:spPr>
          <a:xfrm>
            <a:off x="1828800" y="1828800"/>
            <a:ext cx="5760720" cy="384048"/>
          </a:xfrm>
          <a:prstGeom prst="rect">
            <a:avLst/>
          </a:prstGeom>
          <a:noFill/>
        </p:spPr>
        <p:txBody>
          <a:bodyPr wrap="square" lIns="0" rIns="0" tIns="0" bIns="0">
            <a:spAutoFit/>
          </a:bodyPr>
          <a:lstStyle/>
          <a:p>
            <a:pPr>
              <a:lnSpc>
                <a:spcPct val="105000"/>
              </a:lnSpc>
            </a:pPr>
            <a:r>
              <a:rPr sz="1400" b="0">
                <a:solidFill>
                  <a:srgbClr val="0B0B0B"/>
                </a:solidFill>
                <a:latin typeface="Consolas"/>
              </a:rPr>
              <a:t>page.getByRole('button', { name: 'Registrar votante' })</a:t>
            </a:r>
          </a:p>
        </p:txBody>
      </p:sp>
      <p:sp>
        <p:nvSpPr>
          <p:cNvPr id="9" name="TextBox 8"/>
          <p:cNvSpPr txBox="1"/>
          <p:nvPr/>
        </p:nvSpPr>
        <p:spPr>
          <a:xfrm>
            <a:off x="8092440" y="1645920"/>
            <a:ext cx="3566160" cy="749808"/>
          </a:xfrm>
          <a:prstGeom prst="rect">
            <a:avLst/>
          </a:prstGeom>
          <a:noFill/>
        </p:spPr>
        <p:txBody>
          <a:bodyPr wrap="square" lIns="0" rIns="0" tIns="0" bIns="0" anchor="ctr">
            <a:spAutoFit/>
          </a:bodyPr>
          <a:lstStyle/>
          <a:p>
            <a:pPr algn="l">
              <a:lnSpc>
                <a:spcPct val="120000"/>
              </a:lnSpc>
            </a:pPr>
            <a:r>
              <a:rPr sz="1400" b="0" i="0">
                <a:solidFill>
                  <a:srgbClr val="52514E"/>
                </a:solidFill>
                <a:latin typeface="Segoe UI"/>
              </a:rPr>
              <a:t>Sobrevive a un rediseño y, de paso, comprueba que el botón es accesible.</a:t>
            </a:r>
          </a:p>
        </p:txBody>
      </p:sp>
      <p:sp>
        <p:nvSpPr>
          <p:cNvPr id="10" name="Rounded Rectangle 9"/>
          <p:cNvSpPr/>
          <p:nvPr/>
        </p:nvSpPr>
        <p:spPr>
          <a:xfrm>
            <a:off x="548640" y="3246120"/>
            <a:ext cx="868680" cy="292608"/>
          </a:xfrm>
          <a:prstGeom prst="roundRect">
            <a:avLst>
              <a:gd name="adj" fmla="val 50000"/>
            </a:avLst>
          </a:prstGeom>
          <a:solidFill>
            <a:srgbClr val="FDEC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7A5600"/>
                </a:solidFill>
                <a:latin typeface="Segoe UI"/>
              </a:rPr>
              <a:t>Mal</a:t>
            </a:r>
          </a:p>
        </p:txBody>
      </p:sp>
      <p:sp>
        <p:nvSpPr>
          <p:cNvPr id="11" name="Rounded Rectangle 10"/>
          <p:cNvSpPr/>
          <p:nvPr/>
        </p:nvSpPr>
        <p:spPr>
          <a:xfrm>
            <a:off x="1645920" y="3063240"/>
            <a:ext cx="6126480" cy="658368"/>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2" name="TextBox 11"/>
          <p:cNvSpPr txBox="1"/>
          <p:nvPr/>
        </p:nvSpPr>
        <p:spPr>
          <a:xfrm>
            <a:off x="1828800" y="3200400"/>
            <a:ext cx="5760720" cy="384048"/>
          </a:xfrm>
          <a:prstGeom prst="rect">
            <a:avLst/>
          </a:prstGeom>
          <a:noFill/>
        </p:spPr>
        <p:txBody>
          <a:bodyPr wrap="square" lIns="0" rIns="0" tIns="0" bIns="0">
            <a:spAutoFit/>
          </a:bodyPr>
          <a:lstStyle/>
          <a:p>
            <a:pPr>
              <a:lnSpc>
                <a:spcPct val="105000"/>
              </a:lnSpc>
            </a:pPr>
            <a:r>
              <a:rPr sz="1400" b="0">
                <a:solidFill>
                  <a:srgbClr val="0B0B0B"/>
                </a:solidFill>
                <a:latin typeface="Consolas"/>
              </a:rPr>
              <a:t>page.locator('.btn.btn-primary.mt-3')</a:t>
            </a:r>
          </a:p>
        </p:txBody>
      </p:sp>
      <p:sp>
        <p:nvSpPr>
          <p:cNvPr id="13" name="TextBox 12"/>
          <p:cNvSpPr txBox="1"/>
          <p:nvPr/>
        </p:nvSpPr>
        <p:spPr>
          <a:xfrm>
            <a:off x="8092440" y="3017520"/>
            <a:ext cx="3566160" cy="749808"/>
          </a:xfrm>
          <a:prstGeom prst="rect">
            <a:avLst/>
          </a:prstGeom>
          <a:noFill/>
        </p:spPr>
        <p:txBody>
          <a:bodyPr wrap="square" lIns="0" rIns="0" tIns="0" bIns="0" anchor="ctr">
            <a:spAutoFit/>
          </a:bodyPr>
          <a:lstStyle/>
          <a:p>
            <a:pPr algn="l">
              <a:lnSpc>
                <a:spcPct val="120000"/>
              </a:lnSpc>
            </a:pPr>
            <a:r>
              <a:rPr sz="1400" b="0" i="0">
                <a:solidFill>
                  <a:srgbClr val="52514E"/>
                </a:solidFill>
                <a:latin typeface="Segoe UI"/>
              </a:rPr>
              <a:t>Se rompe con el primer cambio de estilos.</a:t>
            </a:r>
          </a:p>
        </p:txBody>
      </p:sp>
      <p:sp>
        <p:nvSpPr>
          <p:cNvPr id="14" name="Rounded Rectangle 13"/>
          <p:cNvSpPr/>
          <p:nvPr/>
        </p:nvSpPr>
        <p:spPr>
          <a:xfrm>
            <a:off x="548640" y="4617720"/>
            <a:ext cx="868680" cy="292608"/>
          </a:xfrm>
          <a:prstGeom prst="roundRect">
            <a:avLst>
              <a:gd name="adj" fmla="val 50000"/>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D03B3B"/>
                </a:solidFill>
                <a:latin typeface="Segoe UI"/>
              </a:rPr>
              <a:t>Peor</a:t>
            </a:r>
          </a:p>
        </p:txBody>
      </p:sp>
      <p:sp>
        <p:nvSpPr>
          <p:cNvPr id="15" name="Rounded Rectangle 14"/>
          <p:cNvSpPr/>
          <p:nvPr/>
        </p:nvSpPr>
        <p:spPr>
          <a:xfrm>
            <a:off x="1645920" y="4434840"/>
            <a:ext cx="6126480" cy="658368"/>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6" name="TextBox 15"/>
          <p:cNvSpPr txBox="1"/>
          <p:nvPr/>
        </p:nvSpPr>
        <p:spPr>
          <a:xfrm>
            <a:off x="1828800" y="4572000"/>
            <a:ext cx="5760720" cy="384048"/>
          </a:xfrm>
          <a:prstGeom prst="rect">
            <a:avLst/>
          </a:prstGeom>
          <a:noFill/>
        </p:spPr>
        <p:txBody>
          <a:bodyPr wrap="square" lIns="0" rIns="0" tIns="0" bIns="0">
            <a:spAutoFit/>
          </a:bodyPr>
          <a:lstStyle/>
          <a:p>
            <a:pPr>
              <a:lnSpc>
                <a:spcPct val="105000"/>
              </a:lnSpc>
            </a:pPr>
            <a:r>
              <a:rPr sz="1400" b="0">
                <a:solidFill>
                  <a:srgbClr val="0B0B0B"/>
                </a:solidFill>
                <a:latin typeface="Consolas"/>
              </a:rPr>
              <a:t>page.locator('/html/body/div[2]/form/button')</a:t>
            </a:r>
          </a:p>
        </p:txBody>
      </p:sp>
      <p:sp>
        <p:nvSpPr>
          <p:cNvPr id="17" name="TextBox 16"/>
          <p:cNvSpPr txBox="1"/>
          <p:nvPr/>
        </p:nvSpPr>
        <p:spPr>
          <a:xfrm>
            <a:off x="8092440" y="4389120"/>
            <a:ext cx="3566160" cy="749808"/>
          </a:xfrm>
          <a:prstGeom prst="rect">
            <a:avLst/>
          </a:prstGeom>
          <a:noFill/>
        </p:spPr>
        <p:txBody>
          <a:bodyPr wrap="square" lIns="0" rIns="0" tIns="0" bIns="0" anchor="ctr">
            <a:spAutoFit/>
          </a:bodyPr>
          <a:lstStyle/>
          <a:p>
            <a:pPr algn="l">
              <a:lnSpc>
                <a:spcPct val="120000"/>
              </a:lnSpc>
            </a:pPr>
            <a:r>
              <a:rPr sz="1400" b="0" i="0">
                <a:solidFill>
                  <a:srgbClr val="52514E"/>
                </a:solidFill>
                <a:latin typeface="Segoe UI"/>
              </a:rPr>
              <a:t>XPath absoluto: se rompe si alguien agrega un div. Lo penaliza la rúbrica.</a:t>
            </a:r>
          </a:p>
        </p:txBody>
      </p:sp>
      <p:sp>
        <p:nvSpPr>
          <p:cNvPr id="18" name="TextBox 17"/>
          <p:cNvSpPr txBox="1"/>
          <p:nvPr/>
        </p:nvSpPr>
        <p:spPr>
          <a:xfrm>
            <a:off x="548640" y="5852160"/>
            <a:ext cx="10972800" cy="365760"/>
          </a:xfrm>
          <a:prstGeom prst="rect">
            <a:avLst/>
          </a:prstGeom>
          <a:noFill/>
        </p:spPr>
        <p:txBody>
          <a:bodyPr wrap="square" lIns="0" rIns="0" tIns="0" bIns="0" anchor="t">
            <a:spAutoFit/>
          </a:bodyPr>
          <a:lstStyle/>
          <a:p>
            <a:pPr algn="l">
              <a:lnSpc>
                <a:spcPct val="110000"/>
              </a:lnSpc>
            </a:pPr>
            <a:r>
              <a:rPr sz="1200" b="0" i="0">
                <a:solidFill>
                  <a:srgbClr val="898781"/>
                </a:solidFill>
                <a:latin typeface="Segoe UI"/>
              </a:rPr>
              <a:t>Orden de preferencia de la guía: rol → etiqueta → texto → test id → CSS o XPath, como último recurso.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1 · ESPERAS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Una prueba inestable casi nunca es mala suerte</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7</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554480"/>
            <a:ext cx="5394960" cy="365760"/>
          </a:xfrm>
          <a:prstGeom prst="rect">
            <a:avLst/>
          </a:prstGeom>
          <a:noFill/>
        </p:spPr>
        <p:txBody>
          <a:bodyPr wrap="square" lIns="0" rIns="0" tIns="0" bIns="0" anchor="t">
            <a:spAutoFit/>
          </a:bodyPr>
          <a:lstStyle/>
          <a:p>
            <a:pPr algn="l">
              <a:lnSpc>
                <a:spcPct val="110000"/>
              </a:lnSpc>
            </a:pPr>
            <a:r>
              <a:rPr sz="1800" b="1" i="0">
                <a:solidFill>
                  <a:srgbClr val="0B0B0B"/>
                </a:solidFill>
                <a:latin typeface="Segoe UI"/>
              </a:rPr>
              <a:t>Cero esperas fijas</a:t>
            </a:r>
          </a:p>
        </p:txBody>
      </p:sp>
      <p:sp>
        <p:nvSpPr>
          <p:cNvPr id="7" name="Rounded Rectangle 6"/>
          <p:cNvSpPr/>
          <p:nvPr/>
        </p:nvSpPr>
        <p:spPr>
          <a:xfrm>
            <a:off x="548640" y="2011680"/>
            <a:ext cx="5577840" cy="169164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TextBox 7"/>
          <p:cNvSpPr txBox="1"/>
          <p:nvPr/>
        </p:nvSpPr>
        <p:spPr>
          <a:xfrm>
            <a:off x="731520" y="2148840"/>
            <a:ext cx="5212079" cy="1417320"/>
          </a:xfrm>
          <a:prstGeom prst="rect">
            <a:avLst/>
          </a:prstGeom>
          <a:noFill/>
        </p:spPr>
        <p:txBody>
          <a:bodyPr wrap="square" lIns="0" rIns="0" tIns="0" bIns="0">
            <a:spAutoFit/>
          </a:bodyPr>
          <a:lstStyle/>
          <a:p>
            <a:pPr>
              <a:lnSpc>
                <a:spcPct val="105000"/>
              </a:lnSpc>
            </a:pPr>
            <a:r>
              <a:rPr sz="1200" b="0">
                <a:solidFill>
                  <a:srgbClr val="0B0B0B"/>
                </a:solidFill>
                <a:latin typeface="Consolas"/>
              </a:rPr>
              <a:t>// Una apuesta: lento si responde rápido,</a:t>
            </a:r>
          </a:p>
          <a:p>
            <a:pPr>
              <a:lnSpc>
                <a:spcPct val="105000"/>
              </a:lnSpc>
            </a:pPr>
            <a:r>
              <a:rPr sz="1200" b="0">
                <a:solidFill>
                  <a:srgbClr val="0B0B0B"/>
                </a:solidFill>
                <a:latin typeface="Consolas"/>
              </a:rPr>
              <a:t>// insuficiente si responde lento</a:t>
            </a:r>
          </a:p>
          <a:p>
            <a:pPr>
              <a:lnSpc>
                <a:spcPct val="105000"/>
              </a:lnSpc>
            </a:pPr>
            <a:r>
              <a:rPr sz="1200" b="1">
                <a:solidFill>
                  <a:srgbClr val="D03B3B"/>
                </a:solidFill>
                <a:latin typeface="Consolas"/>
              </a:rPr>
              <a:t>await page.waitForTimeout(3000);</a:t>
            </a:r>
          </a:p>
          <a:p>
            <a:pPr>
              <a:lnSpc>
                <a:spcPct val="105000"/>
              </a:lnSpc>
            </a:pPr>
            <a:r>
              <a:rPr sz="1200" b="0">
                <a:solidFill>
                  <a:srgbClr val="0B0B0B"/>
                </a:solidFill>
                <a:latin typeface="Consolas"/>
              </a:rPr>
              <a:t> </a:t>
            </a:r>
          </a:p>
          <a:p>
            <a:pPr>
              <a:lnSpc>
                <a:spcPct val="105000"/>
              </a:lnSpc>
            </a:pPr>
            <a:r>
              <a:rPr sz="1200" b="0">
                <a:solidFill>
                  <a:srgbClr val="0B0B0B"/>
                </a:solidFill>
                <a:latin typeface="Consolas"/>
              </a:rPr>
              <a:t>// Reintenta hasta que se cumple o expira</a:t>
            </a:r>
          </a:p>
          <a:p>
            <a:pPr>
              <a:lnSpc>
                <a:spcPct val="105000"/>
              </a:lnSpc>
            </a:pPr>
            <a:r>
              <a:rPr sz="1200" b="1">
                <a:solidFill>
                  <a:srgbClr val="006300"/>
                </a:solidFill>
                <a:latin typeface="Consolas"/>
              </a:rPr>
              <a:t>await expect(page.getByRole('heading',</a:t>
            </a:r>
          </a:p>
          <a:p>
            <a:pPr>
              <a:lnSpc>
                <a:spcPct val="105000"/>
              </a:lnSpc>
            </a:pPr>
            <a:r>
              <a:rPr sz="1200" b="1">
                <a:solidFill>
                  <a:srgbClr val="006300"/>
                </a:solidFill>
                <a:latin typeface="Consolas"/>
              </a:rPr>
              <a:t>  { name: 'Inscripción exitosa' })).toBeVisible();</a:t>
            </a:r>
          </a:p>
        </p:txBody>
      </p:sp>
      <p:sp>
        <p:nvSpPr>
          <p:cNvPr id="9" name="TextBox 8"/>
          <p:cNvSpPr txBox="1"/>
          <p:nvPr/>
        </p:nvSpPr>
        <p:spPr>
          <a:xfrm>
            <a:off x="548640" y="3977639"/>
            <a:ext cx="5577840" cy="1645920"/>
          </a:xfrm>
          <a:prstGeom prst="rect">
            <a:avLst/>
          </a:prstGeom>
          <a:noFill/>
        </p:spPr>
        <p:txBody>
          <a:bodyPr wrap="square" lIns="0" rIns="0" tIns="0" bIns="0" anchor="t">
            <a:spAutoFit/>
          </a:bodyPr>
          <a:lstStyle/>
          <a:p>
            <a:pPr algn="l">
              <a:lnSpc>
                <a:spcPct val="120000"/>
              </a:lnSpc>
            </a:pPr>
            <a:r>
              <a:rPr sz="1400" b="0" i="0">
                <a:solidFill>
                  <a:srgbClr val="52514E"/>
                </a:solidFill>
                <a:latin typeface="Segoe UI"/>
              </a:rPr>
              <a:t>Un sleep es la causa número uno de pruebas inestables. La entrega exige cero, y la rúbrica las penaliza junto con el XPath absoluto.</a:t>
            </a:r>
          </a:p>
        </p:txBody>
      </p:sp>
      <p:sp>
        <p:nvSpPr>
          <p:cNvPr id="10" name="Rounded Rectangle 9"/>
          <p:cNvSpPr/>
          <p:nvPr/>
        </p:nvSpPr>
        <p:spPr>
          <a:xfrm>
            <a:off x="6583680" y="1554480"/>
            <a:ext cx="5074920" cy="4434840"/>
          </a:xfrm>
          <a:prstGeom prst="roundRect">
            <a:avLst>
              <a:gd name="adj" fmla="val 5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6858000" y="1783080"/>
            <a:ext cx="4572000" cy="274320"/>
          </a:xfrm>
          <a:prstGeom prst="rect">
            <a:avLst/>
          </a:prstGeom>
          <a:noFill/>
        </p:spPr>
        <p:txBody>
          <a:bodyPr wrap="square" lIns="0" rIns="0" tIns="0" bIns="0" anchor="t">
            <a:spAutoFit/>
          </a:bodyPr>
          <a:lstStyle/>
          <a:p>
            <a:pPr algn="l">
              <a:lnSpc>
                <a:spcPct val="110000"/>
              </a:lnSpc>
            </a:pPr>
            <a:r>
              <a:rPr sz="1100" b="1" i="0" spc="100">
                <a:solidFill>
                  <a:srgbClr val="EB6834"/>
                </a:solidFill>
                <a:latin typeface="Segoe UI"/>
              </a:rPr>
              <a:t>MEDIDO EN ESTE REPOSITORIO</a:t>
            </a:r>
          </a:p>
        </p:txBody>
      </p:sp>
      <p:sp>
        <p:nvSpPr>
          <p:cNvPr id="12" name="TextBox 11"/>
          <p:cNvSpPr txBox="1"/>
          <p:nvPr/>
        </p:nvSpPr>
        <p:spPr>
          <a:xfrm>
            <a:off x="6858000" y="2103120"/>
            <a:ext cx="4572000" cy="914400"/>
          </a:xfrm>
          <a:prstGeom prst="rect">
            <a:avLst/>
          </a:prstGeom>
          <a:noFill/>
        </p:spPr>
        <p:txBody>
          <a:bodyPr wrap="square" lIns="0" rIns="0" tIns="0" bIns="0" anchor="t">
            <a:spAutoFit/>
          </a:bodyPr>
          <a:lstStyle/>
          <a:p>
            <a:pPr algn="l">
              <a:lnSpc>
                <a:spcPct val="110000"/>
              </a:lnSpc>
            </a:pPr>
            <a:r>
              <a:rPr sz="4400" b="1" i="0">
                <a:solidFill>
                  <a:srgbClr val="D03B3B"/>
                </a:solidFill>
                <a:latin typeface="Segoe UI"/>
              </a:rPr>
              <a:t>1 de cada 30</a:t>
            </a:r>
          </a:p>
        </p:txBody>
      </p:sp>
      <p:sp>
        <p:nvSpPr>
          <p:cNvPr id="13" name="TextBox 12"/>
          <p:cNvSpPr txBox="1"/>
          <p:nvPr/>
        </p:nvSpPr>
        <p:spPr>
          <a:xfrm>
            <a:off x="6858000" y="2926080"/>
            <a:ext cx="4572000" cy="64008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ejecuciones fallaba con "Documento ya inscrito".</a:t>
            </a:r>
          </a:p>
          <a:p>
            <a:pPr algn="l">
              <a:lnSpc>
                <a:spcPct val="115000"/>
              </a:lnSpc>
            </a:pPr>
            <a:r>
              <a:rPr sz="1300" b="0" i="0">
                <a:solidFill>
                  <a:srgbClr val="52514E"/>
                </a:solidFill>
                <a:latin typeface="Segoe UI"/>
              </a:rPr>
              <a:t>Medido con --repeat-each=30 (cada prueba 30 veces) y 8 workers (8 procesos en paralelo).</a:t>
            </a:r>
          </a:p>
        </p:txBody>
      </p:sp>
      <p:sp>
        <p:nvSpPr>
          <p:cNvPr id="14" name="Rounded Rectangle 13"/>
          <p:cNvSpPr/>
          <p:nvPr/>
        </p:nvSpPr>
        <p:spPr>
          <a:xfrm>
            <a:off x="6858000" y="3840480"/>
            <a:ext cx="4526280" cy="96012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5" name="TextBox 14"/>
          <p:cNvSpPr txBox="1"/>
          <p:nvPr/>
        </p:nvSpPr>
        <p:spPr>
          <a:xfrm>
            <a:off x="7040880" y="3977640"/>
            <a:ext cx="4160520" cy="685800"/>
          </a:xfrm>
          <a:prstGeom prst="rect">
            <a:avLst/>
          </a:prstGeom>
          <a:noFill/>
        </p:spPr>
        <p:txBody>
          <a:bodyPr wrap="square" lIns="0" rIns="0" tIns="0" bIns="0">
            <a:spAutoFit/>
          </a:bodyPr>
          <a:lstStyle/>
          <a:p>
            <a:pPr>
              <a:lnSpc>
                <a:spcPct val="105000"/>
              </a:lnSpc>
            </a:pPr>
            <a:r>
              <a:rPr sz="1100" b="0">
                <a:solidFill>
                  <a:srgbClr val="0B0B0B"/>
                </a:solidFill>
                <a:latin typeface="Consolas"/>
              </a:rPr>
              <a:t>// Antes: dos copias, mismo milisegundo</a:t>
            </a:r>
          </a:p>
          <a:p>
            <a:pPr>
              <a:lnSpc>
                <a:spcPct val="105000"/>
              </a:lnSpc>
            </a:pPr>
            <a:r>
              <a:rPr sz="1100" b="1">
                <a:solidFill>
                  <a:srgbClr val="D03B3B"/>
                </a:solidFill>
                <a:latin typeface="Consolas"/>
              </a:rPr>
              <a:t>Date.now() % 1000000</a:t>
            </a:r>
          </a:p>
          <a:p>
            <a:pPr>
              <a:lnSpc>
                <a:spcPct val="105000"/>
              </a:lnSpc>
            </a:pPr>
            <a:r>
              <a:rPr sz="1100" b="0">
                <a:solidFill>
                  <a:srgbClr val="0B0B0B"/>
                </a:solidFill>
                <a:latin typeface="Consolas"/>
              </a:rPr>
              <a:t>// Ahora: 900 millones de valores</a:t>
            </a:r>
          </a:p>
          <a:p>
            <a:pPr>
              <a:lnSpc>
                <a:spcPct val="105000"/>
              </a:lnSpc>
            </a:pPr>
            <a:r>
              <a:rPr sz="1100" b="1">
                <a:solidFill>
                  <a:srgbClr val="006300"/>
                </a:solidFill>
                <a:latin typeface="Consolas"/>
              </a:rPr>
              <a:t>Math.floor(Math.random() * 900_000_000)</a:t>
            </a:r>
          </a:p>
        </p:txBody>
      </p:sp>
      <p:sp>
        <p:nvSpPr>
          <p:cNvPr id="16" name="TextBox 15"/>
          <p:cNvSpPr txBox="1"/>
          <p:nvPr/>
        </p:nvSpPr>
        <p:spPr>
          <a:xfrm>
            <a:off x="6858000" y="4983480"/>
            <a:ext cx="4572000" cy="91440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Para cazar una prueba inestable, repítala en paralelo: --repeat-each es la forma estándar.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2 · PAGE OBJECT MODEL</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Las pruebas se leen como reglas de negocio</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8</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554480"/>
            <a:ext cx="5303520" cy="365760"/>
          </a:xfrm>
          <a:prstGeom prst="rect">
            <a:avLst/>
          </a:prstGeom>
          <a:noFill/>
        </p:spPr>
        <p:txBody>
          <a:bodyPr wrap="square" lIns="0" rIns="0" tIns="0" bIns="0" anchor="t">
            <a:spAutoFit/>
          </a:bodyPr>
          <a:lstStyle/>
          <a:p>
            <a:pPr algn="l">
              <a:lnSpc>
                <a:spcPct val="110000"/>
              </a:lnSpc>
            </a:pPr>
            <a:r>
              <a:rPr sz="1500" b="1" i="0">
                <a:solidFill>
                  <a:srgbClr val="52514E"/>
                </a:solidFill>
                <a:latin typeface="Segoe UI"/>
              </a:rPr>
              <a:t>Sin Page Object: una secuencia de clics</a:t>
            </a:r>
          </a:p>
        </p:txBody>
      </p:sp>
      <p:sp>
        <p:nvSpPr>
          <p:cNvPr id="7" name="Rounded Rectangle 6"/>
          <p:cNvSpPr/>
          <p:nvPr/>
        </p:nvSpPr>
        <p:spPr>
          <a:xfrm>
            <a:off x="548640" y="1965960"/>
            <a:ext cx="5394960" cy="201168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TextBox 7"/>
          <p:cNvSpPr txBox="1"/>
          <p:nvPr/>
        </p:nvSpPr>
        <p:spPr>
          <a:xfrm>
            <a:off x="731520" y="2103120"/>
            <a:ext cx="5029200" cy="1737360"/>
          </a:xfrm>
          <a:prstGeom prst="rect">
            <a:avLst/>
          </a:prstGeom>
          <a:noFill/>
        </p:spPr>
        <p:txBody>
          <a:bodyPr wrap="square" lIns="0" rIns="0" tIns="0" bIns="0">
            <a:spAutoFit/>
          </a:bodyPr>
          <a:lstStyle/>
          <a:p>
            <a:pPr>
              <a:lnSpc>
                <a:spcPct val="105000"/>
              </a:lnSpc>
            </a:pPr>
            <a:r>
              <a:rPr sz="1100" b="0">
                <a:solidFill>
                  <a:srgbClr val="0B0B0B"/>
                </a:solidFill>
                <a:latin typeface="Consolas"/>
              </a:rPr>
              <a:t>await page.getByLabel('Nombre completo').fill('Ana');</a:t>
            </a:r>
          </a:p>
          <a:p>
            <a:pPr>
              <a:lnSpc>
                <a:spcPct val="105000"/>
              </a:lnSpc>
            </a:pPr>
            <a:r>
              <a:rPr sz="1100" b="0">
                <a:solidFill>
                  <a:srgbClr val="0B0B0B"/>
                </a:solidFill>
                <a:latin typeface="Consolas"/>
              </a:rPr>
              <a:t>await page.getByLabel('Número de documento')</a:t>
            </a:r>
          </a:p>
          <a:p>
            <a:pPr>
              <a:lnSpc>
                <a:spcPct val="105000"/>
              </a:lnSpc>
            </a:pPr>
            <a:r>
              <a:rPr sz="1100" b="0">
                <a:solidFill>
                  <a:srgbClr val="0B0B0B"/>
                </a:solidFill>
                <a:latin typeface="Consolas"/>
              </a:rPr>
              <a:t>  .fill(String(documento));</a:t>
            </a:r>
          </a:p>
          <a:p>
            <a:pPr>
              <a:lnSpc>
                <a:spcPct val="105000"/>
              </a:lnSpc>
            </a:pPr>
            <a:r>
              <a:rPr sz="1100" b="0">
                <a:solidFill>
                  <a:srgbClr val="0B0B0B"/>
                </a:solidFill>
                <a:latin typeface="Consolas"/>
              </a:rPr>
              <a:t>await page.getByLabel('Edad').fill('17');</a:t>
            </a:r>
          </a:p>
          <a:p>
            <a:pPr>
              <a:lnSpc>
                <a:spcPct val="105000"/>
              </a:lnSpc>
            </a:pPr>
            <a:r>
              <a:rPr sz="1100" b="0">
                <a:solidFill>
                  <a:srgbClr val="0B0B0B"/>
                </a:solidFill>
                <a:latin typeface="Consolas"/>
              </a:rPr>
              <a:t>await page.getByRole('button',</a:t>
            </a:r>
          </a:p>
          <a:p>
            <a:pPr>
              <a:lnSpc>
                <a:spcPct val="105000"/>
              </a:lnSpc>
            </a:pPr>
            <a:r>
              <a:rPr sz="1100" b="0">
                <a:solidFill>
                  <a:srgbClr val="0B0B0B"/>
                </a:solidFill>
                <a:latin typeface="Consolas"/>
              </a:rPr>
              <a:t>  { name: 'Registrar votante' }).click();</a:t>
            </a:r>
          </a:p>
          <a:p>
            <a:pPr>
              <a:lnSpc>
                <a:spcPct val="105000"/>
              </a:lnSpc>
            </a:pPr>
            <a:r>
              <a:rPr sz="1100" b="0">
                <a:solidFill>
                  <a:srgbClr val="0B0B0B"/>
                </a:solidFill>
                <a:latin typeface="Consolas"/>
              </a:rPr>
              <a:t>await expect(page.getByRole('heading',</a:t>
            </a:r>
          </a:p>
          <a:p>
            <a:pPr>
              <a:lnSpc>
                <a:spcPct val="105000"/>
              </a:lnSpc>
            </a:pPr>
            <a:r>
              <a:rPr sz="1100" b="0">
                <a:solidFill>
                  <a:srgbClr val="0B0B0B"/>
                </a:solidFill>
                <a:latin typeface="Consolas"/>
              </a:rPr>
              <a:t>  { name: 'Persona menor de edad' })).toBeVisible();</a:t>
            </a:r>
          </a:p>
        </p:txBody>
      </p:sp>
      <p:sp>
        <p:nvSpPr>
          <p:cNvPr id="9" name="TextBox 8"/>
          <p:cNvSpPr txBox="1"/>
          <p:nvPr/>
        </p:nvSpPr>
        <p:spPr>
          <a:xfrm>
            <a:off x="6309360" y="1554480"/>
            <a:ext cx="5303520" cy="365760"/>
          </a:xfrm>
          <a:prstGeom prst="rect">
            <a:avLst/>
          </a:prstGeom>
          <a:noFill/>
        </p:spPr>
        <p:txBody>
          <a:bodyPr wrap="square" lIns="0" rIns="0" tIns="0" bIns="0" anchor="t">
            <a:spAutoFit/>
          </a:bodyPr>
          <a:lstStyle/>
          <a:p>
            <a:pPr algn="l">
              <a:lnSpc>
                <a:spcPct val="110000"/>
              </a:lnSpc>
            </a:pPr>
            <a:r>
              <a:rPr sz="1500" b="1" i="0">
                <a:solidFill>
                  <a:srgbClr val="2A78D6"/>
                </a:solidFill>
                <a:latin typeface="Segoe UI"/>
              </a:rPr>
              <a:t>Con Page Object: la regla que se prueba</a:t>
            </a:r>
          </a:p>
        </p:txBody>
      </p:sp>
      <p:sp>
        <p:nvSpPr>
          <p:cNvPr id="10" name="Rounded Rectangle 9"/>
          <p:cNvSpPr/>
          <p:nvPr/>
        </p:nvSpPr>
        <p:spPr>
          <a:xfrm>
            <a:off x="6309360" y="1965960"/>
            <a:ext cx="5349240" cy="91440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6492240" y="2103120"/>
            <a:ext cx="4983479" cy="640080"/>
          </a:xfrm>
          <a:prstGeom prst="rect">
            <a:avLst/>
          </a:prstGeom>
          <a:noFill/>
        </p:spPr>
        <p:txBody>
          <a:bodyPr wrap="square" lIns="0" rIns="0" tIns="0" bIns="0">
            <a:spAutoFit/>
          </a:bodyPr>
          <a:lstStyle/>
          <a:p>
            <a:pPr>
              <a:lnSpc>
                <a:spcPct val="105000"/>
              </a:lnSpc>
            </a:pPr>
            <a:r>
              <a:rPr sz="1100" b="1">
                <a:solidFill>
                  <a:srgbClr val="184F95"/>
                </a:solidFill>
                <a:latin typeface="Consolas"/>
              </a:rPr>
              <a:t>await registro.inscribir({</a:t>
            </a:r>
          </a:p>
          <a:p>
            <a:pPr>
              <a:lnSpc>
                <a:spcPct val="105000"/>
              </a:lnSpc>
            </a:pPr>
            <a:r>
              <a:rPr sz="1100" b="1">
                <a:solidFill>
                  <a:srgbClr val="184F95"/>
                </a:solidFill>
                <a:latin typeface="Consolas"/>
              </a:rPr>
              <a:t>  documento: RegistroPage.documentoUnico(), edad: 17 });</a:t>
            </a:r>
          </a:p>
          <a:p>
            <a:pPr>
              <a:lnSpc>
                <a:spcPct val="105000"/>
              </a:lnSpc>
            </a:pPr>
            <a:r>
              <a:rPr sz="1100" b="1">
                <a:solidFill>
                  <a:srgbClr val="184F95"/>
                </a:solidFill>
                <a:latin typeface="Consolas"/>
              </a:rPr>
              <a:t>await registro.esperarResultado('Persona menor de edad');</a:t>
            </a:r>
          </a:p>
        </p:txBody>
      </p:sp>
      <p:sp>
        <p:nvSpPr>
          <p:cNvPr id="12" name="Rounded Rectangle 11"/>
          <p:cNvSpPr/>
          <p:nvPr/>
        </p:nvSpPr>
        <p:spPr>
          <a:xfrm>
            <a:off x="6309360" y="3429000"/>
            <a:ext cx="1600200" cy="868680"/>
          </a:xfrm>
          <a:prstGeom prst="roundRect">
            <a:avLst>
              <a:gd name="adj" fmla="val 5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184F95"/>
                </a:solidFill>
                <a:latin typeface="Segoe UI"/>
              </a:rPr>
              <a:t>Pruebas</a:t>
            </a:r>
          </a:p>
          <a:p>
            <a:pPr algn="ctr"/>
            <a:r>
              <a:rPr sz="1100" b="0">
                <a:solidFill>
                  <a:srgbClr val="52514E"/>
                </a:solidFill>
                <a:latin typeface="Segoe UI"/>
              </a:rPr>
              <a:t>qué se prueba</a:t>
            </a:r>
          </a:p>
        </p:txBody>
      </p:sp>
      <p:cxnSp>
        <p:nvCxnSpPr>
          <p:cNvPr id="13" name="Connector 12"/>
          <p:cNvCxnSpPr/>
          <p:nvPr/>
        </p:nvCxnSpPr>
        <p:spPr>
          <a:xfrm>
            <a:off x="7909560" y="3858768"/>
            <a:ext cx="228600" cy="0"/>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38160" y="3429000"/>
            <a:ext cx="1600200" cy="8686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0B0B0B"/>
                </a:solidFill>
                <a:latin typeface="Segoe UI"/>
              </a:rPr>
              <a:t>RegistroPage</a:t>
            </a:r>
          </a:p>
          <a:p>
            <a:pPr algn="ctr"/>
            <a:r>
              <a:rPr sz="1100" b="0">
                <a:solidFill>
                  <a:srgbClr val="52514E"/>
                </a:solidFill>
                <a:latin typeface="Segoe UI"/>
              </a:rPr>
              <a:t>cómo se interactúa</a:t>
            </a:r>
          </a:p>
        </p:txBody>
      </p:sp>
      <p:cxnSp>
        <p:nvCxnSpPr>
          <p:cNvPr id="15" name="Connector 14"/>
          <p:cNvCxnSpPr/>
          <p:nvPr/>
        </p:nvCxnSpPr>
        <p:spPr>
          <a:xfrm>
            <a:off x="9738360" y="3858768"/>
            <a:ext cx="228600" cy="0"/>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66960" y="3429000"/>
            <a:ext cx="1600200" cy="8686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300" b="1">
                <a:solidFill>
                  <a:srgbClr val="52514E"/>
                </a:solidFill>
                <a:latin typeface="Segoe UI"/>
              </a:rPr>
              <a:t>La página</a:t>
            </a:r>
          </a:p>
          <a:p>
            <a:pPr algn="ctr"/>
            <a:r>
              <a:rPr sz="1100" b="0">
                <a:solidFill>
                  <a:srgbClr val="52514E"/>
                </a:solidFill>
                <a:latin typeface="Segoe UI"/>
              </a:rPr>
              <a:t>index.html</a:t>
            </a:r>
          </a:p>
        </p:txBody>
      </p:sp>
      <p:sp>
        <p:nvSpPr>
          <p:cNvPr id="17" name="TextBox 16"/>
          <p:cNvSpPr txBox="1"/>
          <p:nvPr/>
        </p:nvSpPr>
        <p:spPr>
          <a:xfrm>
            <a:off x="548640" y="4526280"/>
            <a:ext cx="11064240" cy="1280160"/>
          </a:xfrm>
          <a:prstGeom prst="rect">
            <a:avLst/>
          </a:prstGeom>
          <a:noFill/>
        </p:spPr>
        <p:txBody>
          <a:bodyPr wrap="square" lIns="0" rIns="0" tIns="0" bIns="0" anchor="t">
            <a:spAutoFit/>
          </a:bodyPr>
          <a:lstStyle/>
          <a:p>
            <a:pPr algn="l">
              <a:lnSpc>
                <a:spcPct val="120000"/>
              </a:lnSpc>
            </a:pPr>
            <a:r>
              <a:rPr sz="1500" b="1" i="0">
                <a:solidFill>
                  <a:srgbClr val="0B0B0B"/>
                </a:solidFill>
                <a:latin typeface="Segoe UI"/>
              </a:rPr>
              <a:t>Cuando la interfaz cambia, </a:t>
            </a:r>
            <a:r>
              <a:rPr sz="1500" b="0" i="0">
                <a:solidFill>
                  <a:srgbClr val="52514E"/>
                </a:solidFill>
                <a:latin typeface="Segoe UI"/>
              </a:rPr>
              <a:t>se corrige en un solo lugar y las pruebas siguen funcionando. Los campos que la prueba no declara (nombre, género, "está viva") toman valores por defecto razonables: cada prueba dice solo lo que le importa.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1 · LA PRUEBA QUE MÁS ENSEÑA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La prueba 09: una regla que la interfaz no deja alcanzar</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9</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Rounded Rectangle 5"/>
          <p:cNvSpPr/>
          <p:nvPr/>
        </p:nvSpPr>
        <p:spPr>
          <a:xfrm>
            <a:off x="548640" y="1417320"/>
            <a:ext cx="3246120" cy="4806011"/>
          </a:xfrm>
          <a:prstGeom prst="roundRect">
            <a:avLst>
              <a:gd name="adj" fmla="val 2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Rectangle 6"/>
          <p:cNvSpPr/>
          <p:nvPr/>
        </p:nvSpPr>
        <p:spPr>
          <a:xfrm>
            <a:off x="557784" y="1426464"/>
            <a:ext cx="3227832" cy="301752"/>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Oval 7"/>
          <p:cNvSpPr/>
          <p:nvPr/>
        </p:nvSpPr>
        <p:spPr>
          <a:xfrm>
            <a:off x="685800" y="1527048"/>
            <a:ext cx="91440" cy="91440"/>
          </a:xfrm>
          <a:prstGeom prst="ellipse">
            <a:avLst/>
          </a:prstGeom>
          <a:solidFill>
            <a:srgbClr val="D03B3B"/>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1248" y="1527048"/>
            <a:ext cx="91440" cy="91440"/>
          </a:xfrm>
          <a:prstGeom prst="ellipse">
            <a:avLst/>
          </a:prstGeom>
          <a:solidFill>
            <a:srgbClr val="FAB219"/>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6696" y="1527048"/>
            <a:ext cx="91440" cy="91440"/>
          </a:xfrm>
          <a:prstGeom prst="ellipse">
            <a:avLst/>
          </a:prstGeom>
          <a:solidFill>
            <a:srgbClr val="0CA30C"/>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61872" y="1481328"/>
            <a:ext cx="2377439" cy="1828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a:r>
              <a:rPr sz="900" b="0">
                <a:solidFill>
                  <a:srgbClr val="52514E"/>
                </a:solidFill>
                <a:latin typeface="Segoe UI"/>
              </a:rPr>
              <a:t>localhost:8080/</a:t>
            </a:r>
          </a:p>
        </p:txBody>
      </p:sp>
      <p:pic>
        <p:nvPicPr>
          <p:cNvPr id="12" name="Picture 11" descr="formulario-validacion.png"/>
          <p:cNvPicPr>
            <a:picLocks noChangeAspect="1"/>
          </p:cNvPicPr>
          <p:nvPr/>
        </p:nvPicPr>
        <p:blipFill>
          <a:blip r:embed="rId3"/>
          <a:stretch>
            <a:fillRect/>
          </a:stretch>
        </p:blipFill>
        <p:spPr>
          <a:xfrm>
            <a:off x="548640" y="1728216"/>
            <a:ext cx="3246120" cy="4495115"/>
          </a:xfrm>
          <a:prstGeom prst="rect">
            <a:avLst/>
          </a:prstGeom>
        </p:spPr>
      </p:pic>
      <p:sp>
        <p:nvSpPr>
          <p:cNvPr id="13" name="Rounded Rectangle 12"/>
          <p:cNvSpPr/>
          <p:nvPr/>
        </p:nvSpPr>
        <p:spPr>
          <a:xfrm>
            <a:off x="4206240" y="1508760"/>
            <a:ext cx="7452360" cy="1828800"/>
          </a:xfrm>
          <a:prstGeom prst="roundRect">
            <a:avLst>
              <a:gd name="adj" fmla="val 5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4" name="TextBox 13"/>
          <p:cNvSpPr txBox="1"/>
          <p:nvPr/>
        </p:nvSpPr>
        <p:spPr>
          <a:xfrm>
            <a:off x="4434840" y="1664208"/>
            <a:ext cx="7040880" cy="320040"/>
          </a:xfrm>
          <a:prstGeom prst="rect">
            <a:avLst/>
          </a:prstGeom>
          <a:noFill/>
        </p:spPr>
        <p:txBody>
          <a:bodyPr wrap="square" lIns="0" rIns="0" tIns="0" bIns="0" anchor="t">
            <a:spAutoFit/>
          </a:bodyPr>
          <a:lstStyle/>
          <a:p>
            <a:pPr algn="l">
              <a:lnSpc>
                <a:spcPct val="110000"/>
              </a:lnSpc>
            </a:pPr>
            <a:r>
              <a:rPr sz="1500" b="1" i="0">
                <a:solidFill>
                  <a:srgbClr val="184F95"/>
                </a:solidFill>
                <a:latin typeface="Segoe UI"/>
              </a:rPr>
              <a:t>Capa 1 · el navegador detiene el caso</a:t>
            </a:r>
          </a:p>
        </p:txBody>
      </p:sp>
      <p:sp>
        <p:nvSpPr>
          <p:cNvPr id="15" name="Rounded Rectangle 14"/>
          <p:cNvSpPr/>
          <p:nvPr/>
        </p:nvSpPr>
        <p:spPr>
          <a:xfrm>
            <a:off x="4434840" y="2057400"/>
            <a:ext cx="7040880" cy="109728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6" name="TextBox 15"/>
          <p:cNvSpPr txBox="1"/>
          <p:nvPr/>
        </p:nvSpPr>
        <p:spPr>
          <a:xfrm>
            <a:off x="4617720" y="2194560"/>
            <a:ext cx="6675120" cy="822959"/>
          </a:xfrm>
          <a:prstGeom prst="rect">
            <a:avLst/>
          </a:prstGeom>
          <a:noFill/>
        </p:spPr>
        <p:txBody>
          <a:bodyPr wrap="square" lIns="0" rIns="0" tIns="0" bIns="0">
            <a:spAutoFit/>
          </a:bodyPr>
          <a:lstStyle/>
          <a:p>
            <a:pPr>
              <a:lnSpc>
                <a:spcPct val="105000"/>
              </a:lnSpc>
            </a:pPr>
            <a:r>
              <a:rPr sz="1100" b="0">
                <a:solidFill>
                  <a:srgbClr val="0B0B0B"/>
                </a:solidFill>
                <a:latin typeface="Consolas"/>
              </a:rPr>
              <a:t>await page.getByLabel('Edad').fill('150');</a:t>
            </a:r>
          </a:p>
          <a:p>
            <a:pPr>
              <a:lnSpc>
                <a:spcPct val="105000"/>
              </a:lnSpc>
            </a:pPr>
            <a:r>
              <a:rPr sz="1100" b="0">
                <a:solidFill>
                  <a:srgbClr val="0B0B0B"/>
                </a:solidFill>
                <a:latin typeface="Consolas"/>
              </a:rPr>
              <a:t>...click();</a:t>
            </a:r>
          </a:p>
          <a:p>
            <a:pPr>
              <a:lnSpc>
                <a:spcPct val="105000"/>
              </a:lnSpc>
            </a:pPr>
            <a:r>
              <a:rPr sz="1100" b="0">
                <a:solidFill>
                  <a:srgbClr val="0B0B0B"/>
                </a:solidFill>
                <a:latin typeface="Consolas"/>
              </a:rPr>
              <a:t>await expect(page.getByText('La edad debe estar entre 0 y 120.')).toBeVisible();</a:t>
            </a:r>
          </a:p>
          <a:p>
            <a:pPr>
              <a:lnSpc>
                <a:spcPct val="105000"/>
              </a:lnSpc>
            </a:pPr>
            <a:r>
              <a:rPr sz="1100" b="1">
                <a:solidFill>
                  <a:srgbClr val="184F95"/>
                </a:solidFill>
                <a:latin typeface="Consolas"/>
              </a:rPr>
              <a:t>expect(huboLlamada).toBe(false);   // nunca llegó al servidor</a:t>
            </a:r>
          </a:p>
        </p:txBody>
      </p:sp>
      <p:sp>
        <p:nvSpPr>
          <p:cNvPr id="17" name="Rounded Rectangle 16"/>
          <p:cNvSpPr/>
          <p:nvPr/>
        </p:nvSpPr>
        <p:spPr>
          <a:xfrm>
            <a:off x="4206240" y="3566160"/>
            <a:ext cx="7452360" cy="1600200"/>
          </a:xfrm>
          <a:prstGeom prst="roundRect">
            <a:avLst>
              <a:gd name="adj" fmla="val 5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8" name="TextBox 17"/>
          <p:cNvSpPr txBox="1"/>
          <p:nvPr/>
        </p:nvSpPr>
        <p:spPr>
          <a:xfrm>
            <a:off x="4434840" y="3721608"/>
            <a:ext cx="7040880" cy="320040"/>
          </a:xfrm>
          <a:prstGeom prst="rect">
            <a:avLst/>
          </a:prstGeom>
          <a:noFill/>
        </p:spPr>
        <p:txBody>
          <a:bodyPr wrap="square" lIns="0" rIns="0" tIns="0" bIns="0" anchor="t">
            <a:spAutoFit/>
          </a:bodyPr>
          <a:lstStyle/>
          <a:p>
            <a:pPr algn="l">
              <a:lnSpc>
                <a:spcPct val="110000"/>
              </a:lnSpc>
            </a:pPr>
            <a:r>
              <a:rPr sz="1500" b="1" i="0">
                <a:solidFill>
                  <a:srgbClr val="EB6834"/>
                </a:solidFill>
                <a:latin typeface="Segoe UI"/>
              </a:rPr>
              <a:t>Capa 2 · la API sí es alcanzable sin el formulario</a:t>
            </a:r>
          </a:p>
        </p:txBody>
      </p:sp>
      <p:sp>
        <p:nvSpPr>
          <p:cNvPr id="19" name="Rounded Rectangle 18"/>
          <p:cNvSpPr/>
          <p:nvPr/>
        </p:nvSpPr>
        <p:spPr>
          <a:xfrm>
            <a:off x="4434840" y="4114800"/>
            <a:ext cx="7040880" cy="86868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0" name="TextBox 19"/>
          <p:cNvSpPr txBox="1"/>
          <p:nvPr/>
        </p:nvSpPr>
        <p:spPr>
          <a:xfrm>
            <a:off x="4617720" y="4251960"/>
            <a:ext cx="6675120" cy="594359"/>
          </a:xfrm>
          <a:prstGeom prst="rect">
            <a:avLst/>
          </a:prstGeom>
          <a:noFill/>
        </p:spPr>
        <p:txBody>
          <a:bodyPr wrap="square" lIns="0" rIns="0" tIns="0" bIns="0">
            <a:spAutoFit/>
          </a:bodyPr>
          <a:lstStyle/>
          <a:p>
            <a:pPr>
              <a:lnSpc>
                <a:spcPct val="105000"/>
              </a:lnSpc>
            </a:pPr>
            <a:r>
              <a:rPr sz="1100" b="0">
                <a:solidFill>
                  <a:srgbClr val="0B0B0B"/>
                </a:solidFill>
                <a:latin typeface="Consolas"/>
              </a:rPr>
              <a:t>const r = await request.post('/register',</a:t>
            </a:r>
          </a:p>
          <a:p>
            <a:pPr>
              <a:lnSpc>
                <a:spcPct val="105000"/>
              </a:lnSpc>
            </a:pPr>
            <a:r>
              <a:rPr sz="1100" b="0">
                <a:solidFill>
                  <a:srgbClr val="0B0B0B"/>
                </a:solidFill>
                <a:latin typeface="Consolas"/>
              </a:rPr>
              <a:t>  { data: { ..., age: 150 } });</a:t>
            </a:r>
          </a:p>
          <a:p>
            <a:pPr>
              <a:lnSpc>
                <a:spcPct val="105000"/>
              </a:lnSpc>
            </a:pPr>
            <a:r>
              <a:rPr sz="1100" b="1">
                <a:solidFill>
                  <a:srgbClr val="EB6834"/>
                </a:solidFill>
                <a:latin typeface="Consolas"/>
              </a:rPr>
              <a:t>expect((await r.text()).trim()).toBe('INVALID_AGE');</a:t>
            </a:r>
          </a:p>
        </p:txBody>
      </p:sp>
      <p:sp>
        <p:nvSpPr>
          <p:cNvPr id="21" name="TextBox 20"/>
          <p:cNvSpPr txBox="1"/>
          <p:nvPr/>
        </p:nvSpPr>
        <p:spPr>
          <a:xfrm>
            <a:off x="4206240" y="5440680"/>
            <a:ext cx="7452360" cy="640080"/>
          </a:xfrm>
          <a:prstGeom prst="rect">
            <a:avLst/>
          </a:prstGeom>
          <a:noFill/>
        </p:spPr>
        <p:txBody>
          <a:bodyPr wrap="square" lIns="0" rIns="0" tIns="0" bIns="0" anchor="t">
            <a:spAutoFit/>
          </a:bodyPr>
          <a:lstStyle/>
          <a:p>
            <a:pPr algn="l">
              <a:lnSpc>
                <a:spcPct val="115000"/>
              </a:lnSpc>
            </a:pPr>
            <a:r>
              <a:rPr sz="1300" b="1" i="0">
                <a:solidFill>
                  <a:srgbClr val="0B0B0B"/>
                </a:solidFill>
                <a:latin typeface="Segoe UI"/>
              </a:rPr>
              <a:t>Una suite E2E mide lo que se alcanza a través de la interfaz. Eso no es lo mismo que lo que el sistema hace.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3 · LA HERRAMIENTA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axe: un revisor automático de accesibilidad</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10</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Oval 5"/>
          <p:cNvSpPr/>
          <p:nvPr/>
        </p:nvSpPr>
        <p:spPr>
          <a:xfrm>
            <a:off x="557784" y="160934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165506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1</a:t>
            </a:r>
          </a:p>
        </p:txBody>
      </p:sp>
      <p:sp>
        <p:nvSpPr>
          <p:cNvPr id="8" name="TextBox 7"/>
          <p:cNvSpPr txBox="1"/>
          <p:nvPr/>
        </p:nvSpPr>
        <p:spPr>
          <a:xfrm>
            <a:off x="1097280" y="1600200"/>
            <a:ext cx="42062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Qué es</a:t>
            </a:r>
          </a:p>
        </p:txBody>
      </p:sp>
      <p:sp>
        <p:nvSpPr>
          <p:cNvPr id="9" name="TextBox 8"/>
          <p:cNvSpPr txBox="1"/>
          <p:nvPr/>
        </p:nvSpPr>
        <p:spPr>
          <a:xfrm>
            <a:off x="1097280" y="1965960"/>
            <a:ext cx="4206240" cy="73152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Un motor de código abierto (axe-core, de Deque) que revisa la página contra reglas de WCAG.</a:t>
            </a:r>
          </a:p>
        </p:txBody>
      </p:sp>
      <p:sp>
        <p:nvSpPr>
          <p:cNvPr id="10" name="Oval 9"/>
          <p:cNvSpPr/>
          <p:nvPr/>
        </p:nvSpPr>
        <p:spPr>
          <a:xfrm>
            <a:off x="557784" y="270662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75234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2</a:t>
            </a:r>
          </a:p>
        </p:txBody>
      </p:sp>
      <p:sp>
        <p:nvSpPr>
          <p:cNvPr id="12" name="TextBox 11"/>
          <p:cNvSpPr txBox="1"/>
          <p:nvPr/>
        </p:nvSpPr>
        <p:spPr>
          <a:xfrm>
            <a:off x="1097280" y="2697480"/>
            <a:ext cx="42062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Cómo se usa aquí</a:t>
            </a:r>
          </a:p>
        </p:txBody>
      </p:sp>
      <p:sp>
        <p:nvSpPr>
          <p:cNvPr id="13" name="TextBox 12"/>
          <p:cNvSpPr txBox="1"/>
          <p:nvPr/>
        </p:nvSpPr>
        <p:spPr>
          <a:xfrm>
            <a:off x="1097280" y="3063240"/>
            <a:ext cx="4206240" cy="73152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Playwright abre la página y @axe-core/playwright se la pasa a axe para que la analice.</a:t>
            </a:r>
          </a:p>
        </p:txBody>
      </p:sp>
      <p:sp>
        <p:nvSpPr>
          <p:cNvPr id="14" name="Oval 13"/>
          <p:cNvSpPr/>
          <p:nvPr/>
        </p:nvSpPr>
        <p:spPr>
          <a:xfrm>
            <a:off x="557784" y="380390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7784" y="384962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3</a:t>
            </a:r>
          </a:p>
        </p:txBody>
      </p:sp>
      <p:sp>
        <p:nvSpPr>
          <p:cNvPr id="16" name="TextBox 15"/>
          <p:cNvSpPr txBox="1"/>
          <p:nvPr/>
        </p:nvSpPr>
        <p:spPr>
          <a:xfrm>
            <a:off x="1097280" y="3794760"/>
            <a:ext cx="42062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Qué devuelve</a:t>
            </a:r>
          </a:p>
        </p:txBody>
      </p:sp>
      <p:sp>
        <p:nvSpPr>
          <p:cNvPr id="17" name="TextBox 16"/>
          <p:cNvSpPr txBox="1"/>
          <p:nvPr/>
        </p:nvSpPr>
        <p:spPr>
          <a:xfrm>
            <a:off x="1097280" y="4160520"/>
            <a:ext cx="4206240" cy="73152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Una lista de violaciones: la regla, qué tan grave es, cómo corregirla y en qué elemento está.</a:t>
            </a:r>
          </a:p>
        </p:txBody>
      </p:sp>
      <p:sp>
        <p:nvSpPr>
          <p:cNvPr id="18" name="TextBox 17"/>
          <p:cNvSpPr txBox="1"/>
          <p:nvPr/>
        </p:nvSpPr>
        <p:spPr>
          <a:xfrm>
            <a:off x="5669280" y="1554480"/>
            <a:ext cx="5943600" cy="320040"/>
          </a:xfrm>
          <a:prstGeom prst="rect">
            <a:avLst/>
          </a:prstGeom>
          <a:noFill/>
        </p:spPr>
        <p:txBody>
          <a:bodyPr wrap="square" lIns="0" rIns="0" tIns="0" bIns="0" anchor="t">
            <a:spAutoFit/>
          </a:bodyPr>
          <a:lstStyle/>
          <a:p>
            <a:pPr algn="l">
              <a:lnSpc>
                <a:spcPct val="110000"/>
              </a:lnSpc>
            </a:pPr>
            <a:r>
              <a:rPr sz="1400" b="1" i="0">
                <a:solidFill>
                  <a:srgbClr val="2A78D6"/>
                </a:solidFill>
                <a:latin typeface="Segoe UI"/>
              </a:rPr>
              <a:t>La prueba del módulo 3</a:t>
            </a:r>
          </a:p>
        </p:txBody>
      </p:sp>
      <p:sp>
        <p:nvSpPr>
          <p:cNvPr id="19" name="Rounded Rectangle 18"/>
          <p:cNvSpPr/>
          <p:nvPr/>
        </p:nvSpPr>
        <p:spPr>
          <a:xfrm>
            <a:off x="5669280" y="1920240"/>
            <a:ext cx="5989320" cy="132588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0" name="TextBox 19"/>
          <p:cNvSpPr txBox="1"/>
          <p:nvPr/>
        </p:nvSpPr>
        <p:spPr>
          <a:xfrm>
            <a:off x="5852160" y="2057400"/>
            <a:ext cx="5623559" cy="1051560"/>
          </a:xfrm>
          <a:prstGeom prst="rect">
            <a:avLst/>
          </a:prstGeom>
          <a:noFill/>
        </p:spPr>
        <p:txBody>
          <a:bodyPr wrap="square" lIns="0" rIns="0" tIns="0" bIns="0">
            <a:spAutoFit/>
          </a:bodyPr>
          <a:lstStyle/>
          <a:p>
            <a:pPr>
              <a:lnSpc>
                <a:spcPct val="105000"/>
              </a:lnSpc>
            </a:pPr>
            <a:r>
              <a:rPr sz="1100" b="0">
                <a:solidFill>
                  <a:srgbClr val="0B0B0B"/>
                </a:solidFill>
                <a:latin typeface="Consolas"/>
              </a:rPr>
              <a:t>const resultados = await new AxeBuilder({ page })</a:t>
            </a:r>
          </a:p>
          <a:p>
            <a:pPr>
              <a:lnSpc>
                <a:spcPct val="105000"/>
              </a:lnSpc>
            </a:pPr>
            <a:r>
              <a:rPr sz="1100" b="0">
                <a:solidFill>
                  <a:srgbClr val="0B0B0B"/>
                </a:solidFill>
                <a:latin typeface="Consolas"/>
              </a:rPr>
              <a:t>  .withTags(['wcag2a', 'wcag2aa', 'wcag21a', 'wcag21aa'])</a:t>
            </a:r>
          </a:p>
          <a:p>
            <a:pPr>
              <a:lnSpc>
                <a:spcPct val="105000"/>
              </a:lnSpc>
            </a:pPr>
            <a:r>
              <a:rPr sz="1100" b="0">
                <a:solidFill>
                  <a:srgbClr val="0B0B0B"/>
                </a:solidFill>
                <a:latin typeface="Consolas"/>
              </a:rPr>
              <a:t>  .analyze();</a:t>
            </a:r>
          </a:p>
          <a:p>
            <a:pPr>
              <a:lnSpc>
                <a:spcPct val="105000"/>
              </a:lnSpc>
            </a:pPr>
            <a:r>
              <a:rPr sz="1100" b="0">
                <a:solidFill>
                  <a:srgbClr val="0B0B0B"/>
                </a:solidFill>
                <a:latin typeface="Consolas"/>
              </a:rPr>
              <a:t> </a:t>
            </a:r>
          </a:p>
          <a:p>
            <a:pPr>
              <a:lnSpc>
                <a:spcPct val="105000"/>
              </a:lnSpc>
            </a:pPr>
            <a:r>
              <a:rPr sz="1100" b="1">
                <a:solidFill>
                  <a:srgbClr val="2A78D6"/>
                </a:solidFill>
                <a:latin typeface="Consolas"/>
              </a:rPr>
              <a:t>expect(resultados.violations).toEqual([]);</a:t>
            </a:r>
          </a:p>
        </p:txBody>
      </p:sp>
      <p:sp>
        <p:nvSpPr>
          <p:cNvPr id="21" name="TextBox 20"/>
          <p:cNvSpPr txBox="1"/>
          <p:nvPr/>
        </p:nvSpPr>
        <p:spPr>
          <a:xfrm>
            <a:off x="5669280" y="3611880"/>
            <a:ext cx="5943600" cy="320040"/>
          </a:xfrm>
          <a:prstGeom prst="rect">
            <a:avLst/>
          </a:prstGeom>
          <a:noFill/>
        </p:spPr>
        <p:txBody>
          <a:bodyPr wrap="square" lIns="0" rIns="0" tIns="0" bIns="0" anchor="t">
            <a:spAutoFit/>
          </a:bodyPr>
          <a:lstStyle/>
          <a:p>
            <a:pPr algn="l">
              <a:lnSpc>
                <a:spcPct val="110000"/>
              </a:lnSpc>
            </a:pPr>
            <a:r>
              <a:rPr sz="1400" b="1" i="0">
                <a:solidFill>
                  <a:srgbClr val="D03B3B"/>
                </a:solidFill>
                <a:latin typeface="Segoe UI"/>
              </a:rPr>
              <a:t>Lo que imprime si falla (salida real sobre defectuosa.html)</a:t>
            </a:r>
          </a:p>
        </p:txBody>
      </p:sp>
      <p:sp>
        <p:nvSpPr>
          <p:cNvPr id="22" name="Rounded Rectangle 21"/>
          <p:cNvSpPr/>
          <p:nvPr/>
        </p:nvSpPr>
        <p:spPr>
          <a:xfrm>
            <a:off x="5669280" y="3977639"/>
            <a:ext cx="5989320" cy="896112"/>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3" name="TextBox 22"/>
          <p:cNvSpPr txBox="1"/>
          <p:nvPr/>
        </p:nvSpPr>
        <p:spPr>
          <a:xfrm>
            <a:off x="5852160" y="4114800"/>
            <a:ext cx="5623559" cy="621792"/>
          </a:xfrm>
          <a:prstGeom prst="rect">
            <a:avLst/>
          </a:prstGeom>
          <a:noFill/>
        </p:spPr>
        <p:txBody>
          <a:bodyPr wrap="square" lIns="0" rIns="0" tIns="0" bIns="0">
            <a:spAutoFit/>
          </a:bodyPr>
          <a:lstStyle/>
          <a:p>
            <a:pPr>
              <a:lnSpc>
                <a:spcPct val="105000"/>
              </a:lnSpc>
            </a:pPr>
            <a:r>
              <a:rPr sz="1100" b="1">
                <a:solidFill>
                  <a:srgbClr val="D03B3B"/>
                </a:solidFill>
                <a:latin typeface="Consolas"/>
              </a:rPr>
              <a:t>[critical] image-alt: Images must have alternative text</a:t>
            </a:r>
          </a:p>
          <a:p>
            <a:pPr>
              <a:lnSpc>
                <a:spcPct val="105000"/>
              </a:lnSpc>
            </a:pPr>
            <a:r>
              <a:rPr sz="1100" b="0">
                <a:solidFill>
                  <a:srgbClr val="0B0B0B"/>
                </a:solidFill>
                <a:latin typeface="Consolas"/>
              </a:rPr>
              <a:t>  https://dequeuniversity.com/rules/axe/4.13/image-alt</a:t>
            </a:r>
          </a:p>
          <a:p>
            <a:pPr>
              <a:lnSpc>
                <a:spcPct val="105000"/>
              </a:lnSpc>
            </a:pPr>
            <a:r>
              <a:rPr sz="1100" b="0">
                <a:solidFill>
                  <a:srgbClr val="0B0B0B"/>
                </a:solidFill>
                <a:latin typeface="Consolas"/>
              </a:rPr>
              <a:t>    img:nth-child(2)</a:t>
            </a:r>
          </a:p>
        </p:txBody>
      </p:sp>
      <p:sp>
        <p:nvSpPr>
          <p:cNvPr id="24" name="TextBox 23"/>
          <p:cNvSpPr txBox="1"/>
          <p:nvPr/>
        </p:nvSpPr>
        <p:spPr>
          <a:xfrm>
            <a:off x="5669280" y="4956048"/>
            <a:ext cx="5989320" cy="457200"/>
          </a:xfrm>
          <a:prstGeom prst="rect">
            <a:avLst/>
          </a:prstGeom>
          <a:noFill/>
        </p:spPr>
        <p:txBody>
          <a:bodyPr wrap="square" lIns="0" rIns="0" tIns="0" bIns="0" anchor="t">
            <a:spAutoFit/>
          </a:bodyPr>
          <a:lstStyle/>
          <a:p>
            <a:pPr algn="l">
              <a:lnSpc>
                <a:spcPct val="115000"/>
              </a:lnSpc>
            </a:pPr>
            <a:r>
              <a:rPr sz="1100" b="1" i="0">
                <a:solidFill>
                  <a:srgbClr val="0B0B0B"/>
                </a:solidFill>
                <a:latin typeface="Segoe UI"/>
              </a:rPr>
              <a:t>La prueba pasa solo si la lista viene vacía: </a:t>
            </a:r>
            <a:r>
              <a:rPr sz="1100" b="0" i="0">
                <a:solidFill>
                  <a:srgbClr val="52514E"/>
                </a:solidFill>
                <a:latin typeface="Segoe UI"/>
              </a:rPr>
              <a:t>0 violaciones en index.html, 6 reglas en defectuosa.html. Axe responde en inglés.</a:t>
            </a:r>
          </a:p>
        </p:txBody>
      </p:sp>
      <p:sp>
        <p:nvSpPr>
          <p:cNvPr id="25" name="Rounded Rectangle 24"/>
          <p:cNvSpPr/>
          <p:nvPr/>
        </p:nvSpPr>
        <p:spPr>
          <a:xfrm>
            <a:off x="548640" y="5440680"/>
            <a:ext cx="11109960" cy="713232"/>
          </a:xfrm>
          <a:prstGeom prst="roundRect">
            <a:avLst>
              <a:gd name="adj" fmla="val 5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6" name="TextBox 25"/>
          <p:cNvSpPr txBox="1"/>
          <p:nvPr/>
        </p:nvSpPr>
        <p:spPr>
          <a:xfrm>
            <a:off x="777240" y="5541264"/>
            <a:ext cx="10698480" cy="685800"/>
          </a:xfrm>
          <a:prstGeom prst="rect">
            <a:avLst/>
          </a:prstGeom>
          <a:noFill/>
        </p:spPr>
        <p:txBody>
          <a:bodyPr wrap="square" lIns="0" rIns="0" tIns="0" bIns="0" anchor="t">
            <a:spAutoFit/>
          </a:bodyPr>
          <a:lstStyle/>
          <a:p>
            <a:pPr algn="l">
              <a:lnSpc>
                <a:spcPct val="115000"/>
              </a:lnSpc>
            </a:pPr>
            <a:r>
              <a:rPr sz="1200" b="1" i="0">
                <a:solidFill>
                  <a:srgbClr val="184F95"/>
                </a:solidFill>
                <a:latin typeface="Segoe UI"/>
              </a:rPr>
              <a:t>WCAG </a:t>
            </a:r>
            <a:r>
              <a:rPr sz="1200" b="0" i="0">
                <a:solidFill>
                  <a:srgbClr val="0B0B0B"/>
                </a:solidFill>
                <a:latin typeface="Segoe UI"/>
              </a:rPr>
              <a:t>(Web Content Accessibility Guidelines, del W3C) es la norma internacional de accesibilidad web. Tiene versiones (2.0, 2.1) y niveles: A es lo mínimo, AA es el que suelen exigir las leyes y AAA el más estricto. Las etiquetas del código se leen así: </a:t>
            </a:r>
            <a:r>
              <a:rPr sz="1200" b="1" i="0">
                <a:solidFill>
                  <a:srgbClr val="0B0B0B"/>
                </a:solidFill>
                <a:latin typeface="Consolas"/>
              </a:rPr>
              <a:t>wcag21aa</a:t>
            </a:r>
            <a:r>
              <a:rPr sz="1200" b="0" i="0">
                <a:solidFill>
                  <a:srgbClr val="0B0B0B"/>
                </a:solidFill>
                <a:latin typeface="Segoe UI"/>
              </a:rPr>
              <a:t> = WCAG 2.1, nivel AA.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3 · EL LÍMITE DE LA HERRAMIENTA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Sin violaciones de axe no es lo mismo que accesible</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11</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645920"/>
            <a:ext cx="3840480" cy="1280160"/>
          </a:xfrm>
          <a:prstGeom prst="rect">
            <a:avLst/>
          </a:prstGeom>
          <a:noFill/>
        </p:spPr>
        <p:txBody>
          <a:bodyPr wrap="square" lIns="0" rIns="0" tIns="0" bIns="0" anchor="t">
            <a:spAutoFit/>
          </a:bodyPr>
          <a:lstStyle/>
          <a:p>
            <a:pPr algn="l">
              <a:lnSpc>
                <a:spcPct val="100000"/>
              </a:lnSpc>
            </a:pPr>
            <a:r>
              <a:rPr sz="7200" b="1" i="0">
                <a:solidFill>
                  <a:srgbClr val="2A78D6"/>
                </a:solidFill>
                <a:latin typeface="Segoe UI"/>
              </a:rPr>
              <a:t>≈ 40 %</a:t>
            </a:r>
          </a:p>
        </p:txBody>
      </p:sp>
      <p:sp>
        <p:nvSpPr>
          <p:cNvPr id="7" name="TextBox 6"/>
          <p:cNvSpPr txBox="1"/>
          <p:nvPr/>
        </p:nvSpPr>
        <p:spPr>
          <a:xfrm>
            <a:off x="548640" y="2788920"/>
            <a:ext cx="3657600" cy="1097280"/>
          </a:xfrm>
          <a:prstGeom prst="rect">
            <a:avLst/>
          </a:prstGeom>
          <a:noFill/>
        </p:spPr>
        <p:txBody>
          <a:bodyPr wrap="square" lIns="0" rIns="0" tIns="0" bIns="0" anchor="t">
            <a:spAutoFit/>
          </a:bodyPr>
          <a:lstStyle/>
          <a:p>
            <a:pPr algn="l">
              <a:lnSpc>
                <a:spcPct val="120000"/>
              </a:lnSpc>
            </a:pPr>
            <a:r>
              <a:rPr sz="1500" b="0" i="0">
                <a:solidFill>
                  <a:srgbClr val="52514E"/>
                </a:solidFill>
                <a:latin typeface="Segoe UI"/>
              </a:rPr>
              <a:t>de los problemas WCAG los detecta axe de forma fiable. El resto exige juicio humano.</a:t>
            </a:r>
          </a:p>
        </p:txBody>
      </p:sp>
      <p:sp>
        <p:nvSpPr>
          <p:cNvPr id="8" name="TextBox 7"/>
          <p:cNvSpPr txBox="1"/>
          <p:nvPr/>
        </p:nvSpPr>
        <p:spPr>
          <a:xfrm>
            <a:off x="548640" y="3931920"/>
            <a:ext cx="3657600" cy="1463040"/>
          </a:xfrm>
          <a:prstGeom prst="rect">
            <a:avLst/>
          </a:prstGeom>
          <a:noFill/>
        </p:spPr>
        <p:txBody>
          <a:bodyPr wrap="square" lIns="0" rIns="0" tIns="0" bIns="0" anchor="t">
            <a:spAutoFit/>
          </a:bodyPr>
          <a:lstStyle/>
          <a:p>
            <a:pPr algn="l">
              <a:lnSpc>
                <a:spcPct val="120000"/>
              </a:lnSpc>
            </a:pPr>
            <a:r>
              <a:rPr sz="1300" b="1" i="0">
                <a:solidFill>
                  <a:srgbClr val="0B0B0B"/>
                </a:solidFill>
                <a:latin typeface="Segoe UI"/>
              </a:rPr>
              <a:t>European Accessibility Act: </a:t>
            </a:r>
            <a:r>
              <a:rPr sz="1300" b="0" i="0">
                <a:solidFill>
                  <a:srgbClr val="52514E"/>
                </a:solidFill>
                <a:latin typeface="Segoe UI"/>
              </a:rPr>
              <a:t>exigible desde junio de 2025. En Estados Unidos, la ADA genera litigio constante sobre sitios web.</a:t>
            </a:r>
          </a:p>
        </p:txBody>
      </p:sp>
      <p:sp>
        <p:nvSpPr>
          <p:cNvPr id="9" name="Rounded Rectangle 8"/>
          <p:cNvSpPr/>
          <p:nvPr/>
        </p:nvSpPr>
        <p:spPr>
          <a:xfrm>
            <a:off x="4754880" y="1600200"/>
            <a:ext cx="3337560" cy="3246120"/>
          </a:xfrm>
          <a:prstGeom prst="roundRect">
            <a:avLst>
              <a:gd name="adj" fmla="val 5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0" name="TextBox 9"/>
          <p:cNvSpPr txBox="1"/>
          <p:nvPr/>
        </p:nvSpPr>
        <p:spPr>
          <a:xfrm>
            <a:off x="4983480" y="1783080"/>
            <a:ext cx="2926080" cy="365760"/>
          </a:xfrm>
          <a:prstGeom prst="rect">
            <a:avLst/>
          </a:prstGeom>
          <a:noFill/>
        </p:spPr>
        <p:txBody>
          <a:bodyPr wrap="square" lIns="0" rIns="0" tIns="0" bIns="0" anchor="t">
            <a:spAutoFit/>
          </a:bodyPr>
          <a:lstStyle/>
          <a:p>
            <a:pPr algn="l">
              <a:lnSpc>
                <a:spcPct val="110000"/>
              </a:lnSpc>
            </a:pPr>
            <a:r>
              <a:rPr sz="1500" b="1" i="0">
                <a:solidFill>
                  <a:srgbClr val="184F95"/>
                </a:solidFill>
                <a:latin typeface="Segoe UI"/>
              </a:rPr>
              <a:t>Lo que mide una máquina</a:t>
            </a:r>
          </a:p>
        </p:txBody>
      </p:sp>
      <p:sp>
        <p:nvSpPr>
          <p:cNvPr id="11" name="TextBox 10"/>
          <p:cNvSpPr txBox="1"/>
          <p:nvPr/>
        </p:nvSpPr>
        <p:spPr>
          <a:xfrm>
            <a:off x="4983480" y="2240280"/>
            <a:ext cx="2926080" cy="3383280"/>
          </a:xfrm>
          <a:prstGeom prst="rect">
            <a:avLst/>
          </a:prstGeom>
          <a:noFill/>
        </p:spPr>
        <p:txBody>
          <a:bodyPr wrap="square" lIns="0" rIns="0" tIns="0" bIns="0" anchor="t">
            <a:spAutoFit/>
          </a:bodyPr>
          <a:lstStyle/>
          <a:p>
            <a:pPr algn="l">
              <a:lnSpc>
                <a:spcPct val="115000"/>
              </a:lnSpc>
              <a:spcAft>
                <a:spcPts val="1000"/>
              </a:spcAft>
            </a:pPr>
            <a:r>
              <a:rPr sz="1300" b="0" i="0">
                <a:solidFill>
                  <a:srgbClr val="0B0B0B"/>
                </a:solidFill>
                <a:latin typeface="Segoe UI"/>
              </a:rPr>
              <a:t>Contraste insuficiente</a:t>
            </a:r>
          </a:p>
          <a:p>
            <a:pPr algn="l">
              <a:lnSpc>
                <a:spcPct val="115000"/>
              </a:lnSpc>
              <a:spcAft>
                <a:spcPts val="1000"/>
              </a:spcAft>
            </a:pPr>
            <a:r>
              <a:rPr sz="1300" b="0" i="0">
                <a:solidFill>
                  <a:srgbClr val="0B0B0B"/>
                </a:solidFill>
                <a:latin typeface="Segoe UI"/>
              </a:rPr>
              <a:t>&lt;img&gt; sin alt</a:t>
            </a:r>
          </a:p>
          <a:p>
            <a:pPr algn="l">
              <a:lnSpc>
                <a:spcPct val="115000"/>
              </a:lnSpc>
              <a:spcAft>
                <a:spcPts val="1000"/>
              </a:spcAft>
            </a:pPr>
            <a:r>
              <a:rPr sz="1300" b="0" i="0">
                <a:solidFill>
                  <a:srgbClr val="0B0B0B"/>
                </a:solidFill>
                <a:latin typeface="Segoe UI"/>
              </a:rPr>
              <a:t>Botones y enlaces sin nombre accesible</a:t>
            </a:r>
          </a:p>
          <a:p>
            <a:pPr algn="l">
              <a:lnSpc>
                <a:spcPct val="115000"/>
              </a:lnSpc>
              <a:spcAft>
                <a:spcPts val="1000"/>
              </a:spcAft>
            </a:pPr>
            <a:r>
              <a:rPr sz="1300" b="0" i="0">
                <a:solidFill>
                  <a:srgbClr val="0B0B0B"/>
                </a:solidFill>
                <a:latin typeface="Segoe UI"/>
              </a:rPr>
              <a:t>Página sin idioma declarado</a:t>
            </a:r>
          </a:p>
          <a:p>
            <a:pPr algn="l">
              <a:lnSpc>
                <a:spcPct val="115000"/>
              </a:lnSpc>
              <a:spcAft>
                <a:spcPts val="1000"/>
              </a:spcAft>
            </a:pPr>
            <a:r>
              <a:rPr sz="1300" b="0" i="0">
                <a:solidFill>
                  <a:srgbClr val="0B0B0B"/>
                </a:solidFill>
                <a:latin typeface="Segoe UI"/>
              </a:rPr>
              <a:t>Un &lt;select&gt; sin nombre</a:t>
            </a:r>
          </a:p>
        </p:txBody>
      </p:sp>
      <p:sp>
        <p:nvSpPr>
          <p:cNvPr id="12" name="Rounded Rectangle 11"/>
          <p:cNvSpPr/>
          <p:nvPr/>
        </p:nvSpPr>
        <p:spPr>
          <a:xfrm>
            <a:off x="8321040" y="1600200"/>
            <a:ext cx="3337560" cy="3246120"/>
          </a:xfrm>
          <a:prstGeom prst="roundRect">
            <a:avLst>
              <a:gd name="adj" fmla="val 5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TextBox 12"/>
          <p:cNvSpPr txBox="1"/>
          <p:nvPr/>
        </p:nvSpPr>
        <p:spPr>
          <a:xfrm>
            <a:off x="8549640" y="1783080"/>
            <a:ext cx="2926080" cy="365760"/>
          </a:xfrm>
          <a:prstGeom prst="rect">
            <a:avLst/>
          </a:prstGeom>
          <a:noFill/>
        </p:spPr>
        <p:txBody>
          <a:bodyPr wrap="square" lIns="0" rIns="0" tIns="0" bIns="0" anchor="t">
            <a:spAutoFit/>
          </a:bodyPr>
          <a:lstStyle/>
          <a:p>
            <a:pPr algn="l">
              <a:lnSpc>
                <a:spcPct val="110000"/>
              </a:lnSpc>
            </a:pPr>
            <a:r>
              <a:rPr sz="1500" b="1" i="0">
                <a:solidFill>
                  <a:srgbClr val="EB6834"/>
                </a:solidFill>
                <a:latin typeface="Segoe UI"/>
              </a:rPr>
              <a:t>Lo que exige juicio</a:t>
            </a:r>
          </a:p>
        </p:txBody>
      </p:sp>
      <p:sp>
        <p:nvSpPr>
          <p:cNvPr id="14" name="TextBox 13"/>
          <p:cNvSpPr txBox="1"/>
          <p:nvPr/>
        </p:nvSpPr>
        <p:spPr>
          <a:xfrm>
            <a:off x="8549640" y="2240280"/>
            <a:ext cx="2926080" cy="3383280"/>
          </a:xfrm>
          <a:prstGeom prst="rect">
            <a:avLst/>
          </a:prstGeom>
          <a:noFill/>
        </p:spPr>
        <p:txBody>
          <a:bodyPr wrap="square" lIns="0" rIns="0" tIns="0" bIns="0" anchor="t">
            <a:spAutoFit/>
          </a:bodyPr>
          <a:lstStyle/>
          <a:p>
            <a:pPr algn="l">
              <a:lnSpc>
                <a:spcPct val="115000"/>
              </a:lnSpc>
              <a:spcAft>
                <a:spcPts val="1000"/>
              </a:spcAft>
            </a:pPr>
            <a:r>
              <a:rPr sz="1300" b="0" i="0">
                <a:solidFill>
                  <a:srgbClr val="0B0B0B"/>
                </a:solidFill>
                <a:latin typeface="Segoe UI"/>
              </a:rPr>
              <a:t>Si el texto alternativo es útil</a:t>
            </a:r>
          </a:p>
          <a:p>
            <a:pPr algn="l">
              <a:lnSpc>
                <a:spcPct val="115000"/>
              </a:lnSpc>
              <a:spcAft>
                <a:spcPts val="1000"/>
              </a:spcAft>
            </a:pPr>
            <a:r>
              <a:rPr sz="1300" b="0" i="0">
                <a:solidFill>
                  <a:srgbClr val="0B0B0B"/>
                </a:solidFill>
                <a:latin typeface="Segoe UI"/>
              </a:rPr>
              <a:t>Si el foco de teclado se ve</a:t>
            </a:r>
          </a:p>
          <a:p>
            <a:pPr algn="l">
              <a:lnSpc>
                <a:spcPct val="115000"/>
              </a:lnSpc>
              <a:spcAft>
                <a:spcPts val="1000"/>
              </a:spcAft>
            </a:pPr>
            <a:r>
              <a:rPr sz="1300" b="0" i="0">
                <a:solidFill>
                  <a:srgbClr val="0B0B0B"/>
                </a:solidFill>
                <a:latin typeface="Segoe UI"/>
              </a:rPr>
              <a:t>Si un enlace dice a dónde lleva</a:t>
            </a:r>
          </a:p>
          <a:p>
            <a:pPr algn="l">
              <a:lnSpc>
                <a:spcPct val="115000"/>
              </a:lnSpc>
              <a:spcAft>
                <a:spcPts val="1000"/>
              </a:spcAft>
            </a:pPr>
            <a:r>
              <a:rPr sz="1300" b="0" i="0">
                <a:solidFill>
                  <a:srgbClr val="0B0B0B"/>
                </a:solidFill>
                <a:latin typeface="Segoe UI"/>
              </a:rPr>
              <a:t>Si un error explica qué corregir</a:t>
            </a:r>
          </a:p>
          <a:p>
            <a:pPr algn="l">
              <a:lnSpc>
                <a:spcPct val="115000"/>
              </a:lnSpc>
              <a:spcAft>
                <a:spcPts val="1000"/>
              </a:spcAft>
            </a:pPr>
            <a:r>
              <a:rPr sz="1300" b="0" i="0">
                <a:solidFill>
                  <a:srgbClr val="0B0B0B"/>
                </a:solidFill>
                <a:latin typeface="Segoe UI"/>
              </a:rPr>
              <a:t>Si el resultado se anuncia</a:t>
            </a:r>
          </a:p>
        </p:txBody>
      </p:sp>
      <p:sp>
        <p:nvSpPr>
          <p:cNvPr id="15" name="TextBox 14"/>
          <p:cNvSpPr txBox="1"/>
          <p:nvPr/>
        </p:nvSpPr>
        <p:spPr>
          <a:xfrm>
            <a:off x="548640" y="5257800"/>
            <a:ext cx="11064240" cy="731520"/>
          </a:xfrm>
          <a:prstGeom prst="rect">
            <a:avLst/>
          </a:prstGeom>
          <a:noFill/>
        </p:spPr>
        <p:txBody>
          <a:bodyPr wrap="square" lIns="0" rIns="0" tIns="0" bIns="0" anchor="t">
            <a:spAutoFit/>
          </a:bodyPr>
          <a:lstStyle/>
          <a:p>
            <a:pPr algn="l">
              <a:lnSpc>
                <a:spcPct val="120000"/>
              </a:lnSpc>
            </a:pPr>
            <a:r>
              <a:rPr sz="1400" b="1" i="0">
                <a:solidFill>
                  <a:srgbClr val="0B0B0B"/>
                </a:solidFill>
                <a:latin typeface="Segoe UI"/>
              </a:rPr>
              <a:t>En verde significa otra cosa: </a:t>
            </a:r>
            <a:r>
              <a:rPr sz="1400" b="0" i="0">
                <a:solidFill>
                  <a:srgbClr val="52514E"/>
                </a:solidFill>
                <a:latin typeface="Segoe UI"/>
              </a:rPr>
              <a:t>"no tiene los errores que una máquina puede detectar sola". Por eso el módulo audita también la página con errores de validación visibles, el punto ciego clásico.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3B · VER A LA HERRAMIENTA FALLAR</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17 defectos sembrados, en tres montones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12</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481328"/>
            <a:ext cx="11064240" cy="411480"/>
          </a:xfrm>
          <a:prstGeom prst="rect">
            <a:avLst/>
          </a:prstGeom>
          <a:noFill/>
        </p:spPr>
        <p:txBody>
          <a:bodyPr wrap="square" lIns="0" rIns="0" tIns="0" bIns="0" anchor="t">
            <a:spAutoFit/>
          </a:bodyPr>
          <a:lstStyle/>
          <a:p>
            <a:pPr algn="l">
              <a:lnSpc>
                <a:spcPct val="115000"/>
              </a:lnSpc>
            </a:pPr>
            <a:r>
              <a:rPr sz="1300" b="1" i="0">
                <a:solidFill>
                  <a:srgbClr val="0B0B0B"/>
                </a:solidFill>
                <a:latin typeface="Consolas"/>
              </a:rPr>
              <a:t>defectuosa.html </a:t>
            </a:r>
            <a:r>
              <a:rPr sz="1300" b="0" i="0">
                <a:solidFill>
                  <a:srgbClr val="52514E"/>
                </a:solidFill>
                <a:latin typeface="Segoe UI"/>
              </a:rPr>
              <a:t>es la misma pantalla del formulario con 17 defectos de accesibilidad puestos a propósito. Como se sabe cuáles son, se puede medir qué encuentra axe.</a:t>
            </a:r>
          </a:p>
        </p:txBody>
      </p:sp>
      <p:sp>
        <p:nvSpPr>
          <p:cNvPr id="7" name="Rounded Rectangle 6"/>
          <p:cNvSpPr/>
          <p:nvPr/>
        </p:nvSpPr>
        <p:spPr>
          <a:xfrm>
            <a:off x="548640" y="2103120"/>
            <a:ext cx="4512295" cy="82296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FFFFFF"/>
                </a:solidFill>
                <a:latin typeface="Segoe UI"/>
              </a:rPr>
              <a:t>Grupo A</a:t>
            </a:r>
          </a:p>
          <a:p>
            <a:pPr algn="ctr"/>
            <a:r>
              <a:rPr sz="1300" b="0">
                <a:solidFill>
                  <a:srgbClr val="FFFFFF"/>
                </a:solidFill>
                <a:latin typeface="Segoe UI"/>
              </a:rPr>
              <a:t>7 defectos</a:t>
            </a:r>
          </a:p>
        </p:txBody>
      </p:sp>
      <p:sp>
        <p:nvSpPr>
          <p:cNvPr id="8" name="Rounded Rectangle 7"/>
          <p:cNvSpPr/>
          <p:nvPr/>
        </p:nvSpPr>
        <p:spPr>
          <a:xfrm>
            <a:off x="5115799" y="2103120"/>
            <a:ext cx="1902489" cy="82296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FFFFFF"/>
                </a:solidFill>
                <a:latin typeface="Segoe UI"/>
              </a:rPr>
              <a:t>Grupo B</a:t>
            </a:r>
          </a:p>
          <a:p>
            <a:pPr algn="ctr"/>
            <a:r>
              <a:rPr sz="1300" b="0">
                <a:solidFill>
                  <a:srgbClr val="FFFFFF"/>
                </a:solidFill>
                <a:latin typeface="Segoe UI"/>
              </a:rPr>
              <a:t>3 defectos</a:t>
            </a:r>
          </a:p>
        </p:txBody>
      </p:sp>
      <p:sp>
        <p:nvSpPr>
          <p:cNvPr id="9" name="Rounded Rectangle 8"/>
          <p:cNvSpPr/>
          <p:nvPr/>
        </p:nvSpPr>
        <p:spPr>
          <a:xfrm>
            <a:off x="7073152" y="2103120"/>
            <a:ext cx="4512295" cy="822960"/>
          </a:xfrm>
          <a:prstGeom prst="roundRect">
            <a:avLst>
              <a:gd name="adj" fmla="val 8000"/>
            </a:avLst>
          </a:prstGeom>
          <a:solidFill>
            <a:srgbClr val="52514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FFFFFF"/>
                </a:solidFill>
                <a:latin typeface="Segoe UI"/>
              </a:rPr>
              <a:t>Grupo C</a:t>
            </a:r>
          </a:p>
          <a:p>
            <a:pPr algn="ctr"/>
            <a:r>
              <a:rPr sz="1300" b="0">
                <a:solidFill>
                  <a:srgbClr val="FFFFFF"/>
                </a:solidFill>
                <a:latin typeface="Segoe UI"/>
              </a:rPr>
              <a:t>7 defectos</a:t>
            </a:r>
          </a:p>
        </p:txBody>
      </p:sp>
      <p:sp>
        <p:nvSpPr>
          <p:cNvPr id="10" name="TextBox 9"/>
          <p:cNvSpPr txBox="1"/>
          <p:nvPr/>
        </p:nvSpPr>
        <p:spPr>
          <a:xfrm>
            <a:off x="548640" y="3063240"/>
            <a:ext cx="4512295" cy="320040"/>
          </a:xfrm>
          <a:prstGeom prst="rect">
            <a:avLst/>
          </a:prstGeom>
          <a:noFill/>
        </p:spPr>
        <p:txBody>
          <a:bodyPr wrap="square" lIns="0" rIns="0" tIns="0" bIns="0" anchor="t">
            <a:spAutoFit/>
          </a:bodyPr>
          <a:lstStyle/>
          <a:p>
            <a:pPr algn="l">
              <a:lnSpc>
                <a:spcPct val="110000"/>
              </a:lnSpc>
            </a:pPr>
            <a:r>
              <a:rPr sz="1300" b="1" i="0">
                <a:solidFill>
                  <a:srgbClr val="2A78D6"/>
                </a:solidFill>
                <a:latin typeface="Segoe UI"/>
              </a:rPr>
              <a:t>6 reglas</a:t>
            </a:r>
          </a:p>
        </p:txBody>
      </p:sp>
      <p:sp>
        <p:nvSpPr>
          <p:cNvPr id="11" name="TextBox 10"/>
          <p:cNvSpPr txBox="1"/>
          <p:nvPr/>
        </p:nvSpPr>
        <p:spPr>
          <a:xfrm>
            <a:off x="548640" y="3364992"/>
            <a:ext cx="4512295" cy="731520"/>
          </a:xfrm>
          <a:prstGeom prst="rect">
            <a:avLst/>
          </a:prstGeom>
          <a:noFill/>
        </p:spPr>
        <p:txBody>
          <a:bodyPr wrap="square" lIns="0" rIns="0" tIns="0" bIns="0" anchor="t">
            <a:spAutoFit/>
          </a:bodyPr>
          <a:lstStyle/>
          <a:p>
            <a:pPr algn="l">
              <a:lnSpc>
                <a:spcPct val="115000"/>
              </a:lnSpc>
            </a:pPr>
            <a:r>
              <a:rPr sz="1300" b="0" i="0">
                <a:solidFill>
                  <a:srgbClr val="0B0B0B"/>
                </a:solidFill>
                <a:latin typeface="Segoe UI"/>
              </a:rPr>
              <a:t>axe los reporta con .withTags([...wcag...])</a:t>
            </a:r>
          </a:p>
        </p:txBody>
      </p:sp>
      <p:sp>
        <p:nvSpPr>
          <p:cNvPr id="12" name="TextBox 11"/>
          <p:cNvSpPr txBox="1"/>
          <p:nvPr/>
        </p:nvSpPr>
        <p:spPr>
          <a:xfrm>
            <a:off x="548640" y="3977639"/>
            <a:ext cx="4512295" cy="1554480"/>
          </a:xfrm>
          <a:prstGeom prst="rect">
            <a:avLst/>
          </a:prstGeom>
          <a:noFill/>
        </p:spPr>
        <p:txBody>
          <a:bodyPr wrap="square" lIns="0" rIns="0" tIns="0" bIns="0" anchor="t">
            <a:spAutoFit/>
          </a:bodyPr>
          <a:lstStyle/>
          <a:p>
            <a:pPr algn="l">
              <a:lnSpc>
                <a:spcPct val="110000"/>
              </a:lnSpc>
            </a:pPr>
            <a:r>
              <a:rPr sz="1100" b="0" i="0">
                <a:solidFill>
                  <a:srgbClr val="52514E"/>
                </a:solidFill>
                <a:latin typeface="Segoe UI"/>
              </a:rPr>
              <a:t>button-name: botón sin nombre</a:t>
            </a:r>
          </a:p>
          <a:p>
            <a:pPr algn="l">
              <a:lnSpc>
                <a:spcPct val="110000"/>
              </a:lnSpc>
            </a:pPr>
            <a:r>
              <a:rPr sz="1100" b="0" i="0">
                <a:solidFill>
                  <a:srgbClr val="52514E"/>
                </a:solidFill>
                <a:latin typeface="Segoe UI"/>
              </a:rPr>
              <a:t>color-contrast: poco contraste</a:t>
            </a:r>
          </a:p>
          <a:p>
            <a:pPr algn="l">
              <a:lnSpc>
                <a:spcPct val="110000"/>
              </a:lnSpc>
            </a:pPr>
            <a:r>
              <a:rPr sz="1100" b="0" i="0">
                <a:solidFill>
                  <a:srgbClr val="52514E"/>
                </a:solidFill>
                <a:latin typeface="Segoe UI"/>
              </a:rPr>
              <a:t>html-has-lang: sin idioma</a:t>
            </a:r>
          </a:p>
          <a:p>
            <a:pPr algn="l">
              <a:lnSpc>
                <a:spcPct val="110000"/>
              </a:lnSpc>
            </a:pPr>
            <a:r>
              <a:rPr sz="1100" b="0" i="0">
                <a:solidFill>
                  <a:srgbClr val="52514E"/>
                </a:solidFill>
                <a:latin typeface="Segoe UI"/>
              </a:rPr>
              <a:t>image-alt: imagen sin alt</a:t>
            </a:r>
          </a:p>
          <a:p>
            <a:pPr algn="l">
              <a:lnSpc>
                <a:spcPct val="110000"/>
              </a:lnSpc>
            </a:pPr>
            <a:r>
              <a:rPr sz="1100" b="0" i="0">
                <a:solidFill>
                  <a:srgbClr val="52514E"/>
                </a:solidFill>
                <a:latin typeface="Segoe UI"/>
              </a:rPr>
              <a:t>link-name: enlace sin texto</a:t>
            </a:r>
          </a:p>
          <a:p>
            <a:pPr algn="l">
              <a:lnSpc>
                <a:spcPct val="110000"/>
              </a:lnSpc>
            </a:pPr>
            <a:r>
              <a:rPr sz="1100" b="0" i="0">
                <a:solidFill>
                  <a:srgbClr val="52514E"/>
                </a:solidFill>
                <a:latin typeface="Segoe UI"/>
              </a:rPr>
              <a:t>select-name: lista sin etiqueta</a:t>
            </a:r>
          </a:p>
        </p:txBody>
      </p:sp>
      <p:sp>
        <p:nvSpPr>
          <p:cNvPr id="13" name="TextBox 12"/>
          <p:cNvSpPr txBox="1"/>
          <p:nvPr/>
        </p:nvSpPr>
        <p:spPr>
          <a:xfrm>
            <a:off x="5115799" y="3063240"/>
            <a:ext cx="1902489" cy="320040"/>
          </a:xfrm>
          <a:prstGeom prst="rect">
            <a:avLst/>
          </a:prstGeom>
          <a:noFill/>
        </p:spPr>
        <p:txBody>
          <a:bodyPr wrap="square" lIns="0" rIns="0" tIns="0" bIns="0" anchor="t">
            <a:spAutoFit/>
          </a:bodyPr>
          <a:lstStyle/>
          <a:p>
            <a:pPr algn="l">
              <a:lnSpc>
                <a:spcPct val="110000"/>
              </a:lnSpc>
            </a:pPr>
            <a:r>
              <a:rPr sz="1300" b="1" i="0">
                <a:solidFill>
                  <a:srgbClr val="EB6834"/>
                </a:solidFill>
                <a:latin typeface="Segoe UI"/>
              </a:rPr>
              <a:t>4 reglas</a:t>
            </a:r>
          </a:p>
        </p:txBody>
      </p:sp>
      <p:sp>
        <p:nvSpPr>
          <p:cNvPr id="14" name="TextBox 13"/>
          <p:cNvSpPr txBox="1"/>
          <p:nvPr/>
        </p:nvSpPr>
        <p:spPr>
          <a:xfrm>
            <a:off x="5115799" y="3364992"/>
            <a:ext cx="1902489" cy="731520"/>
          </a:xfrm>
          <a:prstGeom prst="rect">
            <a:avLst/>
          </a:prstGeom>
          <a:noFill/>
        </p:spPr>
        <p:txBody>
          <a:bodyPr wrap="square" lIns="0" rIns="0" tIns="0" bIns="0" anchor="t">
            <a:spAutoFit/>
          </a:bodyPr>
          <a:lstStyle/>
          <a:p>
            <a:pPr algn="l">
              <a:lnSpc>
                <a:spcPct val="115000"/>
              </a:lnSpc>
            </a:pPr>
            <a:r>
              <a:rPr sz="1300" b="0" i="0">
                <a:solidFill>
                  <a:srgbClr val="0B0B0B"/>
                </a:solidFill>
                <a:latin typeface="Segoe UI"/>
              </a:rPr>
              <a:t>axe los reporta solo si se quita ese filtro</a:t>
            </a:r>
          </a:p>
        </p:txBody>
      </p:sp>
      <p:sp>
        <p:nvSpPr>
          <p:cNvPr id="15" name="TextBox 14"/>
          <p:cNvSpPr txBox="1"/>
          <p:nvPr/>
        </p:nvSpPr>
        <p:spPr>
          <a:xfrm>
            <a:off x="5115799" y="3977639"/>
            <a:ext cx="1902489" cy="1554480"/>
          </a:xfrm>
          <a:prstGeom prst="rect">
            <a:avLst/>
          </a:prstGeom>
          <a:noFill/>
        </p:spPr>
        <p:txBody>
          <a:bodyPr wrap="square" lIns="0" rIns="0" tIns="0" bIns="0" anchor="t">
            <a:spAutoFit/>
          </a:bodyPr>
          <a:lstStyle/>
          <a:p>
            <a:pPr algn="l">
              <a:lnSpc>
                <a:spcPct val="110000"/>
              </a:lnSpc>
            </a:pPr>
            <a:r>
              <a:rPr sz="1200" b="0" i="0">
                <a:solidFill>
                  <a:srgbClr val="52514E"/>
                </a:solidFill>
                <a:latin typeface="Consolas"/>
              </a:rPr>
              <a:t>heading-order</a:t>
            </a:r>
          </a:p>
          <a:p>
            <a:pPr algn="l">
              <a:lnSpc>
                <a:spcPct val="110000"/>
              </a:lnSpc>
            </a:pPr>
            <a:r>
              <a:rPr sz="1200" b="0" i="0">
                <a:solidFill>
                  <a:srgbClr val="52514E"/>
                </a:solidFill>
                <a:latin typeface="Consolas"/>
              </a:rPr>
              <a:t>landmark-one-main</a:t>
            </a:r>
          </a:p>
          <a:p>
            <a:pPr algn="l">
              <a:lnSpc>
                <a:spcPct val="110000"/>
              </a:lnSpc>
            </a:pPr>
            <a:r>
              <a:rPr sz="1200" b="0" i="0">
                <a:solidFill>
                  <a:srgbClr val="52514E"/>
                </a:solidFill>
                <a:latin typeface="Consolas"/>
              </a:rPr>
              <a:t>region</a:t>
            </a:r>
          </a:p>
          <a:p>
            <a:pPr algn="l">
              <a:lnSpc>
                <a:spcPct val="110000"/>
              </a:lnSpc>
            </a:pPr>
            <a:r>
              <a:rPr sz="1200" b="0" i="0">
                <a:solidFill>
                  <a:srgbClr val="52514E"/>
                </a:solidFill>
                <a:latin typeface="Consolas"/>
              </a:rPr>
              <a:t>tabindex</a:t>
            </a:r>
          </a:p>
        </p:txBody>
      </p:sp>
      <p:sp>
        <p:nvSpPr>
          <p:cNvPr id="16" name="TextBox 15"/>
          <p:cNvSpPr txBox="1"/>
          <p:nvPr/>
        </p:nvSpPr>
        <p:spPr>
          <a:xfrm>
            <a:off x="7073152" y="3063240"/>
            <a:ext cx="4512295" cy="320040"/>
          </a:xfrm>
          <a:prstGeom prst="rect">
            <a:avLst/>
          </a:prstGeom>
          <a:noFill/>
        </p:spPr>
        <p:txBody>
          <a:bodyPr wrap="square" lIns="0" rIns="0" tIns="0" bIns="0" anchor="t">
            <a:spAutoFit/>
          </a:bodyPr>
          <a:lstStyle/>
          <a:p>
            <a:pPr algn="l">
              <a:lnSpc>
                <a:spcPct val="110000"/>
              </a:lnSpc>
            </a:pPr>
            <a:r>
              <a:rPr sz="1300" b="1" i="0">
                <a:solidFill>
                  <a:srgbClr val="52514E"/>
                </a:solidFill>
                <a:latin typeface="Segoe UI"/>
              </a:rPr>
              <a:t>revisión manual</a:t>
            </a:r>
          </a:p>
        </p:txBody>
      </p:sp>
      <p:sp>
        <p:nvSpPr>
          <p:cNvPr id="17" name="TextBox 16"/>
          <p:cNvSpPr txBox="1"/>
          <p:nvPr/>
        </p:nvSpPr>
        <p:spPr>
          <a:xfrm>
            <a:off x="7073152" y="3364992"/>
            <a:ext cx="4512295" cy="731520"/>
          </a:xfrm>
          <a:prstGeom prst="rect">
            <a:avLst/>
          </a:prstGeom>
          <a:noFill/>
        </p:spPr>
        <p:txBody>
          <a:bodyPr wrap="square" lIns="0" rIns="0" tIns="0" bIns="0" anchor="t">
            <a:spAutoFit/>
          </a:bodyPr>
          <a:lstStyle/>
          <a:p>
            <a:pPr algn="l">
              <a:lnSpc>
                <a:spcPct val="115000"/>
              </a:lnSpc>
            </a:pPr>
            <a:r>
              <a:rPr sz="1300" b="0" i="0">
                <a:solidFill>
                  <a:srgbClr val="0B0B0B"/>
                </a:solidFill>
                <a:latin typeface="Segoe UI"/>
              </a:rPr>
              <a:t>axe no los reporta nunca</a:t>
            </a:r>
          </a:p>
        </p:txBody>
      </p:sp>
      <p:sp>
        <p:nvSpPr>
          <p:cNvPr id="18" name="TextBox 17"/>
          <p:cNvSpPr txBox="1"/>
          <p:nvPr/>
        </p:nvSpPr>
        <p:spPr>
          <a:xfrm>
            <a:off x="7073152" y="3977639"/>
            <a:ext cx="4512295" cy="155448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placeholder como única etiqueta, alt="imagen", foco invisible, casilla "Estado", resultado sin role="status", "Haga clic aquí", un error que dice solo "Error."</a:t>
            </a:r>
          </a:p>
        </p:txBody>
      </p:sp>
      <p:sp>
        <p:nvSpPr>
          <p:cNvPr id="19" name="TextBox 18"/>
          <p:cNvSpPr txBox="1"/>
          <p:nvPr/>
        </p:nvSpPr>
        <p:spPr>
          <a:xfrm>
            <a:off x="548640" y="5715000"/>
            <a:ext cx="11064240" cy="640080"/>
          </a:xfrm>
          <a:prstGeom prst="rect">
            <a:avLst/>
          </a:prstGeom>
          <a:noFill/>
        </p:spPr>
        <p:txBody>
          <a:bodyPr wrap="square" lIns="0" rIns="0" tIns="0" bIns="0" anchor="t">
            <a:spAutoFit/>
          </a:bodyPr>
          <a:lstStyle/>
          <a:p>
            <a:pPr algn="l">
              <a:lnSpc>
                <a:spcPct val="115000"/>
              </a:lnSpc>
            </a:pPr>
            <a:r>
              <a:rPr sz="1400" b="1" i="0">
                <a:solidFill>
                  <a:srgbClr val="0B0B0B"/>
                </a:solidFill>
                <a:latin typeface="Segoe UI"/>
              </a:rPr>
              <a:t>Axe encuentra 10 de 17. Ninguno de los 7 del grupo C: esos los localiza usted, a mano, y explica por qué ninguna herramienta puede detectarlos.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3B · EL FILTRO .WITHTAGS()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Una línea de configuración esconde cuatro defectos reales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13</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554480"/>
            <a:ext cx="5394960" cy="365760"/>
          </a:xfrm>
          <a:prstGeom prst="rect">
            <a:avLst/>
          </a:prstGeom>
          <a:noFill/>
        </p:spPr>
        <p:txBody>
          <a:bodyPr wrap="square" lIns="0" rIns="0" tIns="0" bIns="0" anchor="t">
            <a:spAutoFit/>
          </a:bodyPr>
          <a:lstStyle/>
          <a:p>
            <a:pPr algn="l">
              <a:lnSpc>
                <a:spcPct val="110000"/>
              </a:lnSpc>
            </a:pPr>
            <a:r>
              <a:rPr sz="1600" b="1" i="0">
                <a:solidFill>
                  <a:srgbClr val="2A78D6"/>
                </a:solidFill>
                <a:latin typeface="Segoe UI"/>
              </a:rPr>
              <a:t>Con filtro: 6 reglas</a:t>
            </a:r>
          </a:p>
        </p:txBody>
      </p:sp>
      <p:sp>
        <p:nvSpPr>
          <p:cNvPr id="7" name="Rounded Rectangle 6"/>
          <p:cNvSpPr/>
          <p:nvPr/>
        </p:nvSpPr>
        <p:spPr>
          <a:xfrm>
            <a:off x="548640" y="1965960"/>
            <a:ext cx="5394960" cy="96012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TextBox 7"/>
          <p:cNvSpPr txBox="1"/>
          <p:nvPr/>
        </p:nvSpPr>
        <p:spPr>
          <a:xfrm>
            <a:off x="731520" y="2103120"/>
            <a:ext cx="5029200" cy="685800"/>
          </a:xfrm>
          <a:prstGeom prst="rect">
            <a:avLst/>
          </a:prstGeom>
          <a:noFill/>
        </p:spPr>
        <p:txBody>
          <a:bodyPr wrap="square" lIns="0" rIns="0" tIns="0" bIns="0">
            <a:spAutoFit/>
          </a:bodyPr>
          <a:lstStyle/>
          <a:p>
            <a:pPr>
              <a:lnSpc>
                <a:spcPct val="105000"/>
              </a:lnSpc>
            </a:pPr>
            <a:r>
              <a:rPr sz="1200" b="0">
                <a:solidFill>
                  <a:srgbClr val="0B0B0B"/>
                </a:solidFill>
                <a:latin typeface="Consolas"/>
              </a:rPr>
              <a:t>new AxeBuilder({ page })</a:t>
            </a:r>
          </a:p>
          <a:p>
            <a:pPr>
              <a:lnSpc>
                <a:spcPct val="105000"/>
              </a:lnSpc>
            </a:pPr>
            <a:r>
              <a:rPr sz="1200" b="1">
                <a:solidFill>
                  <a:srgbClr val="2A78D6"/>
                </a:solidFill>
                <a:latin typeface="Consolas"/>
              </a:rPr>
              <a:t>  .withTags(['wcag2a', 'wcag2aa', 'wcag21a', 'wcag21aa'])</a:t>
            </a:r>
          </a:p>
          <a:p>
            <a:pPr>
              <a:lnSpc>
                <a:spcPct val="105000"/>
              </a:lnSpc>
            </a:pPr>
            <a:r>
              <a:rPr sz="1200" b="0">
                <a:solidFill>
                  <a:srgbClr val="0B0B0B"/>
                </a:solidFill>
                <a:latin typeface="Consolas"/>
              </a:rPr>
              <a:t>  .analyze();</a:t>
            </a:r>
          </a:p>
        </p:txBody>
      </p:sp>
      <p:sp>
        <p:nvSpPr>
          <p:cNvPr id="9" name="TextBox 8"/>
          <p:cNvSpPr txBox="1"/>
          <p:nvPr/>
        </p:nvSpPr>
        <p:spPr>
          <a:xfrm>
            <a:off x="6263640" y="1554480"/>
            <a:ext cx="5394960" cy="365760"/>
          </a:xfrm>
          <a:prstGeom prst="rect">
            <a:avLst/>
          </a:prstGeom>
          <a:noFill/>
        </p:spPr>
        <p:txBody>
          <a:bodyPr wrap="square" lIns="0" rIns="0" tIns="0" bIns="0" anchor="t">
            <a:spAutoFit/>
          </a:bodyPr>
          <a:lstStyle/>
          <a:p>
            <a:pPr algn="l">
              <a:lnSpc>
                <a:spcPct val="110000"/>
              </a:lnSpc>
            </a:pPr>
            <a:r>
              <a:rPr sz="1600" b="1" i="0">
                <a:solidFill>
                  <a:srgbClr val="EB6834"/>
                </a:solidFill>
                <a:latin typeface="Segoe UI"/>
              </a:rPr>
              <a:t>Sin filtro: 10 reglas</a:t>
            </a:r>
          </a:p>
        </p:txBody>
      </p:sp>
      <p:sp>
        <p:nvSpPr>
          <p:cNvPr id="10" name="Rounded Rectangle 9"/>
          <p:cNvSpPr/>
          <p:nvPr/>
        </p:nvSpPr>
        <p:spPr>
          <a:xfrm>
            <a:off x="6263640" y="1965960"/>
            <a:ext cx="5394960" cy="96012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1" name="TextBox 10"/>
          <p:cNvSpPr txBox="1"/>
          <p:nvPr/>
        </p:nvSpPr>
        <p:spPr>
          <a:xfrm>
            <a:off x="6446520" y="2103120"/>
            <a:ext cx="5029200" cy="685800"/>
          </a:xfrm>
          <a:prstGeom prst="rect">
            <a:avLst/>
          </a:prstGeom>
          <a:noFill/>
        </p:spPr>
        <p:txBody>
          <a:bodyPr wrap="square" lIns="0" rIns="0" tIns="0" bIns="0">
            <a:spAutoFit/>
          </a:bodyPr>
          <a:lstStyle/>
          <a:p>
            <a:pPr>
              <a:lnSpc>
                <a:spcPct val="105000"/>
              </a:lnSpc>
            </a:pPr>
            <a:r>
              <a:rPr sz="1200" b="0">
                <a:solidFill>
                  <a:srgbClr val="0B0B0B"/>
                </a:solidFill>
                <a:latin typeface="Consolas"/>
              </a:rPr>
              <a:t>new AxeBuilder({ page })</a:t>
            </a:r>
          </a:p>
          <a:p>
            <a:pPr>
              <a:lnSpc>
                <a:spcPct val="105000"/>
              </a:lnSpc>
            </a:pPr>
            <a:r>
              <a:rPr sz="1200" b="0">
                <a:solidFill>
                  <a:srgbClr val="0B0B0B"/>
                </a:solidFill>
                <a:latin typeface="Consolas"/>
              </a:rPr>
              <a:t> </a:t>
            </a:r>
          </a:p>
          <a:p>
            <a:pPr>
              <a:lnSpc>
                <a:spcPct val="105000"/>
              </a:lnSpc>
            </a:pPr>
            <a:r>
              <a:rPr sz="1200" b="0">
                <a:solidFill>
                  <a:srgbClr val="0B0B0B"/>
                </a:solidFill>
                <a:latin typeface="Consolas"/>
              </a:rPr>
              <a:t>  .analyze();</a:t>
            </a:r>
          </a:p>
        </p:txBody>
      </p:sp>
      <p:sp>
        <p:nvSpPr>
          <p:cNvPr id="12" name="Rounded Rectangle 11"/>
          <p:cNvSpPr/>
          <p:nvPr/>
        </p:nvSpPr>
        <p:spPr>
          <a:xfrm>
            <a:off x="548640" y="32461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button-name</a:t>
            </a:r>
          </a:p>
        </p:txBody>
      </p:sp>
      <p:sp>
        <p:nvSpPr>
          <p:cNvPr id="13" name="Rounded Rectangle 12"/>
          <p:cNvSpPr/>
          <p:nvPr/>
        </p:nvSpPr>
        <p:spPr>
          <a:xfrm>
            <a:off x="3246120" y="32461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color-contrast</a:t>
            </a:r>
          </a:p>
        </p:txBody>
      </p:sp>
      <p:sp>
        <p:nvSpPr>
          <p:cNvPr id="14" name="Rounded Rectangle 13"/>
          <p:cNvSpPr/>
          <p:nvPr/>
        </p:nvSpPr>
        <p:spPr>
          <a:xfrm>
            <a:off x="548640" y="37033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html-has-lang</a:t>
            </a:r>
          </a:p>
        </p:txBody>
      </p:sp>
      <p:sp>
        <p:nvSpPr>
          <p:cNvPr id="15" name="Rounded Rectangle 14"/>
          <p:cNvSpPr/>
          <p:nvPr/>
        </p:nvSpPr>
        <p:spPr>
          <a:xfrm>
            <a:off x="3246120" y="37033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image-alt</a:t>
            </a:r>
          </a:p>
        </p:txBody>
      </p:sp>
      <p:sp>
        <p:nvSpPr>
          <p:cNvPr id="16" name="Rounded Rectangle 15"/>
          <p:cNvSpPr/>
          <p:nvPr/>
        </p:nvSpPr>
        <p:spPr>
          <a:xfrm>
            <a:off x="548640" y="41605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link-name</a:t>
            </a:r>
          </a:p>
        </p:txBody>
      </p:sp>
      <p:sp>
        <p:nvSpPr>
          <p:cNvPr id="17" name="Rounded Rectangle 16"/>
          <p:cNvSpPr/>
          <p:nvPr/>
        </p:nvSpPr>
        <p:spPr>
          <a:xfrm>
            <a:off x="3246120" y="41605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select-name</a:t>
            </a:r>
          </a:p>
        </p:txBody>
      </p:sp>
      <p:sp>
        <p:nvSpPr>
          <p:cNvPr id="18" name="Rounded Rectangle 17"/>
          <p:cNvSpPr/>
          <p:nvPr/>
        </p:nvSpPr>
        <p:spPr>
          <a:xfrm>
            <a:off x="6263640" y="32461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button-name</a:t>
            </a:r>
          </a:p>
        </p:txBody>
      </p:sp>
      <p:sp>
        <p:nvSpPr>
          <p:cNvPr id="19" name="Rounded Rectangle 18"/>
          <p:cNvSpPr/>
          <p:nvPr/>
        </p:nvSpPr>
        <p:spPr>
          <a:xfrm>
            <a:off x="8961120" y="32461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color-contrast</a:t>
            </a:r>
          </a:p>
        </p:txBody>
      </p:sp>
      <p:sp>
        <p:nvSpPr>
          <p:cNvPr id="20" name="Rounded Rectangle 19"/>
          <p:cNvSpPr/>
          <p:nvPr/>
        </p:nvSpPr>
        <p:spPr>
          <a:xfrm>
            <a:off x="6263640" y="37033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html-has-lang</a:t>
            </a:r>
          </a:p>
        </p:txBody>
      </p:sp>
      <p:sp>
        <p:nvSpPr>
          <p:cNvPr id="21" name="Rounded Rectangle 20"/>
          <p:cNvSpPr/>
          <p:nvPr/>
        </p:nvSpPr>
        <p:spPr>
          <a:xfrm>
            <a:off x="8961120" y="37033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image-alt</a:t>
            </a:r>
          </a:p>
        </p:txBody>
      </p:sp>
      <p:sp>
        <p:nvSpPr>
          <p:cNvPr id="22" name="Rounded Rectangle 21"/>
          <p:cNvSpPr/>
          <p:nvPr/>
        </p:nvSpPr>
        <p:spPr>
          <a:xfrm>
            <a:off x="6263640" y="41605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link-name</a:t>
            </a:r>
          </a:p>
        </p:txBody>
      </p:sp>
      <p:sp>
        <p:nvSpPr>
          <p:cNvPr id="23" name="Rounded Rectangle 22"/>
          <p:cNvSpPr/>
          <p:nvPr/>
        </p:nvSpPr>
        <p:spPr>
          <a:xfrm>
            <a:off x="8961120" y="4160520"/>
            <a:ext cx="2514600" cy="292608"/>
          </a:xfrm>
          <a:prstGeom prst="roundRect">
            <a:avLst>
              <a:gd name="adj" fmla="val 50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184F95"/>
                </a:solidFill>
                <a:latin typeface="Segoe UI"/>
              </a:rPr>
              <a:t>select-name</a:t>
            </a:r>
          </a:p>
        </p:txBody>
      </p:sp>
      <p:sp>
        <p:nvSpPr>
          <p:cNvPr id="24" name="Rounded Rectangle 23"/>
          <p:cNvSpPr/>
          <p:nvPr/>
        </p:nvSpPr>
        <p:spPr>
          <a:xfrm>
            <a:off x="6263640" y="4617720"/>
            <a:ext cx="2514600" cy="292608"/>
          </a:xfrm>
          <a:prstGeom prst="roundRect">
            <a:avLst>
              <a:gd name="adj" fmla="val 50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EB6834"/>
                </a:solidFill>
                <a:latin typeface="Segoe UI"/>
              </a:rPr>
              <a:t>heading-order</a:t>
            </a:r>
          </a:p>
        </p:txBody>
      </p:sp>
      <p:sp>
        <p:nvSpPr>
          <p:cNvPr id="25" name="Rounded Rectangle 24"/>
          <p:cNvSpPr/>
          <p:nvPr/>
        </p:nvSpPr>
        <p:spPr>
          <a:xfrm>
            <a:off x="8961120" y="4617720"/>
            <a:ext cx="2514600" cy="292608"/>
          </a:xfrm>
          <a:prstGeom prst="roundRect">
            <a:avLst>
              <a:gd name="adj" fmla="val 50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EB6834"/>
                </a:solidFill>
                <a:latin typeface="Segoe UI"/>
              </a:rPr>
              <a:t>landmark-one-main</a:t>
            </a:r>
          </a:p>
        </p:txBody>
      </p:sp>
      <p:sp>
        <p:nvSpPr>
          <p:cNvPr id="26" name="Rounded Rectangle 25"/>
          <p:cNvSpPr/>
          <p:nvPr/>
        </p:nvSpPr>
        <p:spPr>
          <a:xfrm>
            <a:off x="6263640" y="5074920"/>
            <a:ext cx="2514600" cy="292608"/>
          </a:xfrm>
          <a:prstGeom prst="roundRect">
            <a:avLst>
              <a:gd name="adj" fmla="val 50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EB6834"/>
                </a:solidFill>
                <a:latin typeface="Segoe UI"/>
              </a:rPr>
              <a:t>region</a:t>
            </a:r>
          </a:p>
        </p:txBody>
      </p:sp>
      <p:sp>
        <p:nvSpPr>
          <p:cNvPr id="27" name="Rounded Rectangle 26"/>
          <p:cNvSpPr/>
          <p:nvPr/>
        </p:nvSpPr>
        <p:spPr>
          <a:xfrm>
            <a:off x="8961120" y="5074920"/>
            <a:ext cx="2514600" cy="292608"/>
          </a:xfrm>
          <a:prstGeom prst="roundRect">
            <a:avLst>
              <a:gd name="adj" fmla="val 50000"/>
            </a:avLst>
          </a:prstGeom>
          <a:solidFill>
            <a:srgbClr val="FBE1D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EB6834"/>
                </a:solidFill>
                <a:latin typeface="Segoe UI"/>
              </a:rPr>
              <a:t>tabindex</a:t>
            </a:r>
          </a:p>
        </p:txBody>
      </p:sp>
      <p:sp>
        <p:nvSpPr>
          <p:cNvPr id="28" name="TextBox 27"/>
          <p:cNvSpPr txBox="1"/>
          <p:nvPr/>
        </p:nvSpPr>
        <p:spPr>
          <a:xfrm>
            <a:off x="6263640" y="5577840"/>
            <a:ext cx="5394960" cy="731520"/>
          </a:xfrm>
          <a:prstGeom prst="rect">
            <a:avLst/>
          </a:prstGeom>
          <a:noFill/>
        </p:spPr>
        <p:txBody>
          <a:bodyPr wrap="square" lIns="0" rIns="0" tIns="0" bIns="0" anchor="t">
            <a:spAutoFit/>
          </a:bodyPr>
          <a:lstStyle/>
          <a:p>
            <a:pPr algn="l">
              <a:lnSpc>
                <a:spcPct val="115000"/>
              </a:lnSpc>
            </a:pPr>
            <a:r>
              <a:rPr sz="1200" b="1" i="0">
                <a:solidFill>
                  <a:srgbClr val="EB6834"/>
                </a:solidFill>
                <a:latin typeface="Segoe UI"/>
              </a:rPr>
              <a:t>En naranja, best-practice: </a:t>
            </a:r>
            <a:r>
              <a:rPr sz="1200" b="0" i="0">
                <a:solidFill>
                  <a:srgbClr val="52514E"/>
                </a:solidFill>
                <a:latin typeface="Segoe UI"/>
              </a:rPr>
              <a:t>reglas que axe recomienda aunque WCAG no las pida de forma literal. El filtro WCAG las silencia.</a:t>
            </a:r>
          </a:p>
        </p:txBody>
      </p:sp>
      <p:sp>
        <p:nvSpPr>
          <p:cNvPr id="29" name="TextBox 28"/>
          <p:cNvSpPr txBox="1"/>
          <p:nvPr/>
        </p:nvSpPr>
        <p:spPr>
          <a:xfrm>
            <a:off x="548640" y="4754880"/>
            <a:ext cx="5394960" cy="32004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Qué señalan las 4 reglas escondidas</a:t>
            </a:r>
          </a:p>
        </p:txBody>
      </p:sp>
      <p:sp>
        <p:nvSpPr>
          <p:cNvPr id="30" name="TextBox 29"/>
          <p:cNvSpPr txBox="1"/>
          <p:nvPr/>
        </p:nvSpPr>
        <p:spPr>
          <a:xfrm>
            <a:off x="548640" y="5102352"/>
            <a:ext cx="1920240" cy="274320"/>
          </a:xfrm>
          <a:prstGeom prst="rect">
            <a:avLst/>
          </a:prstGeom>
          <a:noFill/>
        </p:spPr>
        <p:txBody>
          <a:bodyPr wrap="square" lIns="0" rIns="0" tIns="0" bIns="0" anchor="t">
            <a:spAutoFit/>
          </a:bodyPr>
          <a:lstStyle/>
          <a:p>
            <a:pPr algn="l">
              <a:lnSpc>
                <a:spcPct val="110000"/>
              </a:lnSpc>
            </a:pPr>
            <a:r>
              <a:rPr sz="1100" b="1" i="0">
                <a:solidFill>
                  <a:srgbClr val="EB6834"/>
                </a:solidFill>
                <a:latin typeface="Consolas"/>
              </a:rPr>
              <a:t>heading-order</a:t>
            </a:r>
          </a:p>
        </p:txBody>
      </p:sp>
      <p:sp>
        <p:nvSpPr>
          <p:cNvPr id="31" name="TextBox 30"/>
          <p:cNvSpPr txBox="1"/>
          <p:nvPr/>
        </p:nvSpPr>
        <p:spPr>
          <a:xfrm>
            <a:off x="2514600" y="5102352"/>
            <a:ext cx="3474720" cy="27432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los títulos saltan de h1 a h4</a:t>
            </a:r>
          </a:p>
        </p:txBody>
      </p:sp>
      <p:sp>
        <p:nvSpPr>
          <p:cNvPr id="32" name="TextBox 31"/>
          <p:cNvSpPr txBox="1"/>
          <p:nvPr/>
        </p:nvSpPr>
        <p:spPr>
          <a:xfrm>
            <a:off x="548640" y="5394960"/>
            <a:ext cx="1920240" cy="274320"/>
          </a:xfrm>
          <a:prstGeom prst="rect">
            <a:avLst/>
          </a:prstGeom>
          <a:noFill/>
        </p:spPr>
        <p:txBody>
          <a:bodyPr wrap="square" lIns="0" rIns="0" tIns="0" bIns="0" anchor="t">
            <a:spAutoFit/>
          </a:bodyPr>
          <a:lstStyle/>
          <a:p>
            <a:pPr algn="l">
              <a:lnSpc>
                <a:spcPct val="110000"/>
              </a:lnSpc>
            </a:pPr>
            <a:r>
              <a:rPr sz="1100" b="1" i="0">
                <a:solidFill>
                  <a:srgbClr val="EB6834"/>
                </a:solidFill>
                <a:latin typeface="Consolas"/>
              </a:rPr>
              <a:t>landmark-one-main</a:t>
            </a:r>
          </a:p>
        </p:txBody>
      </p:sp>
      <p:sp>
        <p:nvSpPr>
          <p:cNvPr id="33" name="TextBox 32"/>
          <p:cNvSpPr txBox="1"/>
          <p:nvPr/>
        </p:nvSpPr>
        <p:spPr>
          <a:xfrm>
            <a:off x="2514600" y="5394960"/>
            <a:ext cx="3474720" cy="27432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la página no tiene &lt;main&gt;</a:t>
            </a:r>
          </a:p>
        </p:txBody>
      </p:sp>
      <p:sp>
        <p:nvSpPr>
          <p:cNvPr id="34" name="TextBox 33"/>
          <p:cNvSpPr txBox="1"/>
          <p:nvPr/>
        </p:nvSpPr>
        <p:spPr>
          <a:xfrm>
            <a:off x="548640" y="5687568"/>
            <a:ext cx="1920240" cy="274320"/>
          </a:xfrm>
          <a:prstGeom prst="rect">
            <a:avLst/>
          </a:prstGeom>
          <a:noFill/>
        </p:spPr>
        <p:txBody>
          <a:bodyPr wrap="square" lIns="0" rIns="0" tIns="0" bIns="0" anchor="t">
            <a:spAutoFit/>
          </a:bodyPr>
          <a:lstStyle/>
          <a:p>
            <a:pPr algn="l">
              <a:lnSpc>
                <a:spcPct val="110000"/>
              </a:lnSpc>
            </a:pPr>
            <a:r>
              <a:rPr sz="1100" b="1" i="0">
                <a:solidFill>
                  <a:srgbClr val="EB6834"/>
                </a:solidFill>
                <a:latin typeface="Consolas"/>
              </a:rPr>
              <a:t>region</a:t>
            </a:r>
          </a:p>
        </p:txBody>
      </p:sp>
      <p:sp>
        <p:nvSpPr>
          <p:cNvPr id="35" name="TextBox 34"/>
          <p:cNvSpPr txBox="1"/>
          <p:nvPr/>
        </p:nvSpPr>
        <p:spPr>
          <a:xfrm>
            <a:off x="2514600" y="5687568"/>
            <a:ext cx="3474720" cy="27432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hay contenido fuera de toda región</a:t>
            </a:r>
          </a:p>
        </p:txBody>
      </p:sp>
      <p:sp>
        <p:nvSpPr>
          <p:cNvPr id="36" name="TextBox 35"/>
          <p:cNvSpPr txBox="1"/>
          <p:nvPr/>
        </p:nvSpPr>
        <p:spPr>
          <a:xfrm>
            <a:off x="548640" y="5980176"/>
            <a:ext cx="1920240" cy="274320"/>
          </a:xfrm>
          <a:prstGeom prst="rect">
            <a:avLst/>
          </a:prstGeom>
          <a:noFill/>
        </p:spPr>
        <p:txBody>
          <a:bodyPr wrap="square" lIns="0" rIns="0" tIns="0" bIns="0" anchor="t">
            <a:spAutoFit/>
          </a:bodyPr>
          <a:lstStyle/>
          <a:p>
            <a:pPr algn="l">
              <a:lnSpc>
                <a:spcPct val="110000"/>
              </a:lnSpc>
            </a:pPr>
            <a:r>
              <a:rPr sz="1100" b="1" i="0">
                <a:solidFill>
                  <a:srgbClr val="EB6834"/>
                </a:solidFill>
                <a:latin typeface="Consolas"/>
              </a:rPr>
              <a:t>tabindex</a:t>
            </a:r>
          </a:p>
        </p:txBody>
      </p:sp>
      <p:sp>
        <p:nvSpPr>
          <p:cNvPr id="37" name="TextBox 36"/>
          <p:cNvSpPr txBox="1"/>
          <p:nvPr/>
        </p:nvSpPr>
        <p:spPr>
          <a:xfrm>
            <a:off x="2514600" y="5980176"/>
            <a:ext cx="3474720" cy="27432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el foco no sigue el orden visual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3B · GRUPO C</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Axe aprueba un campo sin etiqueta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14</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Rounded Rectangle 5"/>
          <p:cNvSpPr/>
          <p:nvPr/>
        </p:nvSpPr>
        <p:spPr>
          <a:xfrm>
            <a:off x="548640" y="1417320"/>
            <a:ext cx="4160520" cy="4846320"/>
          </a:xfrm>
          <a:prstGeom prst="roundRect">
            <a:avLst>
              <a:gd name="adj" fmla="val 2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Rectangle 6"/>
          <p:cNvSpPr/>
          <p:nvPr/>
        </p:nvSpPr>
        <p:spPr>
          <a:xfrm>
            <a:off x="557784" y="1426464"/>
            <a:ext cx="4142232" cy="301752"/>
          </a:xfrm>
          <a:prstGeom prst="rect">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8" name="Oval 7"/>
          <p:cNvSpPr/>
          <p:nvPr/>
        </p:nvSpPr>
        <p:spPr>
          <a:xfrm>
            <a:off x="685800" y="1527048"/>
            <a:ext cx="91440" cy="91440"/>
          </a:xfrm>
          <a:prstGeom prst="ellipse">
            <a:avLst/>
          </a:prstGeom>
          <a:solidFill>
            <a:srgbClr val="D03B3B"/>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1248" y="1527048"/>
            <a:ext cx="91440" cy="91440"/>
          </a:xfrm>
          <a:prstGeom prst="ellipse">
            <a:avLst/>
          </a:prstGeom>
          <a:solidFill>
            <a:srgbClr val="FAB219"/>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6696" y="1527048"/>
            <a:ext cx="91440" cy="91440"/>
          </a:xfrm>
          <a:prstGeom prst="ellipse">
            <a:avLst/>
          </a:prstGeom>
          <a:solidFill>
            <a:srgbClr val="0CA30C"/>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61872" y="1481328"/>
            <a:ext cx="2926080" cy="1828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a:r>
              <a:rPr sz="900" b="0">
                <a:solidFill>
                  <a:srgbClr val="52514E"/>
                </a:solidFill>
                <a:latin typeface="Segoe UI"/>
              </a:rPr>
              <a:t>localhost:8080/defectuosa.html</a:t>
            </a:r>
          </a:p>
        </p:txBody>
      </p:sp>
      <p:pic>
        <p:nvPicPr>
          <p:cNvPr id="12" name="Picture 11" descr="defectuosa.png"/>
          <p:cNvPicPr>
            <a:picLocks noChangeAspect="1"/>
          </p:cNvPicPr>
          <p:nvPr/>
        </p:nvPicPr>
        <p:blipFill>
          <a:blip r:embed="rId3"/>
          <a:srcRect b="7946"/>
          <a:stretch>
            <a:fillRect/>
          </a:stretch>
        </p:blipFill>
        <p:spPr>
          <a:xfrm>
            <a:off x="548640" y="1728216"/>
            <a:ext cx="4160520" cy="4535424"/>
          </a:xfrm>
          <a:prstGeom prst="rect">
            <a:avLst/>
          </a:prstGeom>
        </p:spPr>
      </p:pic>
      <p:sp>
        <p:nvSpPr>
          <p:cNvPr id="13" name="TextBox 12"/>
          <p:cNvSpPr txBox="1"/>
          <p:nvPr/>
        </p:nvSpPr>
        <p:spPr>
          <a:xfrm>
            <a:off x="5166360" y="1554480"/>
            <a:ext cx="6492240" cy="1280160"/>
          </a:xfrm>
          <a:prstGeom prst="rect">
            <a:avLst/>
          </a:prstGeom>
          <a:noFill/>
        </p:spPr>
        <p:txBody>
          <a:bodyPr wrap="square" lIns="0" rIns="0" tIns="0" bIns="0" anchor="t">
            <a:spAutoFit/>
          </a:bodyPr>
          <a:lstStyle/>
          <a:p>
            <a:pPr algn="l">
              <a:lnSpc>
                <a:spcPct val="120000"/>
              </a:lnSpc>
            </a:pPr>
            <a:r>
              <a:rPr sz="1400" b="1" i="0">
                <a:solidFill>
                  <a:srgbClr val="0B0B0B"/>
                </a:solidFill>
                <a:latin typeface="Segoe UI"/>
              </a:rPr>
              <a:t>El placeholder </a:t>
            </a:r>
            <a:r>
              <a:rPr sz="1400" b="0" i="0">
                <a:solidFill>
                  <a:srgbClr val="52514E"/>
                </a:solidFill>
                <a:latin typeface="Segoe UI"/>
              </a:rPr>
              <a:t>(el texto gris dentro del campo) </a:t>
            </a:r>
            <a:r>
              <a:rPr sz="1400" b="1" i="0">
                <a:solidFill>
                  <a:srgbClr val="0B0B0B"/>
                </a:solidFill>
                <a:latin typeface="Segoe UI"/>
              </a:rPr>
              <a:t>cuenta como nombre accesible, </a:t>
            </a:r>
            <a:r>
              <a:rPr sz="1400" b="0" i="0">
                <a:solidFill>
                  <a:srgbClr val="52514E"/>
                </a:solidFill>
                <a:latin typeface="Segoe UI"/>
              </a:rPr>
              <a:t>el nombre que el lector de pantalla anuncia para el campo. Por eso axe lo da por etiquetado. Pero desaparece en cuanto la persona empieza a escribir.</a:t>
            </a:r>
          </a:p>
        </p:txBody>
      </p:sp>
      <p:sp>
        <p:nvSpPr>
          <p:cNvPr id="14" name="TextBox 13"/>
          <p:cNvSpPr txBox="1"/>
          <p:nvPr/>
        </p:nvSpPr>
        <p:spPr>
          <a:xfrm>
            <a:off x="5166360" y="2788920"/>
            <a:ext cx="6492240" cy="3200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Los 7 defectos que ninguna herramienta ve</a:t>
            </a:r>
          </a:p>
        </p:txBody>
      </p:sp>
      <p:sp>
        <p:nvSpPr>
          <p:cNvPr id="15" name="Oval 14"/>
          <p:cNvSpPr/>
          <p:nvPr/>
        </p:nvSpPr>
        <p:spPr>
          <a:xfrm>
            <a:off x="5239512" y="3264408"/>
            <a:ext cx="128016" cy="128016"/>
          </a:xfrm>
          <a:prstGeom prst="ellipse">
            <a:avLst/>
          </a:prstGeom>
          <a:solidFill>
            <a:srgbClr val="D03B3B"/>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3200400"/>
            <a:ext cx="6126480" cy="32004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placeholder usado como única etiqueta</a:t>
            </a:r>
          </a:p>
        </p:txBody>
      </p:sp>
      <p:sp>
        <p:nvSpPr>
          <p:cNvPr id="17" name="Oval 16"/>
          <p:cNvSpPr/>
          <p:nvPr/>
        </p:nvSpPr>
        <p:spPr>
          <a:xfrm>
            <a:off x="5239512" y="3630168"/>
            <a:ext cx="128016" cy="128016"/>
          </a:xfrm>
          <a:prstGeom prst="ellipse">
            <a:avLst/>
          </a:prstGeom>
          <a:solidFill>
            <a:srgbClr val="C3C2B7"/>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3566160"/>
            <a:ext cx="6126480" cy="320040"/>
          </a:xfrm>
          <a:prstGeom prst="rect">
            <a:avLst/>
          </a:prstGeom>
          <a:noFill/>
        </p:spPr>
        <p:txBody>
          <a:bodyPr wrap="square" lIns="0" rIns="0" tIns="0" bIns="0" anchor="t">
            <a:spAutoFit/>
          </a:bodyPr>
          <a:lstStyle/>
          <a:p>
            <a:pPr algn="l">
              <a:lnSpc>
                <a:spcPct val="110000"/>
              </a:lnSpc>
            </a:pPr>
            <a:r>
              <a:rPr sz="1300" b="0" i="0">
                <a:solidFill>
                  <a:srgbClr val="52514E"/>
                </a:solidFill>
                <a:latin typeface="Segoe UI"/>
              </a:rPr>
              <a:t>alt="imagen": existe, pero no describe nada</a:t>
            </a:r>
          </a:p>
        </p:txBody>
      </p:sp>
      <p:sp>
        <p:nvSpPr>
          <p:cNvPr id="19" name="Oval 18"/>
          <p:cNvSpPr/>
          <p:nvPr/>
        </p:nvSpPr>
        <p:spPr>
          <a:xfrm>
            <a:off x="5239512" y="3995927"/>
            <a:ext cx="128016" cy="128016"/>
          </a:xfrm>
          <a:prstGeom prst="ellipse">
            <a:avLst/>
          </a:prstGeom>
          <a:solidFill>
            <a:srgbClr val="C3C2B7"/>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32120" y="3931920"/>
            <a:ext cx="6126480" cy="320040"/>
          </a:xfrm>
          <a:prstGeom prst="rect">
            <a:avLst/>
          </a:prstGeom>
          <a:noFill/>
        </p:spPr>
        <p:txBody>
          <a:bodyPr wrap="square" lIns="0" rIns="0" tIns="0" bIns="0" anchor="t">
            <a:spAutoFit/>
          </a:bodyPr>
          <a:lstStyle/>
          <a:p>
            <a:pPr algn="l">
              <a:lnSpc>
                <a:spcPct val="110000"/>
              </a:lnSpc>
            </a:pPr>
            <a:r>
              <a:rPr sz="1300" b="0" i="0">
                <a:solidFill>
                  <a:srgbClr val="52514E"/>
                </a:solidFill>
                <a:latin typeface="Segoe UI"/>
              </a:rPr>
              <a:t>outline: none, el foco de teclado se vuelve invisible</a:t>
            </a:r>
          </a:p>
        </p:txBody>
      </p:sp>
      <p:sp>
        <p:nvSpPr>
          <p:cNvPr id="21" name="Oval 20"/>
          <p:cNvSpPr/>
          <p:nvPr/>
        </p:nvSpPr>
        <p:spPr>
          <a:xfrm>
            <a:off x="5239512" y="4361688"/>
            <a:ext cx="128016" cy="128016"/>
          </a:xfrm>
          <a:prstGeom prst="ellipse">
            <a:avLst/>
          </a:prstGeom>
          <a:solidFill>
            <a:srgbClr val="C3C2B7"/>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32120" y="4297680"/>
            <a:ext cx="6126480" cy="320040"/>
          </a:xfrm>
          <a:prstGeom prst="rect">
            <a:avLst/>
          </a:prstGeom>
          <a:noFill/>
        </p:spPr>
        <p:txBody>
          <a:bodyPr wrap="square" lIns="0" rIns="0" tIns="0" bIns="0" anchor="t">
            <a:spAutoFit/>
          </a:bodyPr>
          <a:lstStyle/>
          <a:p>
            <a:pPr algn="l">
              <a:lnSpc>
                <a:spcPct val="110000"/>
              </a:lnSpc>
            </a:pPr>
            <a:r>
              <a:rPr sz="1300" b="0" i="0">
                <a:solidFill>
                  <a:srgbClr val="52514E"/>
                </a:solidFill>
                <a:latin typeface="Segoe UI"/>
              </a:rPr>
              <a:t>una casilla rotulada "Estado"</a:t>
            </a:r>
          </a:p>
        </p:txBody>
      </p:sp>
      <p:sp>
        <p:nvSpPr>
          <p:cNvPr id="23" name="Oval 22"/>
          <p:cNvSpPr/>
          <p:nvPr/>
        </p:nvSpPr>
        <p:spPr>
          <a:xfrm>
            <a:off x="5239512" y="4727447"/>
            <a:ext cx="128016" cy="128016"/>
          </a:xfrm>
          <a:prstGeom prst="ellipse">
            <a:avLst/>
          </a:prstGeom>
          <a:solidFill>
            <a:srgbClr val="C3C2B7"/>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32120" y="4663440"/>
            <a:ext cx="6126480" cy="320040"/>
          </a:xfrm>
          <a:prstGeom prst="rect">
            <a:avLst/>
          </a:prstGeom>
          <a:noFill/>
        </p:spPr>
        <p:txBody>
          <a:bodyPr wrap="square" lIns="0" rIns="0" tIns="0" bIns="0" anchor="t">
            <a:spAutoFit/>
          </a:bodyPr>
          <a:lstStyle/>
          <a:p>
            <a:pPr algn="l">
              <a:lnSpc>
                <a:spcPct val="110000"/>
              </a:lnSpc>
            </a:pPr>
            <a:r>
              <a:rPr sz="1300" b="0" i="0">
                <a:solidFill>
                  <a:srgbClr val="52514E"/>
                </a:solidFill>
                <a:latin typeface="Segoe UI"/>
              </a:rPr>
              <a:t>el resultado sin role="status": nunca se anuncia</a:t>
            </a:r>
          </a:p>
        </p:txBody>
      </p:sp>
      <p:sp>
        <p:nvSpPr>
          <p:cNvPr id="25" name="Oval 24"/>
          <p:cNvSpPr/>
          <p:nvPr/>
        </p:nvSpPr>
        <p:spPr>
          <a:xfrm>
            <a:off x="5239512" y="5093207"/>
            <a:ext cx="128016" cy="128016"/>
          </a:xfrm>
          <a:prstGeom prst="ellipse">
            <a:avLst/>
          </a:prstGeom>
          <a:solidFill>
            <a:srgbClr val="C3C2B7"/>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32120" y="5029200"/>
            <a:ext cx="6126480" cy="320040"/>
          </a:xfrm>
          <a:prstGeom prst="rect">
            <a:avLst/>
          </a:prstGeom>
          <a:noFill/>
        </p:spPr>
        <p:txBody>
          <a:bodyPr wrap="square" lIns="0" rIns="0" tIns="0" bIns="0" anchor="t">
            <a:spAutoFit/>
          </a:bodyPr>
          <a:lstStyle/>
          <a:p>
            <a:pPr algn="l">
              <a:lnSpc>
                <a:spcPct val="110000"/>
              </a:lnSpc>
            </a:pPr>
            <a:r>
              <a:rPr sz="1300" b="0" i="0">
                <a:solidFill>
                  <a:srgbClr val="52514E"/>
                </a:solidFill>
                <a:latin typeface="Segoe UI"/>
              </a:rPr>
              <a:t>un enlace que dice "Haga clic aquí"</a:t>
            </a:r>
          </a:p>
        </p:txBody>
      </p:sp>
      <p:sp>
        <p:nvSpPr>
          <p:cNvPr id="27" name="Oval 26"/>
          <p:cNvSpPr/>
          <p:nvPr/>
        </p:nvSpPr>
        <p:spPr>
          <a:xfrm>
            <a:off x="5239512" y="5458968"/>
            <a:ext cx="128016" cy="128016"/>
          </a:xfrm>
          <a:prstGeom prst="ellipse">
            <a:avLst/>
          </a:prstGeom>
          <a:solidFill>
            <a:srgbClr val="C3C2B7"/>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5394960"/>
            <a:ext cx="6126480" cy="320040"/>
          </a:xfrm>
          <a:prstGeom prst="rect">
            <a:avLst/>
          </a:prstGeom>
          <a:noFill/>
        </p:spPr>
        <p:txBody>
          <a:bodyPr wrap="square" lIns="0" rIns="0" tIns="0" bIns="0" anchor="t">
            <a:spAutoFit/>
          </a:bodyPr>
          <a:lstStyle/>
          <a:p>
            <a:pPr algn="l">
              <a:lnSpc>
                <a:spcPct val="110000"/>
              </a:lnSpc>
            </a:pPr>
            <a:r>
              <a:rPr sz="1300" b="0" i="0">
                <a:solidFill>
                  <a:srgbClr val="52514E"/>
                </a:solidFill>
                <a:latin typeface="Segoe UI"/>
              </a:rPr>
              <a:t>un error que dice "Error." y nada más (WCAG 3.3.3)</a:t>
            </a:r>
          </a:p>
        </p:txBody>
      </p:sp>
      <p:sp>
        <p:nvSpPr>
          <p:cNvPr id="29" name="TextBox 28"/>
          <p:cNvSpPr txBox="1"/>
          <p:nvPr/>
        </p:nvSpPr>
        <p:spPr>
          <a:xfrm>
            <a:off x="5166360" y="5852160"/>
            <a:ext cx="6492240" cy="457200"/>
          </a:xfrm>
          <a:prstGeom prst="rect">
            <a:avLst/>
          </a:prstGeom>
          <a:noFill/>
        </p:spPr>
        <p:txBody>
          <a:bodyPr wrap="square" lIns="0" rIns="0" tIns="0" bIns="0" anchor="t">
            <a:spAutoFit/>
          </a:bodyPr>
          <a:lstStyle/>
          <a:p>
            <a:pPr algn="l">
              <a:lnSpc>
                <a:spcPct val="110000"/>
              </a:lnSpc>
            </a:pPr>
            <a:r>
              <a:rPr sz="1300" b="1" i="0">
                <a:solidFill>
                  <a:srgbClr val="2A78D6"/>
                </a:solidFill>
                <a:latin typeface="Segoe UI"/>
              </a:rPr>
              <a:t>La prueba 05 del módulo 3, escrita a mano, sí lo encuentra.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4 · REGRESIÓN VISUAL</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Lo que ninguna aserción sobre el DOM ve</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15</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481328"/>
            <a:ext cx="4389120" cy="274320"/>
          </a:xfrm>
          <a:prstGeom prst="rect">
            <a:avLst/>
          </a:prstGeom>
          <a:noFill/>
        </p:spPr>
        <p:txBody>
          <a:bodyPr wrap="square" lIns="0" rIns="0" tIns="0" bIns="0" anchor="t">
            <a:spAutoFit/>
          </a:bodyPr>
          <a:lstStyle/>
          <a:p>
            <a:pPr algn="l">
              <a:lnSpc>
                <a:spcPct val="110000"/>
              </a:lnSpc>
            </a:pPr>
            <a:r>
              <a:rPr sz="1100" b="0" i="0">
                <a:solidFill>
                  <a:srgbClr val="898781"/>
                </a:solidFill>
                <a:latin typeface="Segoe UI"/>
              </a:rPr>
              <a:t>formulario-vacio · 1280 px</a:t>
            </a:r>
          </a:p>
        </p:txBody>
      </p:sp>
      <p:pic>
        <p:nvPicPr>
          <p:cNvPr id="7" name="Picture 6" descr="formulario-vacio-chromium-win32.png"/>
          <p:cNvPicPr>
            <a:picLocks noChangeAspect="1"/>
          </p:cNvPicPr>
          <p:nvPr/>
        </p:nvPicPr>
        <p:blipFill>
          <a:blip r:embed="rId3"/>
          <a:stretch>
            <a:fillRect/>
          </a:stretch>
        </p:blipFill>
        <p:spPr>
          <a:xfrm>
            <a:off x="548640" y="1783080"/>
            <a:ext cx="4389120" cy="3034665"/>
          </a:xfrm>
          <a:prstGeom prst="rect">
            <a:avLst/>
          </a:prstGeom>
          <a:ln>
            <a:solidFill>
              <a:srgbClr val="DCDBD4"/>
            </a:solidFill>
          </a:ln>
        </p:spPr>
      </p:pic>
      <p:sp>
        <p:nvSpPr>
          <p:cNvPr id="8" name="TextBox 7"/>
          <p:cNvSpPr txBox="1"/>
          <p:nvPr/>
        </p:nvSpPr>
        <p:spPr>
          <a:xfrm>
            <a:off x="548640" y="4983480"/>
            <a:ext cx="4389120" cy="274320"/>
          </a:xfrm>
          <a:prstGeom prst="rect">
            <a:avLst/>
          </a:prstGeom>
          <a:noFill/>
        </p:spPr>
        <p:txBody>
          <a:bodyPr wrap="square" lIns="0" rIns="0" tIns="0" bIns="0" anchor="t">
            <a:spAutoFit/>
          </a:bodyPr>
          <a:lstStyle/>
          <a:p>
            <a:pPr algn="l">
              <a:lnSpc>
                <a:spcPct val="110000"/>
              </a:lnSpc>
            </a:pPr>
            <a:r>
              <a:rPr sz="1100" b="0" i="0">
                <a:solidFill>
                  <a:srgbClr val="898781"/>
                </a:solidFill>
                <a:latin typeface="Segoe UI"/>
              </a:rPr>
              <a:t>resultado-rechazo · solo el mensaje</a:t>
            </a:r>
          </a:p>
        </p:txBody>
      </p:sp>
      <p:pic>
        <p:nvPicPr>
          <p:cNvPr id="9" name="Picture 8" descr="resultado-rechazo-chromium-win32.png"/>
          <p:cNvPicPr>
            <a:picLocks noChangeAspect="1"/>
          </p:cNvPicPr>
          <p:nvPr/>
        </p:nvPicPr>
        <p:blipFill>
          <a:blip r:embed="rId4"/>
          <a:stretch>
            <a:fillRect/>
          </a:stretch>
        </p:blipFill>
        <p:spPr>
          <a:xfrm>
            <a:off x="548640" y="5257800"/>
            <a:ext cx="4389120" cy="857250"/>
          </a:xfrm>
          <a:prstGeom prst="rect">
            <a:avLst/>
          </a:prstGeom>
          <a:ln>
            <a:solidFill>
              <a:srgbClr val="DCDBD4"/>
            </a:solidFill>
          </a:ln>
        </p:spPr>
      </p:pic>
      <p:sp>
        <p:nvSpPr>
          <p:cNvPr id="10" name="TextBox 9"/>
          <p:cNvSpPr txBox="1"/>
          <p:nvPr/>
        </p:nvSpPr>
        <p:spPr>
          <a:xfrm>
            <a:off x="5257800" y="1481328"/>
            <a:ext cx="1737360" cy="274320"/>
          </a:xfrm>
          <a:prstGeom prst="rect">
            <a:avLst/>
          </a:prstGeom>
          <a:noFill/>
        </p:spPr>
        <p:txBody>
          <a:bodyPr wrap="square" lIns="0" rIns="0" tIns="0" bIns="0" anchor="t">
            <a:spAutoFit/>
          </a:bodyPr>
          <a:lstStyle/>
          <a:p>
            <a:pPr algn="l">
              <a:lnSpc>
                <a:spcPct val="110000"/>
              </a:lnSpc>
            </a:pPr>
            <a:r>
              <a:rPr sz="1100" b="0" i="0">
                <a:solidFill>
                  <a:srgbClr val="898781"/>
                </a:solidFill>
                <a:latin typeface="Segoe UI"/>
              </a:rPr>
              <a:t>móvil · 375 px</a:t>
            </a:r>
          </a:p>
        </p:txBody>
      </p:sp>
      <p:pic>
        <p:nvPicPr>
          <p:cNvPr id="11" name="Picture 10" descr="formulario-movil-chromium-win32.png"/>
          <p:cNvPicPr>
            <a:picLocks noChangeAspect="1"/>
          </p:cNvPicPr>
          <p:nvPr/>
        </p:nvPicPr>
        <p:blipFill>
          <a:blip r:embed="rId5"/>
          <a:stretch>
            <a:fillRect/>
          </a:stretch>
        </p:blipFill>
        <p:spPr>
          <a:xfrm>
            <a:off x="5257800" y="1783080"/>
            <a:ext cx="1751371" cy="4343400"/>
          </a:xfrm>
          <a:prstGeom prst="rect">
            <a:avLst/>
          </a:prstGeom>
          <a:ln>
            <a:solidFill>
              <a:srgbClr val="DCDBD4"/>
            </a:solidFill>
          </a:ln>
        </p:spPr>
      </p:pic>
      <p:sp>
        <p:nvSpPr>
          <p:cNvPr id="12" name="Rounded Rectangle 11"/>
          <p:cNvSpPr/>
          <p:nvPr/>
        </p:nvSpPr>
        <p:spPr>
          <a:xfrm>
            <a:off x="7315200" y="1783080"/>
            <a:ext cx="4343400" cy="868680"/>
          </a:xfrm>
          <a:prstGeom prst="roundRect">
            <a:avLst>
              <a:gd name="adj" fmla="val 3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TextBox 12"/>
          <p:cNvSpPr txBox="1"/>
          <p:nvPr/>
        </p:nvSpPr>
        <p:spPr>
          <a:xfrm>
            <a:off x="7498079" y="1920240"/>
            <a:ext cx="3977639" cy="594359"/>
          </a:xfrm>
          <a:prstGeom prst="rect">
            <a:avLst/>
          </a:prstGeom>
          <a:noFill/>
        </p:spPr>
        <p:txBody>
          <a:bodyPr wrap="square" lIns="0" rIns="0" tIns="0" bIns="0">
            <a:spAutoFit/>
          </a:bodyPr>
          <a:lstStyle/>
          <a:p>
            <a:pPr>
              <a:lnSpc>
                <a:spcPct val="105000"/>
              </a:lnSpc>
            </a:pPr>
            <a:r>
              <a:rPr sz="1200" b="0">
                <a:solidFill>
                  <a:srgbClr val="0B0B0B"/>
                </a:solidFill>
                <a:latin typeface="Consolas"/>
              </a:rPr>
              <a:t>npm run test:visual     # comparar</a:t>
            </a:r>
          </a:p>
          <a:p>
            <a:pPr>
              <a:lnSpc>
                <a:spcPct val="105000"/>
              </a:lnSpc>
            </a:pPr>
            <a:r>
              <a:rPr sz="1200" b="0">
                <a:solidFill>
                  <a:srgbClr val="0B0B0B"/>
                </a:solidFill>
                <a:latin typeface="Consolas"/>
              </a:rPr>
              <a:t>npm run visual:update   # actualizar</a:t>
            </a:r>
          </a:p>
        </p:txBody>
      </p:sp>
      <p:sp>
        <p:nvSpPr>
          <p:cNvPr id="14" name="TextBox 13"/>
          <p:cNvSpPr txBox="1"/>
          <p:nvPr/>
        </p:nvSpPr>
        <p:spPr>
          <a:xfrm>
            <a:off x="7315200" y="2880360"/>
            <a:ext cx="4343400" cy="1280160"/>
          </a:xfrm>
          <a:prstGeom prst="rect">
            <a:avLst/>
          </a:prstGeom>
          <a:noFill/>
        </p:spPr>
        <p:txBody>
          <a:bodyPr wrap="square" lIns="0" rIns="0" tIns="0" bIns="0" anchor="t">
            <a:spAutoFit/>
          </a:bodyPr>
          <a:lstStyle/>
          <a:p>
            <a:pPr algn="l">
              <a:lnSpc>
                <a:spcPct val="120000"/>
              </a:lnSpc>
            </a:pPr>
            <a:r>
              <a:rPr sz="1400" b="1" i="0">
                <a:solidFill>
                  <a:srgbClr val="D03B3B"/>
                </a:solidFill>
                <a:latin typeface="Segoe UI"/>
              </a:rPr>
              <a:t>El riesgo: </a:t>
            </a:r>
            <a:r>
              <a:rPr sz="1400" b="0" i="0">
                <a:solidFill>
                  <a:srgbClr val="52514E"/>
                </a:solidFill>
                <a:latin typeface="Segoe UI"/>
              </a:rPr>
              <a:t>actualizar las referencias (las capturas aprobadas) sin mirar el diff, la imagen que marca los píxeles que cambiaron. Desde ese momento la prueba aprueba cualquier cosa.</a:t>
            </a:r>
          </a:p>
        </p:txBody>
      </p:sp>
      <p:sp>
        <p:nvSpPr>
          <p:cNvPr id="15" name="TextBox 14"/>
          <p:cNvSpPr txBox="1"/>
          <p:nvPr/>
        </p:nvSpPr>
        <p:spPr>
          <a:xfrm>
            <a:off x="7315200" y="4206240"/>
            <a:ext cx="4343400" cy="1463040"/>
          </a:xfrm>
          <a:prstGeom prst="rect">
            <a:avLst/>
          </a:prstGeom>
          <a:noFill/>
        </p:spPr>
        <p:txBody>
          <a:bodyPr wrap="square" lIns="0" rIns="0" tIns="0" bIns="0" anchor="t">
            <a:spAutoFit/>
          </a:bodyPr>
          <a:lstStyle/>
          <a:p>
            <a:pPr algn="l">
              <a:lnSpc>
                <a:spcPct val="120000"/>
              </a:lnSpc>
            </a:pPr>
            <a:r>
              <a:rPr sz="1400" b="1" i="0">
                <a:solidFill>
                  <a:srgbClr val="0B0B0B"/>
                </a:solidFill>
                <a:latin typeface="Segoe UI"/>
              </a:rPr>
              <a:t>Dependen del sistema operativo: </a:t>
            </a:r>
            <a:r>
              <a:rPr sz="1400" b="0" i="0">
                <a:solidFill>
                  <a:srgbClr val="52514E"/>
                </a:solidFill>
                <a:latin typeface="Segoe UI"/>
              </a:rPr>
              <a:t>una referencia tomada en Windows no coincide con una tomada en Linux, donde corre la integración continua (CI). Por eso el CI del taller no ejecuta este módulo.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5 · USABILIDAD CON USUARIOS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Tareas como objetivos, no como instrucciones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16</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600200"/>
            <a:ext cx="3017520" cy="1097280"/>
          </a:xfrm>
          <a:prstGeom prst="rect">
            <a:avLst/>
          </a:prstGeom>
          <a:noFill/>
        </p:spPr>
        <p:txBody>
          <a:bodyPr wrap="square" lIns="0" rIns="0" tIns="0" bIns="0" anchor="t">
            <a:spAutoFit/>
          </a:bodyPr>
          <a:lstStyle/>
          <a:p>
            <a:pPr algn="l">
              <a:lnSpc>
                <a:spcPct val="100000"/>
              </a:lnSpc>
            </a:pPr>
            <a:r>
              <a:rPr sz="8000" b="1" i="0">
                <a:solidFill>
                  <a:srgbClr val="EB6834"/>
                </a:solidFill>
                <a:latin typeface="Segoe UI"/>
              </a:rPr>
              <a:t>5</a:t>
            </a:r>
          </a:p>
        </p:txBody>
      </p:sp>
      <p:sp>
        <p:nvSpPr>
          <p:cNvPr id="7" name="TextBox 6"/>
          <p:cNvSpPr txBox="1"/>
          <p:nvPr/>
        </p:nvSpPr>
        <p:spPr>
          <a:xfrm>
            <a:off x="1417320" y="1783080"/>
            <a:ext cx="2286000" cy="914400"/>
          </a:xfrm>
          <a:prstGeom prst="rect">
            <a:avLst/>
          </a:prstGeom>
          <a:noFill/>
        </p:spPr>
        <p:txBody>
          <a:bodyPr wrap="square" lIns="0" rIns="0" tIns="0" bIns="0" anchor="t">
            <a:spAutoFit/>
          </a:bodyPr>
          <a:lstStyle/>
          <a:p>
            <a:pPr algn="l">
              <a:lnSpc>
                <a:spcPct val="115000"/>
              </a:lnSpc>
            </a:pPr>
            <a:r>
              <a:rPr sz="1400" b="0" i="0">
                <a:solidFill>
                  <a:srgbClr val="52514E"/>
                </a:solidFill>
                <a:latin typeface="Segoe UI"/>
              </a:rPr>
              <a:t>participantes detectan cerca del 85 % de los problemas</a:t>
            </a:r>
          </a:p>
        </p:txBody>
      </p:sp>
      <p:sp>
        <p:nvSpPr>
          <p:cNvPr id="8" name="TextBox 7"/>
          <p:cNvSpPr txBox="1"/>
          <p:nvPr/>
        </p:nvSpPr>
        <p:spPr>
          <a:xfrm>
            <a:off x="548640" y="2926080"/>
            <a:ext cx="3108960" cy="365760"/>
          </a:xfrm>
          <a:prstGeom prst="rect">
            <a:avLst/>
          </a:prstGeom>
          <a:noFill/>
        </p:spPr>
        <p:txBody>
          <a:bodyPr wrap="square" lIns="0" rIns="0" tIns="0" bIns="0" anchor="t">
            <a:spAutoFit/>
          </a:bodyPr>
          <a:lstStyle/>
          <a:p>
            <a:pPr algn="l">
              <a:lnSpc>
                <a:spcPct val="115000"/>
              </a:lnSpc>
            </a:pPr>
            <a:r>
              <a:rPr sz="1100" b="0" i="0">
                <a:solidFill>
                  <a:srgbClr val="898781"/>
                </a:solidFill>
                <a:latin typeface="Segoe UI"/>
              </a:rPr>
              <a:t>Nielsen. Personas que no hayan trabajado en el proyecto.</a:t>
            </a:r>
          </a:p>
        </p:txBody>
      </p:sp>
      <p:sp>
        <p:nvSpPr>
          <p:cNvPr id="9" name="Rounded Rectangle 8"/>
          <p:cNvSpPr/>
          <p:nvPr/>
        </p:nvSpPr>
        <p:spPr>
          <a:xfrm>
            <a:off x="4023360" y="1600200"/>
            <a:ext cx="3703320" cy="1691640"/>
          </a:xfrm>
          <a:prstGeom prst="roundRect">
            <a:avLst>
              <a:gd name="adj" fmla="val 5000"/>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0" name="TextBox 9"/>
          <p:cNvSpPr txBox="1"/>
          <p:nvPr/>
        </p:nvSpPr>
        <p:spPr>
          <a:xfrm>
            <a:off x="4251960" y="1755648"/>
            <a:ext cx="3291840" cy="274320"/>
          </a:xfrm>
          <a:prstGeom prst="rect">
            <a:avLst/>
          </a:prstGeom>
          <a:noFill/>
        </p:spPr>
        <p:txBody>
          <a:bodyPr wrap="square" lIns="0" rIns="0" tIns="0" bIns="0" anchor="t">
            <a:spAutoFit/>
          </a:bodyPr>
          <a:lstStyle/>
          <a:p>
            <a:pPr algn="l">
              <a:lnSpc>
                <a:spcPct val="110000"/>
              </a:lnSpc>
            </a:pPr>
            <a:r>
              <a:rPr sz="1100" b="1" i="0" spc="100">
                <a:solidFill>
                  <a:srgbClr val="D03B3B"/>
                </a:solidFill>
                <a:latin typeface="Segoe UI"/>
              </a:rPr>
              <a:t>INSTRUCCIÓN · NO SIRVE</a:t>
            </a:r>
          </a:p>
        </p:txBody>
      </p:sp>
      <p:sp>
        <p:nvSpPr>
          <p:cNvPr id="11" name="TextBox 10"/>
          <p:cNvSpPr txBox="1"/>
          <p:nvPr/>
        </p:nvSpPr>
        <p:spPr>
          <a:xfrm>
            <a:off x="4251960" y="2103120"/>
            <a:ext cx="3291840" cy="1097280"/>
          </a:xfrm>
          <a:prstGeom prst="rect">
            <a:avLst/>
          </a:prstGeom>
          <a:noFill/>
        </p:spPr>
        <p:txBody>
          <a:bodyPr wrap="square" lIns="0" rIns="0" tIns="0" bIns="0" anchor="t">
            <a:spAutoFit/>
          </a:bodyPr>
          <a:lstStyle/>
          <a:p>
            <a:pPr algn="l">
              <a:lnSpc>
                <a:spcPct val="120000"/>
              </a:lnSpc>
            </a:pPr>
            <a:r>
              <a:rPr sz="1500" b="0" i="0">
                <a:solidFill>
                  <a:srgbClr val="0B0B0B"/>
                </a:solidFill>
                <a:latin typeface="Segoe UI"/>
              </a:rPr>
              <a:t>"Escribe 30 en el campo Edad y pulsa Registrar"</a:t>
            </a:r>
          </a:p>
        </p:txBody>
      </p:sp>
      <p:sp>
        <p:nvSpPr>
          <p:cNvPr id="12" name="Rounded Rectangle 11"/>
          <p:cNvSpPr/>
          <p:nvPr/>
        </p:nvSpPr>
        <p:spPr>
          <a:xfrm>
            <a:off x="7955279" y="1600200"/>
            <a:ext cx="3703320" cy="1691640"/>
          </a:xfrm>
          <a:prstGeom prst="roundRect">
            <a:avLst>
              <a:gd name="adj" fmla="val 5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3" name="TextBox 12"/>
          <p:cNvSpPr txBox="1"/>
          <p:nvPr/>
        </p:nvSpPr>
        <p:spPr>
          <a:xfrm>
            <a:off x="8183879" y="1755648"/>
            <a:ext cx="3291840" cy="274320"/>
          </a:xfrm>
          <a:prstGeom prst="rect">
            <a:avLst/>
          </a:prstGeom>
          <a:noFill/>
        </p:spPr>
        <p:txBody>
          <a:bodyPr wrap="square" lIns="0" rIns="0" tIns="0" bIns="0" anchor="t">
            <a:spAutoFit/>
          </a:bodyPr>
          <a:lstStyle/>
          <a:p>
            <a:pPr algn="l">
              <a:lnSpc>
                <a:spcPct val="110000"/>
              </a:lnSpc>
            </a:pPr>
            <a:r>
              <a:rPr sz="1100" b="1" i="0" spc="100">
                <a:solidFill>
                  <a:srgbClr val="006300"/>
                </a:solidFill>
                <a:latin typeface="Segoe UI"/>
              </a:rPr>
              <a:t>OBJETIVO · SIRVE</a:t>
            </a:r>
          </a:p>
        </p:txBody>
      </p:sp>
      <p:sp>
        <p:nvSpPr>
          <p:cNvPr id="14" name="TextBox 13"/>
          <p:cNvSpPr txBox="1"/>
          <p:nvPr/>
        </p:nvSpPr>
        <p:spPr>
          <a:xfrm>
            <a:off x="8183879" y="2103120"/>
            <a:ext cx="3291840" cy="1097280"/>
          </a:xfrm>
          <a:prstGeom prst="rect">
            <a:avLst/>
          </a:prstGeom>
          <a:noFill/>
        </p:spPr>
        <p:txBody>
          <a:bodyPr wrap="square" lIns="0" rIns="0" tIns="0" bIns="0" anchor="t">
            <a:spAutoFit/>
          </a:bodyPr>
          <a:lstStyle/>
          <a:p>
            <a:pPr algn="l">
              <a:lnSpc>
                <a:spcPct val="120000"/>
              </a:lnSpc>
            </a:pPr>
            <a:r>
              <a:rPr sz="1500" b="0" i="0">
                <a:solidFill>
                  <a:srgbClr val="0B0B0B"/>
                </a:solidFill>
                <a:latin typeface="Segoe UI"/>
              </a:rPr>
              <a:t>"Inscribe a tu tía Ana, de 30 años, para que pueda votar"</a:t>
            </a:r>
          </a:p>
        </p:txBody>
      </p:sp>
      <p:sp>
        <p:nvSpPr>
          <p:cNvPr id="15" name="TextBox 14"/>
          <p:cNvSpPr txBox="1"/>
          <p:nvPr/>
        </p:nvSpPr>
        <p:spPr>
          <a:xfrm>
            <a:off x="4023360" y="3401568"/>
            <a:ext cx="7589520" cy="54864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La primera ya contiene la respuesta: solo comprueba que los dedos funcionan. La segunda revela si la persona encuentra el camino.</a:t>
            </a:r>
          </a:p>
        </p:txBody>
      </p:sp>
      <p:sp>
        <p:nvSpPr>
          <p:cNvPr id="16" name="Rounded Rectangle 15"/>
          <p:cNvSpPr/>
          <p:nvPr/>
        </p:nvSpPr>
        <p:spPr>
          <a:xfrm>
            <a:off x="548640" y="4251960"/>
            <a:ext cx="2606040" cy="1005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749808" y="4389120"/>
            <a:ext cx="2286000" cy="3200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Tasa de éxito</a:t>
            </a:r>
          </a:p>
        </p:txBody>
      </p:sp>
      <p:sp>
        <p:nvSpPr>
          <p:cNvPr id="18" name="TextBox 17"/>
          <p:cNvSpPr txBox="1"/>
          <p:nvPr/>
        </p:nvSpPr>
        <p:spPr>
          <a:xfrm>
            <a:off x="749808" y="4709160"/>
            <a:ext cx="2286000" cy="45720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 que la completa sin ayuda</a:t>
            </a:r>
          </a:p>
        </p:txBody>
      </p:sp>
      <p:sp>
        <p:nvSpPr>
          <p:cNvPr id="19" name="Rounded Rectangle 18"/>
          <p:cNvSpPr/>
          <p:nvPr/>
        </p:nvSpPr>
        <p:spPr>
          <a:xfrm>
            <a:off x="3383280" y="4251960"/>
            <a:ext cx="2606040" cy="1005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0" name="TextBox 19"/>
          <p:cNvSpPr txBox="1"/>
          <p:nvPr/>
        </p:nvSpPr>
        <p:spPr>
          <a:xfrm>
            <a:off x="3584448" y="4389120"/>
            <a:ext cx="2286000" cy="3200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Tiempo en tarea</a:t>
            </a:r>
          </a:p>
        </p:txBody>
      </p:sp>
      <p:sp>
        <p:nvSpPr>
          <p:cNvPr id="21" name="TextBox 20"/>
          <p:cNvSpPr txBox="1"/>
          <p:nvPr/>
        </p:nvSpPr>
        <p:spPr>
          <a:xfrm>
            <a:off x="3584448" y="4709160"/>
            <a:ext cx="2286000" cy="45720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segundos hasta completarla</a:t>
            </a:r>
          </a:p>
        </p:txBody>
      </p:sp>
      <p:sp>
        <p:nvSpPr>
          <p:cNvPr id="22" name="Rounded Rectangle 21"/>
          <p:cNvSpPr/>
          <p:nvPr/>
        </p:nvSpPr>
        <p:spPr>
          <a:xfrm>
            <a:off x="6217920" y="4251960"/>
            <a:ext cx="2606040" cy="1005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3" name="TextBox 22"/>
          <p:cNvSpPr txBox="1"/>
          <p:nvPr/>
        </p:nvSpPr>
        <p:spPr>
          <a:xfrm>
            <a:off x="6419088" y="4389120"/>
            <a:ext cx="2286000" cy="3200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Errores</a:t>
            </a:r>
          </a:p>
        </p:txBody>
      </p:sp>
      <p:sp>
        <p:nvSpPr>
          <p:cNvPr id="24" name="TextBox 23"/>
          <p:cNvSpPr txBox="1"/>
          <p:nvPr/>
        </p:nvSpPr>
        <p:spPr>
          <a:xfrm>
            <a:off x="6419088" y="4709160"/>
            <a:ext cx="2286000" cy="45720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acciones equivocadas antes de acertar</a:t>
            </a:r>
          </a:p>
        </p:txBody>
      </p:sp>
      <p:sp>
        <p:nvSpPr>
          <p:cNvPr id="25" name="Rounded Rectangle 24"/>
          <p:cNvSpPr/>
          <p:nvPr/>
        </p:nvSpPr>
        <p:spPr>
          <a:xfrm>
            <a:off x="9052560" y="4251960"/>
            <a:ext cx="2606040" cy="100584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6" name="TextBox 25"/>
          <p:cNvSpPr txBox="1"/>
          <p:nvPr/>
        </p:nvSpPr>
        <p:spPr>
          <a:xfrm>
            <a:off x="9253728" y="4389120"/>
            <a:ext cx="2286000" cy="320040"/>
          </a:xfrm>
          <a:prstGeom prst="rect">
            <a:avLst/>
          </a:prstGeom>
          <a:noFill/>
        </p:spPr>
        <p:txBody>
          <a:bodyPr wrap="square" lIns="0" rIns="0" tIns="0" bIns="0" anchor="t">
            <a:spAutoFit/>
          </a:bodyPr>
          <a:lstStyle/>
          <a:p>
            <a:pPr algn="l">
              <a:lnSpc>
                <a:spcPct val="110000"/>
              </a:lnSpc>
            </a:pPr>
            <a:r>
              <a:rPr sz="1400" b="1" i="0">
                <a:solidFill>
                  <a:srgbClr val="0B0B0B"/>
                </a:solidFill>
                <a:latin typeface="Segoe UI"/>
              </a:rPr>
              <a:t>Abandono</a:t>
            </a:r>
          </a:p>
        </p:txBody>
      </p:sp>
      <p:sp>
        <p:nvSpPr>
          <p:cNvPr id="27" name="TextBox 26"/>
          <p:cNvSpPr txBox="1"/>
          <p:nvPr/>
        </p:nvSpPr>
        <p:spPr>
          <a:xfrm>
            <a:off x="9253728" y="4709160"/>
            <a:ext cx="2286000" cy="45720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 que se rinde</a:t>
            </a:r>
          </a:p>
        </p:txBody>
      </p:sp>
      <p:sp>
        <p:nvSpPr>
          <p:cNvPr id="28" name="TextBox 27"/>
          <p:cNvSpPr txBox="1"/>
          <p:nvPr/>
        </p:nvSpPr>
        <p:spPr>
          <a:xfrm>
            <a:off x="548640" y="5532120"/>
            <a:ext cx="11064240" cy="731520"/>
          </a:xfrm>
          <a:prstGeom prst="rect">
            <a:avLst/>
          </a:prstGeom>
          <a:noFill/>
        </p:spPr>
        <p:txBody>
          <a:bodyPr wrap="square" lIns="0" rIns="0" tIns="0" bIns="0" anchor="t">
            <a:spAutoFit/>
          </a:bodyPr>
          <a:lstStyle/>
          <a:p>
            <a:pPr algn="l">
              <a:lnSpc>
                <a:spcPct val="115000"/>
              </a:lnSpc>
            </a:pPr>
            <a:r>
              <a:rPr sz="1300" b="1" i="0">
                <a:solidFill>
                  <a:srgbClr val="EB6834"/>
                </a:solidFill>
                <a:latin typeface="Segoe UI"/>
              </a:rPr>
              <a:t>"No ayudes." </a:t>
            </a:r>
            <a:r>
              <a:rPr sz="1300" b="0" i="0">
                <a:solidFill>
                  <a:srgbClr val="52514E"/>
                </a:solidFill>
                <a:latin typeface="Segoe UI"/>
              </a:rPr>
              <a:t>Si alguien no encuentra el botón en 30 segundos, ese silencio incómodo es el hallazgo. Pida pensar en voz alta y anote lo que hacen, no solo lo que dicen.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5 · SYSTEM USABILITY SCALE</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SUS: 68 no es "68 %", es exactamente el promedio</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17</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600200"/>
            <a:ext cx="4206240" cy="36576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Cómo se calcula</a:t>
            </a:r>
          </a:p>
        </p:txBody>
      </p:sp>
      <p:sp>
        <p:nvSpPr>
          <p:cNvPr id="7" name="Oval 6"/>
          <p:cNvSpPr/>
          <p:nvPr/>
        </p:nvSpPr>
        <p:spPr>
          <a:xfrm>
            <a:off x="557784" y="211226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215798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1</a:t>
            </a:r>
          </a:p>
        </p:txBody>
      </p:sp>
      <p:sp>
        <p:nvSpPr>
          <p:cNvPr id="9" name="TextBox 8"/>
          <p:cNvSpPr txBox="1"/>
          <p:nvPr/>
        </p:nvSpPr>
        <p:spPr>
          <a:xfrm>
            <a:off x="1097280" y="2139696"/>
            <a:ext cx="3840480" cy="548640"/>
          </a:xfrm>
          <a:prstGeom prst="rect">
            <a:avLst/>
          </a:prstGeom>
          <a:noFill/>
        </p:spPr>
        <p:txBody>
          <a:bodyPr wrap="square" lIns="0" rIns="0" tIns="0" bIns="0" anchor="t">
            <a:spAutoFit/>
          </a:bodyPr>
          <a:lstStyle/>
          <a:p>
            <a:pPr algn="l">
              <a:lnSpc>
                <a:spcPct val="110000"/>
              </a:lnSpc>
            </a:pPr>
            <a:r>
              <a:rPr sz="1400" b="0" i="0">
                <a:solidFill>
                  <a:srgbClr val="52514E"/>
                </a:solidFill>
                <a:latin typeface="Segoe UI"/>
              </a:rPr>
              <a:t>Impares (1, 3, 5, 7, 9): </a:t>
            </a:r>
            <a:r>
              <a:rPr sz="1400" b="1" i="0">
                <a:solidFill>
                  <a:srgbClr val="0B0B0B"/>
                </a:solidFill>
                <a:latin typeface="Consolas"/>
              </a:rPr>
              <a:t>x − 1</a:t>
            </a:r>
          </a:p>
        </p:txBody>
      </p:sp>
      <p:sp>
        <p:nvSpPr>
          <p:cNvPr id="10" name="Oval 9"/>
          <p:cNvSpPr/>
          <p:nvPr/>
        </p:nvSpPr>
        <p:spPr>
          <a:xfrm>
            <a:off x="557784" y="279806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 y="284378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2</a:t>
            </a:r>
          </a:p>
        </p:txBody>
      </p:sp>
      <p:sp>
        <p:nvSpPr>
          <p:cNvPr id="12" name="TextBox 11"/>
          <p:cNvSpPr txBox="1"/>
          <p:nvPr/>
        </p:nvSpPr>
        <p:spPr>
          <a:xfrm>
            <a:off x="1097280" y="2825496"/>
            <a:ext cx="3840480" cy="548640"/>
          </a:xfrm>
          <a:prstGeom prst="rect">
            <a:avLst/>
          </a:prstGeom>
          <a:noFill/>
        </p:spPr>
        <p:txBody>
          <a:bodyPr wrap="square" lIns="0" rIns="0" tIns="0" bIns="0" anchor="t">
            <a:spAutoFit/>
          </a:bodyPr>
          <a:lstStyle/>
          <a:p>
            <a:pPr algn="l">
              <a:lnSpc>
                <a:spcPct val="110000"/>
              </a:lnSpc>
            </a:pPr>
            <a:r>
              <a:rPr sz="1400" b="0" i="0">
                <a:solidFill>
                  <a:srgbClr val="52514E"/>
                </a:solidFill>
                <a:latin typeface="Segoe UI"/>
              </a:rPr>
              <a:t>Pares (2, 4, 6, 8, 10): </a:t>
            </a:r>
            <a:r>
              <a:rPr sz="1400" b="1" i="0">
                <a:solidFill>
                  <a:srgbClr val="0B0B0B"/>
                </a:solidFill>
                <a:latin typeface="Consolas"/>
              </a:rPr>
              <a:t>5 − x</a:t>
            </a:r>
          </a:p>
        </p:txBody>
      </p:sp>
      <p:sp>
        <p:nvSpPr>
          <p:cNvPr id="13" name="Oval 12"/>
          <p:cNvSpPr/>
          <p:nvPr/>
        </p:nvSpPr>
        <p:spPr>
          <a:xfrm>
            <a:off x="557784" y="3483864"/>
            <a:ext cx="347472" cy="347472"/>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 y="3529584"/>
            <a:ext cx="347472" cy="274320"/>
          </a:xfrm>
          <a:prstGeom prst="rect">
            <a:avLst/>
          </a:prstGeom>
          <a:noFill/>
        </p:spPr>
        <p:txBody>
          <a:bodyPr wrap="square" lIns="0" rIns="0" tIns="0" bIns="0" anchor="t">
            <a:spAutoFit/>
          </a:bodyPr>
          <a:lstStyle/>
          <a:p>
            <a:pPr algn="ctr">
              <a:lnSpc>
                <a:spcPct val="110000"/>
              </a:lnSpc>
            </a:pPr>
            <a:r>
              <a:rPr sz="1300" b="1" i="0">
                <a:solidFill>
                  <a:srgbClr val="FFFFFF"/>
                </a:solidFill>
                <a:latin typeface="Segoe UI"/>
              </a:rPr>
              <a:t>3</a:t>
            </a:r>
          </a:p>
        </p:txBody>
      </p:sp>
      <p:sp>
        <p:nvSpPr>
          <p:cNvPr id="15" name="TextBox 14"/>
          <p:cNvSpPr txBox="1"/>
          <p:nvPr/>
        </p:nvSpPr>
        <p:spPr>
          <a:xfrm>
            <a:off x="1097280" y="3511296"/>
            <a:ext cx="3840480" cy="548640"/>
          </a:xfrm>
          <a:prstGeom prst="rect">
            <a:avLst/>
          </a:prstGeom>
          <a:noFill/>
        </p:spPr>
        <p:txBody>
          <a:bodyPr wrap="square" lIns="0" rIns="0" tIns="0" bIns="0" anchor="t">
            <a:spAutoFit/>
          </a:bodyPr>
          <a:lstStyle/>
          <a:p>
            <a:pPr algn="l">
              <a:lnSpc>
                <a:spcPct val="110000"/>
              </a:lnSpc>
            </a:pPr>
            <a:r>
              <a:rPr sz="1400" b="0" i="0">
                <a:solidFill>
                  <a:srgbClr val="52514E"/>
                </a:solidFill>
                <a:latin typeface="Segoe UI"/>
              </a:rPr>
              <a:t>Sume los 10 valores y </a:t>
            </a:r>
            <a:r>
              <a:rPr sz="1400" b="1" i="0">
                <a:solidFill>
                  <a:srgbClr val="0B0B0B"/>
                </a:solidFill>
                <a:latin typeface="Consolas"/>
              </a:rPr>
              <a:t>multiplique por 2,5</a:t>
            </a:r>
          </a:p>
        </p:txBody>
      </p:sp>
      <p:sp>
        <p:nvSpPr>
          <p:cNvPr id="16" name="TextBox 15"/>
          <p:cNvSpPr txBox="1"/>
          <p:nvPr/>
        </p:nvSpPr>
        <p:spPr>
          <a:xfrm>
            <a:off x="548640" y="4251960"/>
            <a:ext cx="4114800" cy="1097280"/>
          </a:xfrm>
          <a:prstGeom prst="rect">
            <a:avLst/>
          </a:prstGeom>
          <a:noFill/>
        </p:spPr>
        <p:txBody>
          <a:bodyPr wrap="square" lIns="0" rIns="0" tIns="0" bIns="0" anchor="t">
            <a:spAutoFit/>
          </a:bodyPr>
          <a:lstStyle/>
          <a:p>
            <a:pPr algn="l">
              <a:lnSpc>
                <a:spcPct val="120000"/>
              </a:lnSpc>
            </a:pPr>
            <a:r>
              <a:rPr sz="1400" b="0" i="0">
                <a:solidFill>
                  <a:srgbClr val="52514E"/>
                </a:solidFill>
                <a:latin typeface="Segoe UI"/>
              </a:rPr>
              <a:t>Resultado de 0 a 100. No es un porcentaje: es una posición frente a otros sistemas medidos.</a:t>
            </a:r>
          </a:p>
        </p:txBody>
      </p:sp>
      <p:sp>
        <p:nvSpPr>
          <p:cNvPr id="17" name="Rectangle 16"/>
          <p:cNvSpPr/>
          <p:nvPr/>
        </p:nvSpPr>
        <p:spPr>
          <a:xfrm>
            <a:off x="5303520" y="2377440"/>
            <a:ext cx="3190341" cy="914400"/>
          </a:xfrm>
          <a:prstGeom prst="rect">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8" name="TextBox 17"/>
          <p:cNvSpPr txBox="1"/>
          <p:nvPr/>
        </p:nvSpPr>
        <p:spPr>
          <a:xfrm>
            <a:off x="5303520" y="2670048"/>
            <a:ext cx="3217773" cy="365760"/>
          </a:xfrm>
          <a:prstGeom prst="rect">
            <a:avLst/>
          </a:prstGeom>
          <a:noFill/>
        </p:spPr>
        <p:txBody>
          <a:bodyPr wrap="square" lIns="0" rIns="0" tIns="0" bIns="0" anchor="t">
            <a:spAutoFit/>
          </a:bodyPr>
          <a:lstStyle/>
          <a:p>
            <a:pPr algn="ctr">
              <a:lnSpc>
                <a:spcPct val="110000"/>
              </a:lnSpc>
            </a:pPr>
            <a:r>
              <a:rPr sz="1300" b="1" i="0">
                <a:solidFill>
                  <a:srgbClr val="D03B3B"/>
                </a:solidFill>
                <a:latin typeface="Segoe UI"/>
              </a:rPr>
              <a:t>Deficiente</a:t>
            </a:r>
          </a:p>
        </p:txBody>
      </p:sp>
      <p:sp>
        <p:nvSpPr>
          <p:cNvPr id="19" name="Rectangle 18"/>
          <p:cNvSpPr/>
          <p:nvPr/>
        </p:nvSpPr>
        <p:spPr>
          <a:xfrm>
            <a:off x="8521293" y="2377440"/>
            <a:ext cx="1045159" cy="914400"/>
          </a:xfrm>
          <a:prstGeom prst="rect">
            <a:avLst/>
          </a:prstGeom>
          <a:solidFill>
            <a:srgbClr val="FDEC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0" name="TextBox 19"/>
          <p:cNvSpPr txBox="1"/>
          <p:nvPr/>
        </p:nvSpPr>
        <p:spPr>
          <a:xfrm>
            <a:off x="8521293" y="2670048"/>
            <a:ext cx="1072591" cy="365760"/>
          </a:xfrm>
          <a:prstGeom prst="rect">
            <a:avLst/>
          </a:prstGeom>
          <a:noFill/>
        </p:spPr>
        <p:txBody>
          <a:bodyPr wrap="square" lIns="0" rIns="0" tIns="0" bIns="0" anchor="t">
            <a:spAutoFit/>
          </a:bodyPr>
          <a:lstStyle/>
          <a:p>
            <a:pPr algn="ctr">
              <a:lnSpc>
                <a:spcPct val="110000"/>
              </a:lnSpc>
            </a:pPr>
            <a:r>
              <a:rPr sz="1300" b="1" i="0">
                <a:solidFill>
                  <a:srgbClr val="7A5600"/>
                </a:solidFill>
                <a:latin typeface="Segoe UI"/>
              </a:rPr>
              <a:t>Aceptable</a:t>
            </a:r>
          </a:p>
        </p:txBody>
      </p:sp>
      <p:sp>
        <p:nvSpPr>
          <p:cNvPr id="21" name="Rectangle 20"/>
          <p:cNvSpPr/>
          <p:nvPr/>
        </p:nvSpPr>
        <p:spPr>
          <a:xfrm>
            <a:off x="9593884" y="2377440"/>
            <a:ext cx="748619" cy="914400"/>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2" name="TextBox 21"/>
          <p:cNvSpPr txBox="1"/>
          <p:nvPr/>
        </p:nvSpPr>
        <p:spPr>
          <a:xfrm>
            <a:off x="9593884" y="2670048"/>
            <a:ext cx="776051" cy="365760"/>
          </a:xfrm>
          <a:prstGeom prst="rect">
            <a:avLst/>
          </a:prstGeom>
          <a:noFill/>
        </p:spPr>
        <p:txBody>
          <a:bodyPr wrap="square" lIns="0" rIns="0" tIns="0" bIns="0" anchor="t">
            <a:spAutoFit/>
          </a:bodyPr>
          <a:lstStyle/>
          <a:p>
            <a:pPr algn="ctr">
              <a:lnSpc>
                <a:spcPct val="110000"/>
              </a:lnSpc>
            </a:pPr>
            <a:r>
              <a:rPr sz="1300" b="1" i="0">
                <a:solidFill>
                  <a:srgbClr val="184F95"/>
                </a:solidFill>
                <a:latin typeface="Segoe UI"/>
              </a:rPr>
              <a:t>Bueno</a:t>
            </a:r>
          </a:p>
        </p:txBody>
      </p:sp>
      <p:sp>
        <p:nvSpPr>
          <p:cNvPr id="23" name="Rectangle 22"/>
          <p:cNvSpPr/>
          <p:nvPr/>
        </p:nvSpPr>
        <p:spPr>
          <a:xfrm>
            <a:off x="10369936" y="2377440"/>
            <a:ext cx="1215511" cy="914400"/>
          </a:xfrm>
          <a:prstGeom prst="rect">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4" name="TextBox 23"/>
          <p:cNvSpPr txBox="1"/>
          <p:nvPr/>
        </p:nvSpPr>
        <p:spPr>
          <a:xfrm>
            <a:off x="10369936" y="2670048"/>
            <a:ext cx="1242943" cy="365760"/>
          </a:xfrm>
          <a:prstGeom prst="rect">
            <a:avLst/>
          </a:prstGeom>
          <a:noFill/>
        </p:spPr>
        <p:txBody>
          <a:bodyPr wrap="square" lIns="0" rIns="0" tIns="0" bIns="0" anchor="t">
            <a:spAutoFit/>
          </a:bodyPr>
          <a:lstStyle/>
          <a:p>
            <a:pPr algn="ctr">
              <a:lnSpc>
                <a:spcPct val="110000"/>
              </a:lnSpc>
            </a:pPr>
            <a:r>
              <a:rPr sz="1300" b="1" i="0">
                <a:solidFill>
                  <a:srgbClr val="006300"/>
                </a:solidFill>
                <a:latin typeface="Segoe UI"/>
              </a:rPr>
              <a:t>Excelente</a:t>
            </a:r>
          </a:p>
        </p:txBody>
      </p:sp>
      <p:sp>
        <p:nvSpPr>
          <p:cNvPr id="25" name="TextBox 24"/>
          <p:cNvSpPr txBox="1"/>
          <p:nvPr/>
        </p:nvSpPr>
        <p:spPr>
          <a:xfrm>
            <a:off x="4846320" y="3383280"/>
            <a:ext cx="914400" cy="274320"/>
          </a:xfrm>
          <a:prstGeom prst="rect">
            <a:avLst/>
          </a:prstGeom>
          <a:noFill/>
        </p:spPr>
        <p:txBody>
          <a:bodyPr wrap="square" lIns="0" rIns="0" tIns="0" bIns="0" anchor="t">
            <a:spAutoFit/>
          </a:bodyPr>
          <a:lstStyle/>
          <a:p>
            <a:pPr algn="ctr">
              <a:lnSpc>
                <a:spcPct val="110000"/>
              </a:lnSpc>
            </a:pPr>
            <a:r>
              <a:rPr sz="1200" b="0" i="0">
                <a:solidFill>
                  <a:srgbClr val="52514E"/>
                </a:solidFill>
                <a:latin typeface="Segoe UI"/>
              </a:rPr>
              <a:t>0</a:t>
            </a:r>
          </a:p>
        </p:txBody>
      </p:sp>
      <p:sp>
        <p:nvSpPr>
          <p:cNvPr id="26" name="TextBox 25"/>
          <p:cNvSpPr txBox="1"/>
          <p:nvPr/>
        </p:nvSpPr>
        <p:spPr>
          <a:xfrm>
            <a:off x="8064093" y="3383280"/>
            <a:ext cx="914400" cy="274320"/>
          </a:xfrm>
          <a:prstGeom prst="rect">
            <a:avLst/>
          </a:prstGeom>
          <a:noFill/>
        </p:spPr>
        <p:txBody>
          <a:bodyPr wrap="square" lIns="0" rIns="0" tIns="0" bIns="0" anchor="t">
            <a:spAutoFit/>
          </a:bodyPr>
          <a:lstStyle/>
          <a:p>
            <a:pPr algn="ctr">
              <a:lnSpc>
                <a:spcPct val="110000"/>
              </a:lnSpc>
            </a:pPr>
            <a:r>
              <a:rPr sz="1200" b="0" i="0">
                <a:solidFill>
                  <a:srgbClr val="52514E"/>
                </a:solidFill>
                <a:latin typeface="Segoe UI"/>
              </a:rPr>
              <a:t>51</a:t>
            </a:r>
          </a:p>
        </p:txBody>
      </p:sp>
      <p:sp>
        <p:nvSpPr>
          <p:cNvPr id="27" name="TextBox 26"/>
          <p:cNvSpPr txBox="1"/>
          <p:nvPr/>
        </p:nvSpPr>
        <p:spPr>
          <a:xfrm>
            <a:off x="9136684" y="3383280"/>
            <a:ext cx="914400" cy="274320"/>
          </a:xfrm>
          <a:prstGeom prst="rect">
            <a:avLst/>
          </a:prstGeom>
          <a:noFill/>
        </p:spPr>
        <p:txBody>
          <a:bodyPr wrap="square" lIns="0" rIns="0" tIns="0" bIns="0" anchor="t">
            <a:spAutoFit/>
          </a:bodyPr>
          <a:lstStyle/>
          <a:p>
            <a:pPr algn="ctr">
              <a:lnSpc>
                <a:spcPct val="110000"/>
              </a:lnSpc>
            </a:pPr>
            <a:r>
              <a:rPr sz="1200" b="0" i="0">
                <a:solidFill>
                  <a:srgbClr val="52514E"/>
                </a:solidFill>
                <a:latin typeface="Segoe UI"/>
              </a:rPr>
              <a:t>68</a:t>
            </a:r>
          </a:p>
        </p:txBody>
      </p:sp>
      <p:sp>
        <p:nvSpPr>
          <p:cNvPr id="28" name="TextBox 27"/>
          <p:cNvSpPr txBox="1"/>
          <p:nvPr/>
        </p:nvSpPr>
        <p:spPr>
          <a:xfrm>
            <a:off x="9912736" y="3383280"/>
            <a:ext cx="914400" cy="274320"/>
          </a:xfrm>
          <a:prstGeom prst="rect">
            <a:avLst/>
          </a:prstGeom>
          <a:noFill/>
        </p:spPr>
        <p:txBody>
          <a:bodyPr wrap="square" lIns="0" rIns="0" tIns="0" bIns="0" anchor="t">
            <a:spAutoFit/>
          </a:bodyPr>
          <a:lstStyle/>
          <a:p>
            <a:pPr algn="ctr">
              <a:lnSpc>
                <a:spcPct val="110000"/>
              </a:lnSpc>
            </a:pPr>
            <a:r>
              <a:rPr sz="1200" b="0" i="0">
                <a:solidFill>
                  <a:srgbClr val="52514E"/>
                </a:solidFill>
                <a:latin typeface="Segoe UI"/>
              </a:rPr>
              <a:t>80,3</a:t>
            </a:r>
          </a:p>
        </p:txBody>
      </p:sp>
      <p:sp>
        <p:nvSpPr>
          <p:cNvPr id="29" name="TextBox 28"/>
          <p:cNvSpPr txBox="1"/>
          <p:nvPr/>
        </p:nvSpPr>
        <p:spPr>
          <a:xfrm>
            <a:off x="11155680" y="3383280"/>
            <a:ext cx="914400" cy="274320"/>
          </a:xfrm>
          <a:prstGeom prst="rect">
            <a:avLst/>
          </a:prstGeom>
          <a:noFill/>
        </p:spPr>
        <p:txBody>
          <a:bodyPr wrap="square" lIns="0" rIns="0" tIns="0" bIns="0" anchor="t">
            <a:spAutoFit/>
          </a:bodyPr>
          <a:lstStyle/>
          <a:p>
            <a:pPr algn="ctr">
              <a:lnSpc>
                <a:spcPct val="110000"/>
              </a:lnSpc>
            </a:pPr>
            <a:r>
              <a:rPr sz="1200" b="0" i="0">
                <a:solidFill>
                  <a:srgbClr val="52514E"/>
                </a:solidFill>
                <a:latin typeface="Segoe UI"/>
              </a:rPr>
              <a:t>100</a:t>
            </a:r>
          </a:p>
        </p:txBody>
      </p:sp>
      <p:cxnSp>
        <p:nvCxnSpPr>
          <p:cNvPr id="30" name="Connector 29"/>
          <p:cNvCxnSpPr/>
          <p:nvPr/>
        </p:nvCxnSpPr>
        <p:spPr>
          <a:xfrm>
            <a:off x="9593884" y="2057400"/>
            <a:ext cx="0" cy="1234440"/>
          </a:xfrm>
          <a:prstGeom prst="line">
            <a:avLst/>
          </a:prstGeom>
          <a:ln w="25400">
            <a:solidFill>
              <a:srgbClr val="0B0B0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30844" y="1691640"/>
            <a:ext cx="2926080" cy="320040"/>
          </a:xfrm>
          <a:prstGeom prst="rect">
            <a:avLst/>
          </a:prstGeom>
          <a:noFill/>
        </p:spPr>
        <p:txBody>
          <a:bodyPr wrap="square" lIns="0" rIns="0" tIns="0" bIns="0" anchor="t">
            <a:spAutoFit/>
          </a:bodyPr>
          <a:lstStyle/>
          <a:p>
            <a:pPr algn="ctr">
              <a:lnSpc>
                <a:spcPct val="110000"/>
              </a:lnSpc>
            </a:pPr>
            <a:r>
              <a:rPr sz="1300" b="1" i="0">
                <a:solidFill>
                  <a:srgbClr val="0B0B0B"/>
                </a:solidFill>
                <a:latin typeface="Segoe UI"/>
              </a:rPr>
              <a:t>Promedio de la industria</a:t>
            </a:r>
          </a:p>
        </p:txBody>
      </p:sp>
      <p:sp>
        <p:nvSpPr>
          <p:cNvPr id="32" name="TextBox 31"/>
          <p:cNvSpPr txBox="1"/>
          <p:nvPr/>
        </p:nvSpPr>
        <p:spPr>
          <a:xfrm>
            <a:off x="5303520" y="3886200"/>
            <a:ext cx="6309360" cy="1463040"/>
          </a:xfrm>
          <a:prstGeom prst="rect">
            <a:avLst/>
          </a:prstGeom>
          <a:noFill/>
        </p:spPr>
        <p:txBody>
          <a:bodyPr wrap="square" lIns="0" rIns="0" tIns="0" bIns="0" anchor="t">
            <a:spAutoFit/>
          </a:bodyPr>
          <a:lstStyle/>
          <a:p>
            <a:pPr algn="l">
              <a:lnSpc>
                <a:spcPct val="120000"/>
              </a:lnSpc>
            </a:pPr>
            <a:r>
              <a:rPr sz="1400" b="1" i="0">
                <a:solidFill>
                  <a:srgbClr val="0B0B0B"/>
                </a:solidFill>
                <a:latin typeface="Segoe UI"/>
              </a:rPr>
              <a:t>Ejemplo: </a:t>
            </a:r>
            <a:r>
              <a:rPr sz="1400" b="0" i="0">
                <a:solidFill>
                  <a:srgbClr val="52514E"/>
                </a:solidFill>
                <a:latin typeface="Segoe UI"/>
              </a:rPr>
              <a:t>un promedio de 72,5 queda en "bueno", apenas por encima de la media. Un 50 no es "la mitad de bien": es peor que la mayoría de los sistemas medidos.</a:t>
            </a:r>
          </a:p>
        </p:txBody>
      </p:sp>
      <p:sp>
        <p:nvSpPr>
          <p:cNvPr id="33" name="TextBox 32"/>
          <p:cNvSpPr txBox="1"/>
          <p:nvPr/>
        </p:nvSpPr>
        <p:spPr>
          <a:xfrm>
            <a:off x="5303520" y="5257800"/>
            <a:ext cx="6309360" cy="365760"/>
          </a:xfrm>
          <a:prstGeom prst="rect">
            <a:avLst/>
          </a:prstGeom>
          <a:noFill/>
        </p:spPr>
        <p:txBody>
          <a:bodyPr wrap="square" lIns="0" rIns="0" tIns="0" bIns="0" anchor="t">
            <a:spAutoFit/>
          </a:bodyPr>
          <a:lstStyle/>
          <a:p>
            <a:pPr algn="l">
              <a:lnSpc>
                <a:spcPct val="110000"/>
              </a:lnSpc>
            </a:pPr>
            <a:r>
              <a:rPr sz="1100" b="0" i="0">
                <a:solidFill>
                  <a:srgbClr val="898781"/>
                </a:solidFill>
                <a:latin typeface="Segoe UI"/>
              </a:rPr>
              <a:t>Bandas de Sauro y Lewis. Más de 80,3 corresponde al percentil 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6 · PROBAR CON IA · EXPLORATORIO</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A la IA no se le cree: se la evalúa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18</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Rounded Rectangle 5"/>
          <p:cNvSpPr/>
          <p:nvPr/>
        </p:nvSpPr>
        <p:spPr>
          <a:xfrm>
            <a:off x="548640" y="1645920"/>
            <a:ext cx="1965960" cy="13258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31520" y="1783080"/>
            <a:ext cx="457200" cy="365760"/>
          </a:xfrm>
          <a:prstGeom prst="rect">
            <a:avLst/>
          </a:prstGeom>
          <a:noFill/>
        </p:spPr>
        <p:txBody>
          <a:bodyPr wrap="square" lIns="0" rIns="0" tIns="0" bIns="0" anchor="t">
            <a:spAutoFit/>
          </a:bodyPr>
          <a:lstStyle/>
          <a:p>
            <a:pPr algn="l">
              <a:lnSpc>
                <a:spcPct val="110000"/>
              </a:lnSpc>
            </a:pPr>
            <a:r>
              <a:rPr sz="2000" b="1" i="0">
                <a:solidFill>
                  <a:srgbClr val="4A3AA7"/>
                </a:solidFill>
                <a:latin typeface="Segoe UI"/>
              </a:rPr>
              <a:t>1</a:t>
            </a:r>
          </a:p>
        </p:txBody>
      </p:sp>
      <p:sp>
        <p:nvSpPr>
          <p:cNvPr id="8" name="TextBox 7"/>
          <p:cNvSpPr txBox="1"/>
          <p:nvPr/>
        </p:nvSpPr>
        <p:spPr>
          <a:xfrm>
            <a:off x="731520" y="2176272"/>
            <a:ext cx="1645919" cy="32004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Prompt</a:t>
            </a:r>
          </a:p>
        </p:txBody>
      </p:sp>
      <p:sp>
        <p:nvSpPr>
          <p:cNvPr id="9" name="TextBox 8"/>
          <p:cNvSpPr txBox="1"/>
          <p:nvPr/>
        </p:nvSpPr>
        <p:spPr>
          <a:xfrm>
            <a:off x="731520" y="2514600"/>
            <a:ext cx="1645919" cy="411480"/>
          </a:xfrm>
          <a:prstGeom prst="rect">
            <a:avLst/>
          </a:prstGeom>
          <a:noFill/>
        </p:spPr>
        <p:txBody>
          <a:bodyPr wrap="square" lIns="0" rIns="0" tIns="0" bIns="0" anchor="t">
            <a:spAutoFit/>
          </a:bodyPr>
          <a:lstStyle/>
          <a:p>
            <a:pPr algn="l">
              <a:lnSpc>
                <a:spcPct val="110000"/>
              </a:lnSpc>
            </a:pPr>
            <a:r>
              <a:rPr sz="1100" b="0" i="0">
                <a:solidFill>
                  <a:srgbClr val="52514E"/>
                </a:solidFill>
                <a:latin typeface="Segoe UI"/>
              </a:rPr>
              <a:t>plantilla del taller</a:t>
            </a:r>
          </a:p>
        </p:txBody>
      </p:sp>
      <p:cxnSp>
        <p:nvCxnSpPr>
          <p:cNvPr id="10" name="Connector 9"/>
          <p:cNvCxnSpPr/>
          <p:nvPr/>
        </p:nvCxnSpPr>
        <p:spPr>
          <a:xfrm>
            <a:off x="2542032" y="2304288"/>
            <a:ext cx="260604" cy="0"/>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0068" y="1645920"/>
            <a:ext cx="1965960" cy="13258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2" name="TextBox 11"/>
          <p:cNvSpPr txBox="1"/>
          <p:nvPr/>
        </p:nvSpPr>
        <p:spPr>
          <a:xfrm>
            <a:off x="3012948" y="1783080"/>
            <a:ext cx="457200" cy="365760"/>
          </a:xfrm>
          <a:prstGeom prst="rect">
            <a:avLst/>
          </a:prstGeom>
          <a:noFill/>
        </p:spPr>
        <p:txBody>
          <a:bodyPr wrap="square" lIns="0" rIns="0" tIns="0" bIns="0" anchor="t">
            <a:spAutoFit/>
          </a:bodyPr>
          <a:lstStyle/>
          <a:p>
            <a:pPr algn="l">
              <a:lnSpc>
                <a:spcPct val="110000"/>
              </a:lnSpc>
            </a:pPr>
            <a:r>
              <a:rPr sz="2000" b="1" i="0">
                <a:solidFill>
                  <a:srgbClr val="4A3AA7"/>
                </a:solidFill>
                <a:latin typeface="Segoe UI"/>
              </a:rPr>
              <a:t>2</a:t>
            </a:r>
          </a:p>
        </p:txBody>
      </p:sp>
      <p:sp>
        <p:nvSpPr>
          <p:cNvPr id="13" name="TextBox 12"/>
          <p:cNvSpPr txBox="1"/>
          <p:nvPr/>
        </p:nvSpPr>
        <p:spPr>
          <a:xfrm>
            <a:off x="3012948" y="2176272"/>
            <a:ext cx="1645919" cy="32004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Ejecutar</a:t>
            </a:r>
          </a:p>
        </p:txBody>
      </p:sp>
      <p:sp>
        <p:nvSpPr>
          <p:cNvPr id="14" name="TextBox 13"/>
          <p:cNvSpPr txBox="1"/>
          <p:nvPr/>
        </p:nvSpPr>
        <p:spPr>
          <a:xfrm>
            <a:off x="3012948" y="2514600"/>
            <a:ext cx="1645919" cy="411480"/>
          </a:xfrm>
          <a:prstGeom prst="rect">
            <a:avLst/>
          </a:prstGeom>
          <a:noFill/>
        </p:spPr>
        <p:txBody>
          <a:bodyPr wrap="square" lIns="0" rIns="0" tIns="0" bIns="0" anchor="t">
            <a:spAutoFit/>
          </a:bodyPr>
          <a:lstStyle/>
          <a:p>
            <a:pPr algn="l">
              <a:lnSpc>
                <a:spcPct val="110000"/>
              </a:lnSpc>
            </a:pPr>
            <a:r>
              <a:rPr sz="1100" b="0" i="0">
                <a:solidFill>
                  <a:srgbClr val="52514E"/>
                </a:solidFill>
                <a:latin typeface="Segoe UI"/>
              </a:rPr>
              <a:t>ChatGPT o Claude Code</a:t>
            </a:r>
          </a:p>
        </p:txBody>
      </p:sp>
      <p:cxnSp>
        <p:nvCxnSpPr>
          <p:cNvPr id="15" name="Connector 14"/>
          <p:cNvCxnSpPr/>
          <p:nvPr/>
        </p:nvCxnSpPr>
        <p:spPr>
          <a:xfrm>
            <a:off x="4823460" y="2304288"/>
            <a:ext cx="260604" cy="0"/>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11496" y="1645920"/>
            <a:ext cx="1965960" cy="13258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5294376" y="1783080"/>
            <a:ext cx="457200" cy="365760"/>
          </a:xfrm>
          <a:prstGeom prst="rect">
            <a:avLst/>
          </a:prstGeom>
          <a:noFill/>
        </p:spPr>
        <p:txBody>
          <a:bodyPr wrap="square" lIns="0" rIns="0" tIns="0" bIns="0" anchor="t">
            <a:spAutoFit/>
          </a:bodyPr>
          <a:lstStyle/>
          <a:p>
            <a:pPr algn="l">
              <a:lnSpc>
                <a:spcPct val="110000"/>
              </a:lnSpc>
            </a:pPr>
            <a:r>
              <a:rPr sz="2000" b="1" i="0">
                <a:solidFill>
                  <a:srgbClr val="4A3AA7"/>
                </a:solidFill>
                <a:latin typeface="Segoe UI"/>
              </a:rPr>
              <a:t>3</a:t>
            </a:r>
          </a:p>
        </p:txBody>
      </p:sp>
      <p:sp>
        <p:nvSpPr>
          <p:cNvPr id="18" name="TextBox 17"/>
          <p:cNvSpPr txBox="1"/>
          <p:nvPr/>
        </p:nvSpPr>
        <p:spPr>
          <a:xfrm>
            <a:off x="5294376" y="2176272"/>
            <a:ext cx="1645919" cy="32004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Salida</a:t>
            </a:r>
          </a:p>
        </p:txBody>
      </p:sp>
      <p:sp>
        <p:nvSpPr>
          <p:cNvPr id="19" name="TextBox 18"/>
          <p:cNvSpPr txBox="1"/>
          <p:nvPr/>
        </p:nvSpPr>
        <p:spPr>
          <a:xfrm>
            <a:off x="5294376" y="2514600"/>
            <a:ext cx="1645919" cy="411480"/>
          </a:xfrm>
          <a:prstGeom prst="rect">
            <a:avLst/>
          </a:prstGeom>
          <a:noFill/>
        </p:spPr>
        <p:txBody>
          <a:bodyPr wrap="square" lIns="0" rIns="0" tIns="0" bIns="0" anchor="t">
            <a:spAutoFit/>
          </a:bodyPr>
          <a:lstStyle/>
          <a:p>
            <a:pPr algn="l">
              <a:lnSpc>
                <a:spcPct val="110000"/>
              </a:lnSpc>
            </a:pPr>
            <a:r>
              <a:rPr sz="1100" b="0" i="0">
                <a:solidFill>
                  <a:srgbClr val="52514E"/>
                </a:solidFill>
                <a:latin typeface="Segoe UI"/>
              </a:rPr>
              <a:t>JSON o código</a:t>
            </a:r>
          </a:p>
        </p:txBody>
      </p:sp>
      <p:cxnSp>
        <p:nvCxnSpPr>
          <p:cNvPr id="20" name="Connector 19"/>
          <p:cNvCxnSpPr/>
          <p:nvPr/>
        </p:nvCxnSpPr>
        <p:spPr>
          <a:xfrm>
            <a:off x="7104888" y="2304288"/>
            <a:ext cx="260604" cy="0"/>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92924" y="1645920"/>
            <a:ext cx="1965960" cy="1325880"/>
          </a:xfrm>
          <a:prstGeom prst="roundRect">
            <a:avLst>
              <a:gd name="adj" fmla="val 5000"/>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2" name="TextBox 21"/>
          <p:cNvSpPr txBox="1"/>
          <p:nvPr/>
        </p:nvSpPr>
        <p:spPr>
          <a:xfrm>
            <a:off x="7575804" y="1783080"/>
            <a:ext cx="457200" cy="365760"/>
          </a:xfrm>
          <a:prstGeom prst="rect">
            <a:avLst/>
          </a:prstGeom>
          <a:noFill/>
        </p:spPr>
        <p:txBody>
          <a:bodyPr wrap="square" lIns="0" rIns="0" tIns="0" bIns="0" anchor="t">
            <a:spAutoFit/>
          </a:bodyPr>
          <a:lstStyle/>
          <a:p>
            <a:pPr algn="l">
              <a:lnSpc>
                <a:spcPct val="110000"/>
              </a:lnSpc>
            </a:pPr>
            <a:r>
              <a:rPr sz="2000" b="1" i="0">
                <a:solidFill>
                  <a:srgbClr val="FFFFFF"/>
                </a:solidFill>
                <a:latin typeface="Segoe UI"/>
              </a:rPr>
              <a:t>4</a:t>
            </a:r>
          </a:p>
        </p:txBody>
      </p:sp>
      <p:sp>
        <p:nvSpPr>
          <p:cNvPr id="23" name="TextBox 22"/>
          <p:cNvSpPr txBox="1"/>
          <p:nvPr/>
        </p:nvSpPr>
        <p:spPr>
          <a:xfrm>
            <a:off x="7575804" y="2176272"/>
            <a:ext cx="1645919" cy="320040"/>
          </a:xfrm>
          <a:prstGeom prst="rect">
            <a:avLst/>
          </a:prstGeom>
          <a:noFill/>
        </p:spPr>
        <p:txBody>
          <a:bodyPr wrap="square" lIns="0" rIns="0" tIns="0" bIns="0" anchor="t">
            <a:spAutoFit/>
          </a:bodyPr>
          <a:lstStyle/>
          <a:p>
            <a:pPr algn="l">
              <a:lnSpc>
                <a:spcPct val="110000"/>
              </a:lnSpc>
            </a:pPr>
            <a:r>
              <a:rPr sz="1600" b="1" i="0">
                <a:solidFill>
                  <a:srgbClr val="FFFFFF"/>
                </a:solidFill>
                <a:latin typeface="Segoe UI"/>
              </a:rPr>
              <a:t>Evaluar</a:t>
            </a:r>
          </a:p>
        </p:txBody>
      </p:sp>
      <p:sp>
        <p:nvSpPr>
          <p:cNvPr id="24" name="TextBox 23"/>
          <p:cNvSpPr txBox="1"/>
          <p:nvPr/>
        </p:nvSpPr>
        <p:spPr>
          <a:xfrm>
            <a:off x="7575804" y="2514600"/>
            <a:ext cx="1645919" cy="411480"/>
          </a:xfrm>
          <a:prstGeom prst="rect">
            <a:avLst/>
          </a:prstGeom>
          <a:noFill/>
        </p:spPr>
        <p:txBody>
          <a:bodyPr wrap="square" lIns="0" rIns="0" tIns="0" bIns="0" anchor="t">
            <a:spAutoFit/>
          </a:bodyPr>
          <a:lstStyle/>
          <a:p>
            <a:pPr algn="l">
              <a:lnSpc>
                <a:spcPct val="110000"/>
              </a:lnSpc>
            </a:pPr>
            <a:r>
              <a:rPr sz="1100" b="0" i="0">
                <a:solidFill>
                  <a:srgbClr val="FFFFFF"/>
                </a:solidFill>
                <a:latin typeface="Segoe UI"/>
              </a:rPr>
              <a:t>script contra una verdad conocida</a:t>
            </a:r>
          </a:p>
        </p:txBody>
      </p:sp>
      <p:cxnSp>
        <p:nvCxnSpPr>
          <p:cNvPr id="25" name="Connector 24"/>
          <p:cNvCxnSpPr/>
          <p:nvPr/>
        </p:nvCxnSpPr>
        <p:spPr>
          <a:xfrm>
            <a:off x="9386316" y="2304288"/>
            <a:ext cx="260604" cy="0"/>
          </a:xfrm>
          <a:prstGeom prst="line">
            <a:avLst/>
          </a:prstGeom>
          <a:ln w="1905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674352" y="1645920"/>
            <a:ext cx="1965960" cy="132588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7" name="TextBox 26"/>
          <p:cNvSpPr txBox="1"/>
          <p:nvPr/>
        </p:nvSpPr>
        <p:spPr>
          <a:xfrm>
            <a:off x="9857232" y="1783080"/>
            <a:ext cx="457200" cy="365760"/>
          </a:xfrm>
          <a:prstGeom prst="rect">
            <a:avLst/>
          </a:prstGeom>
          <a:noFill/>
        </p:spPr>
        <p:txBody>
          <a:bodyPr wrap="square" lIns="0" rIns="0" tIns="0" bIns="0" anchor="t">
            <a:spAutoFit/>
          </a:bodyPr>
          <a:lstStyle/>
          <a:p>
            <a:pPr algn="l">
              <a:lnSpc>
                <a:spcPct val="110000"/>
              </a:lnSpc>
            </a:pPr>
            <a:r>
              <a:rPr sz="2000" b="1" i="0">
                <a:solidFill>
                  <a:srgbClr val="4A3AA7"/>
                </a:solidFill>
                <a:latin typeface="Segoe UI"/>
              </a:rPr>
              <a:t>5</a:t>
            </a:r>
          </a:p>
        </p:txBody>
      </p:sp>
      <p:sp>
        <p:nvSpPr>
          <p:cNvPr id="28" name="TextBox 27"/>
          <p:cNvSpPr txBox="1"/>
          <p:nvPr/>
        </p:nvSpPr>
        <p:spPr>
          <a:xfrm>
            <a:off x="9857232" y="2176272"/>
            <a:ext cx="1645919" cy="320040"/>
          </a:xfrm>
          <a:prstGeom prst="rect">
            <a:avLst/>
          </a:prstGeom>
          <a:noFill/>
        </p:spPr>
        <p:txBody>
          <a:bodyPr wrap="square" lIns="0" rIns="0" tIns="0" bIns="0" anchor="t">
            <a:spAutoFit/>
          </a:bodyPr>
          <a:lstStyle/>
          <a:p>
            <a:pPr algn="l">
              <a:lnSpc>
                <a:spcPct val="110000"/>
              </a:lnSpc>
            </a:pPr>
            <a:r>
              <a:rPr sz="1600" b="1" i="0">
                <a:solidFill>
                  <a:srgbClr val="0B0B0B"/>
                </a:solidFill>
                <a:latin typeface="Segoe UI"/>
              </a:rPr>
              <a:t>Reporte</a:t>
            </a:r>
          </a:p>
        </p:txBody>
      </p:sp>
      <p:sp>
        <p:nvSpPr>
          <p:cNvPr id="29" name="TextBox 28"/>
          <p:cNvSpPr txBox="1"/>
          <p:nvPr/>
        </p:nvSpPr>
        <p:spPr>
          <a:xfrm>
            <a:off x="9857232" y="2514600"/>
            <a:ext cx="1645919" cy="411480"/>
          </a:xfrm>
          <a:prstGeom prst="rect">
            <a:avLst/>
          </a:prstGeom>
          <a:noFill/>
        </p:spPr>
        <p:txBody>
          <a:bodyPr wrap="square" lIns="0" rIns="0" tIns="0" bIns="0" anchor="t">
            <a:spAutoFit/>
          </a:bodyPr>
          <a:lstStyle/>
          <a:p>
            <a:pPr algn="l">
              <a:lnSpc>
                <a:spcPct val="110000"/>
              </a:lnSpc>
            </a:pPr>
            <a:r>
              <a:rPr sz="1100" b="0" i="0">
                <a:solidFill>
                  <a:srgbClr val="52514E"/>
                </a:solidFill>
                <a:latin typeface="Segoe UI"/>
              </a:rPr>
              <a:t>HTML que explica qué pasó</a:t>
            </a:r>
          </a:p>
        </p:txBody>
      </p:sp>
      <p:sp>
        <p:nvSpPr>
          <p:cNvPr id="30" name="Rounded Rectangle 29"/>
          <p:cNvSpPr/>
          <p:nvPr/>
        </p:nvSpPr>
        <p:spPr>
          <a:xfrm>
            <a:off x="548640" y="3337560"/>
            <a:ext cx="2606040" cy="1691640"/>
          </a:xfrm>
          <a:prstGeom prst="roundRect">
            <a:avLst>
              <a:gd name="adj" fmla="val 5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1" name="Rounded Rectangle 30"/>
          <p:cNvSpPr/>
          <p:nvPr/>
        </p:nvSpPr>
        <p:spPr>
          <a:xfrm>
            <a:off x="731520" y="3520440"/>
            <a:ext cx="548640" cy="292608"/>
          </a:xfrm>
          <a:prstGeom prst="roundRect">
            <a:avLst>
              <a:gd name="adj" fmla="val 50000"/>
            </a:avLst>
          </a:prstGeom>
          <a:solidFill>
            <a:srgbClr val="E4E0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4A3AA7"/>
                </a:solidFill>
                <a:latin typeface="Segoe UI"/>
              </a:rPr>
              <a:t>E1</a:t>
            </a:r>
          </a:p>
        </p:txBody>
      </p:sp>
      <p:sp>
        <p:nvSpPr>
          <p:cNvPr id="32" name="TextBox 31"/>
          <p:cNvSpPr txBox="1"/>
          <p:nvPr/>
        </p:nvSpPr>
        <p:spPr>
          <a:xfrm>
            <a:off x="1417319" y="3538728"/>
            <a:ext cx="164592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Auditoría</a:t>
            </a:r>
          </a:p>
        </p:txBody>
      </p:sp>
      <p:sp>
        <p:nvSpPr>
          <p:cNvPr id="33" name="TextBox 32"/>
          <p:cNvSpPr txBox="1"/>
          <p:nvPr/>
        </p:nvSpPr>
        <p:spPr>
          <a:xfrm>
            <a:off x="731520" y="3977639"/>
            <a:ext cx="2240280" cy="100584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¿Encuentra la IA lo que axe no ve? Los 7 del grupo C.</a:t>
            </a:r>
          </a:p>
        </p:txBody>
      </p:sp>
      <p:sp>
        <p:nvSpPr>
          <p:cNvPr id="34" name="Rounded Rectangle 33"/>
          <p:cNvSpPr/>
          <p:nvPr/>
        </p:nvSpPr>
        <p:spPr>
          <a:xfrm>
            <a:off x="3383280" y="3337560"/>
            <a:ext cx="2606040" cy="1691640"/>
          </a:xfrm>
          <a:prstGeom prst="roundRect">
            <a:avLst>
              <a:gd name="adj" fmla="val 5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5" name="Rounded Rectangle 34"/>
          <p:cNvSpPr/>
          <p:nvPr/>
        </p:nvSpPr>
        <p:spPr>
          <a:xfrm>
            <a:off x="3566160" y="3520440"/>
            <a:ext cx="548640" cy="292608"/>
          </a:xfrm>
          <a:prstGeom prst="roundRect">
            <a:avLst>
              <a:gd name="adj" fmla="val 50000"/>
            </a:avLst>
          </a:prstGeom>
          <a:solidFill>
            <a:srgbClr val="E4E0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4A3AA7"/>
                </a:solidFill>
                <a:latin typeface="Segoe UI"/>
              </a:rPr>
              <a:t>E4</a:t>
            </a:r>
          </a:p>
        </p:txBody>
      </p:sp>
      <p:sp>
        <p:nvSpPr>
          <p:cNvPr id="36" name="TextBox 35"/>
          <p:cNvSpPr txBox="1"/>
          <p:nvPr/>
        </p:nvSpPr>
        <p:spPr>
          <a:xfrm>
            <a:off x="4251960" y="3538728"/>
            <a:ext cx="164592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Estabilidad</a:t>
            </a:r>
          </a:p>
        </p:txBody>
      </p:sp>
      <p:sp>
        <p:nvSpPr>
          <p:cNvPr id="37" name="TextBox 36"/>
          <p:cNvSpPr txBox="1"/>
          <p:nvPr/>
        </p:nvSpPr>
        <p:spPr>
          <a:xfrm>
            <a:off x="3566160" y="3977639"/>
            <a:ext cx="2240280" cy="100584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¿Encuentra lo mismo en tres ejecuciones con el mismo prompt?</a:t>
            </a:r>
          </a:p>
        </p:txBody>
      </p:sp>
      <p:sp>
        <p:nvSpPr>
          <p:cNvPr id="38" name="Rounded Rectangle 37"/>
          <p:cNvSpPr/>
          <p:nvPr/>
        </p:nvSpPr>
        <p:spPr>
          <a:xfrm>
            <a:off x="6217920" y="3337560"/>
            <a:ext cx="2606040" cy="1691640"/>
          </a:xfrm>
          <a:prstGeom prst="roundRect">
            <a:avLst>
              <a:gd name="adj" fmla="val 5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39" name="Rounded Rectangle 38"/>
          <p:cNvSpPr/>
          <p:nvPr/>
        </p:nvSpPr>
        <p:spPr>
          <a:xfrm>
            <a:off x="6400800" y="3520440"/>
            <a:ext cx="548640" cy="292608"/>
          </a:xfrm>
          <a:prstGeom prst="roundRect">
            <a:avLst>
              <a:gd name="adj" fmla="val 50000"/>
            </a:avLst>
          </a:prstGeom>
          <a:solidFill>
            <a:srgbClr val="E4E0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4A3AA7"/>
                </a:solidFill>
                <a:latin typeface="Segoe UI"/>
              </a:rPr>
              <a:t>E2</a:t>
            </a:r>
          </a:p>
        </p:txBody>
      </p:sp>
      <p:sp>
        <p:nvSpPr>
          <p:cNvPr id="40" name="TextBox 39"/>
          <p:cNvSpPr txBox="1"/>
          <p:nvPr/>
        </p:nvSpPr>
        <p:spPr>
          <a:xfrm>
            <a:off x="7086600" y="3538728"/>
            <a:ext cx="164592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Pruebas generadas</a:t>
            </a:r>
          </a:p>
        </p:txBody>
      </p:sp>
      <p:sp>
        <p:nvSpPr>
          <p:cNvPr id="41" name="TextBox 40"/>
          <p:cNvSpPr txBox="1"/>
          <p:nvPr/>
        </p:nvSpPr>
        <p:spPr>
          <a:xfrm>
            <a:off x="6400800" y="3977639"/>
            <a:ext cx="2240280" cy="100584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¿Detectan algo cuando se rompe la aplicación a propósito?</a:t>
            </a:r>
          </a:p>
        </p:txBody>
      </p:sp>
      <p:sp>
        <p:nvSpPr>
          <p:cNvPr id="42" name="Rounded Rectangle 41"/>
          <p:cNvSpPr/>
          <p:nvPr/>
        </p:nvSpPr>
        <p:spPr>
          <a:xfrm>
            <a:off x="9052560" y="3337560"/>
            <a:ext cx="2606040" cy="1691640"/>
          </a:xfrm>
          <a:prstGeom prst="roundRect">
            <a:avLst>
              <a:gd name="adj" fmla="val 5000"/>
            </a:avLst>
          </a:prstGeom>
          <a:solidFill>
            <a:srgbClr val="FFFFFF"/>
          </a:solidFill>
          <a:ln w="12700">
            <a:solidFill>
              <a:srgbClr val="DCDB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43" name="Rounded Rectangle 42"/>
          <p:cNvSpPr/>
          <p:nvPr/>
        </p:nvSpPr>
        <p:spPr>
          <a:xfrm>
            <a:off x="9235440" y="3520440"/>
            <a:ext cx="548640" cy="292608"/>
          </a:xfrm>
          <a:prstGeom prst="roundRect">
            <a:avLst>
              <a:gd name="adj" fmla="val 50000"/>
            </a:avLst>
          </a:prstGeom>
          <a:solidFill>
            <a:srgbClr val="E4E0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4A3AA7"/>
                </a:solidFill>
                <a:latin typeface="Segoe UI"/>
              </a:rPr>
              <a:t>E3</a:t>
            </a:r>
          </a:p>
        </p:txBody>
      </p:sp>
      <p:sp>
        <p:nvSpPr>
          <p:cNvPr id="44" name="TextBox 43"/>
          <p:cNvSpPr txBox="1"/>
          <p:nvPr/>
        </p:nvSpPr>
        <p:spPr>
          <a:xfrm>
            <a:off x="9921240" y="3538728"/>
            <a:ext cx="1645920" cy="27432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Plan exploratorio</a:t>
            </a:r>
          </a:p>
        </p:txBody>
      </p:sp>
      <p:sp>
        <p:nvSpPr>
          <p:cNvPr id="45" name="TextBox 44"/>
          <p:cNvSpPr txBox="1"/>
          <p:nvPr/>
        </p:nvSpPr>
        <p:spPr>
          <a:xfrm>
            <a:off x="9235440" y="3977639"/>
            <a:ext cx="2240280" cy="1005840"/>
          </a:xfrm>
          <a:prstGeom prst="rect">
            <a:avLst/>
          </a:prstGeom>
          <a:noFill/>
        </p:spPr>
        <p:txBody>
          <a:bodyPr wrap="square" lIns="0" rIns="0" tIns="0" bIns="0" anchor="t">
            <a:spAutoFit/>
          </a:bodyPr>
          <a:lstStyle/>
          <a:p>
            <a:pPr algn="l">
              <a:lnSpc>
                <a:spcPct val="115000"/>
              </a:lnSpc>
            </a:pPr>
            <a:r>
              <a:rPr sz="1200" b="0" i="0">
                <a:solidFill>
                  <a:srgbClr val="52514E"/>
                </a:solidFill>
                <a:latin typeface="Segoe UI"/>
              </a:rPr>
              <a:t>¿Qué reglas descubre un agente usando la app? ¿Caja negra o blanca?</a:t>
            </a:r>
          </a:p>
        </p:txBody>
      </p:sp>
      <p:sp>
        <p:nvSpPr>
          <p:cNvPr id="46" name="TextBox 45"/>
          <p:cNvSpPr txBox="1"/>
          <p:nvPr/>
        </p:nvSpPr>
        <p:spPr>
          <a:xfrm>
            <a:off x="548640" y="5303520"/>
            <a:ext cx="11064240" cy="822960"/>
          </a:xfrm>
          <a:prstGeom prst="rect">
            <a:avLst/>
          </a:prstGeom>
          <a:noFill/>
        </p:spPr>
        <p:txBody>
          <a:bodyPr wrap="square" lIns="0" rIns="0" tIns="0" bIns="0" anchor="t">
            <a:spAutoFit/>
          </a:bodyPr>
          <a:lstStyle/>
          <a:p>
            <a:pPr algn="l">
              <a:lnSpc>
                <a:spcPct val="120000"/>
              </a:lnSpc>
            </a:pPr>
            <a:r>
              <a:rPr sz="1300" b="1" i="0">
                <a:solidFill>
                  <a:srgbClr val="0B0B0B"/>
                </a:solidFill>
                <a:latin typeface="Segoe UI"/>
              </a:rPr>
              <a:t>Sesión 1: </a:t>
            </a:r>
            <a:r>
              <a:rPr sz="1300" b="0" i="0">
                <a:solidFill>
                  <a:srgbClr val="52514E"/>
                </a:solidFill>
                <a:latin typeface="Segoe UI"/>
              </a:rPr>
              <a:t>E1 y E4, auditar defectuosa.html.   </a:t>
            </a:r>
            <a:r>
              <a:rPr sz="1300" b="1" i="0">
                <a:solidFill>
                  <a:srgbClr val="0B0B0B"/>
                </a:solidFill>
                <a:latin typeface="Segoe UI"/>
              </a:rPr>
              <a:t>Sesión 2: </a:t>
            </a:r>
            <a:r>
              <a:rPr sz="1300" b="0" i="0">
                <a:solidFill>
                  <a:srgbClr val="52514E"/>
                </a:solidFill>
                <a:latin typeface="Segoe UI"/>
              </a:rPr>
              <a:t>E2 y E3, generar pruebas y diseñar un plan.   </a:t>
            </a:r>
            <a:r>
              <a:rPr sz="1300" b="1" i="0">
                <a:solidFill>
                  <a:srgbClr val="4A3AA7"/>
                </a:solidFill>
                <a:latin typeface="Segoe UI"/>
              </a:rPr>
              <a:t>No suma puntos en la rúbrica.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6 · LA TRAMPA QUE INVALIDA EL EXPERIMENTO</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Si la IA puede ver las respuestas, no las encuentra: las copia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19</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572768"/>
            <a:ext cx="4114800" cy="274320"/>
          </a:xfrm>
          <a:prstGeom prst="rect">
            <a:avLst/>
          </a:prstGeom>
          <a:noFill/>
        </p:spPr>
        <p:txBody>
          <a:bodyPr wrap="square" lIns="0" rIns="0" tIns="0" bIns="0" anchor="t">
            <a:spAutoFit/>
          </a:bodyPr>
          <a:lstStyle/>
          <a:p>
            <a:pPr algn="l">
              <a:lnSpc>
                <a:spcPct val="110000"/>
              </a:lnSpc>
            </a:pPr>
            <a:r>
              <a:rPr sz="1100" b="1" i="0" spc="100">
                <a:solidFill>
                  <a:srgbClr val="898781"/>
                </a:solidFill>
                <a:latin typeface="Segoe UI"/>
              </a:rPr>
              <a:t>DÓNDE ESTÁN LAS RESPUESTAS</a:t>
            </a:r>
          </a:p>
        </p:txBody>
      </p:sp>
      <p:sp>
        <p:nvSpPr>
          <p:cNvPr id="7" name="TextBox 6"/>
          <p:cNvSpPr txBox="1"/>
          <p:nvPr/>
        </p:nvSpPr>
        <p:spPr>
          <a:xfrm>
            <a:off x="4892040" y="1572768"/>
            <a:ext cx="1371600" cy="274320"/>
          </a:xfrm>
          <a:prstGeom prst="rect">
            <a:avLst/>
          </a:prstGeom>
          <a:noFill/>
        </p:spPr>
        <p:txBody>
          <a:bodyPr wrap="square" lIns="0" rIns="0" tIns="0" bIns="0" anchor="t">
            <a:spAutoFit/>
          </a:bodyPr>
          <a:lstStyle/>
          <a:p>
            <a:pPr algn="l">
              <a:lnSpc>
                <a:spcPct val="110000"/>
              </a:lnSpc>
            </a:pPr>
            <a:r>
              <a:rPr sz="1100" b="1" i="0" spc="100">
                <a:solidFill>
                  <a:srgbClr val="898781"/>
                </a:solidFill>
                <a:latin typeface="Segoe UI"/>
              </a:rPr>
              <a:t>ARRUINA</a:t>
            </a:r>
          </a:p>
        </p:txBody>
      </p:sp>
      <p:sp>
        <p:nvSpPr>
          <p:cNvPr id="8" name="TextBox 7"/>
          <p:cNvSpPr txBox="1"/>
          <p:nvPr/>
        </p:nvSpPr>
        <p:spPr>
          <a:xfrm>
            <a:off x="6492240" y="1572768"/>
            <a:ext cx="5120640" cy="274320"/>
          </a:xfrm>
          <a:prstGeom prst="rect">
            <a:avLst/>
          </a:prstGeom>
          <a:noFill/>
        </p:spPr>
        <p:txBody>
          <a:bodyPr wrap="square" lIns="0" rIns="0" tIns="0" bIns="0" anchor="t">
            <a:spAutoFit/>
          </a:bodyPr>
          <a:lstStyle/>
          <a:p>
            <a:pPr algn="l">
              <a:lnSpc>
                <a:spcPct val="110000"/>
              </a:lnSpc>
            </a:pPr>
            <a:r>
              <a:rPr sz="1100" b="1" i="0" spc="100">
                <a:solidFill>
                  <a:srgbClr val="898781"/>
                </a:solidFill>
                <a:latin typeface="Segoe UI"/>
              </a:rPr>
              <a:t>CÓMO SE EVITA</a:t>
            </a:r>
          </a:p>
        </p:txBody>
      </p:sp>
      <p:sp>
        <p:nvSpPr>
          <p:cNvPr id="9" name="Rounded Rectangle 8"/>
          <p:cNvSpPr/>
          <p:nvPr/>
        </p:nvSpPr>
        <p:spPr>
          <a:xfrm>
            <a:off x="548640" y="1920240"/>
            <a:ext cx="11109960" cy="96012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0" name="TextBox 9"/>
          <p:cNvSpPr txBox="1"/>
          <p:nvPr/>
        </p:nvSpPr>
        <p:spPr>
          <a:xfrm>
            <a:off x="777240" y="2057400"/>
            <a:ext cx="3931920" cy="731520"/>
          </a:xfrm>
          <a:prstGeom prst="rect">
            <a:avLst/>
          </a:prstGeom>
          <a:noFill/>
        </p:spPr>
        <p:txBody>
          <a:bodyPr wrap="square" lIns="0" rIns="0" tIns="0" bIns="0" anchor="ctr">
            <a:spAutoFit/>
          </a:bodyPr>
          <a:lstStyle/>
          <a:p>
            <a:pPr algn="l">
              <a:lnSpc>
                <a:spcPct val="115000"/>
              </a:lnSpc>
            </a:pPr>
            <a:r>
              <a:rPr sz="1400" b="1" i="0">
                <a:solidFill>
                  <a:srgbClr val="0B0B0B"/>
                </a:solidFill>
                <a:latin typeface="Segoe UI"/>
              </a:rPr>
              <a:t>Los comentarios de defectuosa.html y el módulo 3B</a:t>
            </a:r>
          </a:p>
        </p:txBody>
      </p:sp>
      <p:sp>
        <p:nvSpPr>
          <p:cNvPr id="11" name="Rounded Rectangle 10"/>
          <p:cNvSpPr/>
          <p:nvPr/>
        </p:nvSpPr>
        <p:spPr>
          <a:xfrm>
            <a:off x="4892040" y="2249424"/>
            <a:ext cx="1097280" cy="292608"/>
          </a:xfrm>
          <a:prstGeom prst="roundRect">
            <a:avLst>
              <a:gd name="adj" fmla="val 50000"/>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D03B3B"/>
                </a:solidFill>
                <a:latin typeface="Segoe UI"/>
              </a:rPr>
              <a:t>E1 · E4</a:t>
            </a:r>
          </a:p>
        </p:txBody>
      </p:sp>
      <p:sp>
        <p:nvSpPr>
          <p:cNvPr id="12" name="TextBox 11"/>
          <p:cNvSpPr txBox="1"/>
          <p:nvPr/>
        </p:nvSpPr>
        <p:spPr>
          <a:xfrm>
            <a:off x="6492240" y="2075688"/>
            <a:ext cx="5029200" cy="365760"/>
          </a:xfrm>
          <a:prstGeom prst="rect">
            <a:avLst/>
          </a:prstGeom>
          <a:noFill/>
        </p:spPr>
        <p:txBody>
          <a:bodyPr wrap="square" lIns="0" rIns="0" tIns="0" bIns="0" anchor="t">
            <a:spAutoFit/>
          </a:bodyPr>
          <a:lstStyle/>
          <a:p>
            <a:pPr algn="l">
              <a:lnSpc>
                <a:spcPct val="110000"/>
              </a:lnSpc>
            </a:pPr>
            <a:r>
              <a:rPr sz="1300" b="1" i="0">
                <a:solidFill>
                  <a:srgbClr val="4A3AA7"/>
                </a:solidFill>
                <a:latin typeface="Consolas"/>
              </a:rPr>
              <a:t>npm run ia:preparar</a:t>
            </a:r>
          </a:p>
        </p:txBody>
      </p:sp>
      <p:sp>
        <p:nvSpPr>
          <p:cNvPr id="13" name="TextBox 12"/>
          <p:cNvSpPr txBox="1"/>
          <p:nvPr/>
        </p:nvSpPr>
        <p:spPr>
          <a:xfrm>
            <a:off x="6492240" y="2423160"/>
            <a:ext cx="5029200" cy="36576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copia sin comentarios, fuera del repositorio</a:t>
            </a:r>
          </a:p>
        </p:txBody>
      </p:sp>
      <p:sp>
        <p:nvSpPr>
          <p:cNvPr id="14" name="Rounded Rectangle 13"/>
          <p:cNvSpPr/>
          <p:nvPr/>
        </p:nvSpPr>
        <p:spPr>
          <a:xfrm>
            <a:off x="548640" y="3063240"/>
            <a:ext cx="11109960" cy="96012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5" name="TextBox 14"/>
          <p:cNvSpPr txBox="1"/>
          <p:nvPr/>
        </p:nvSpPr>
        <p:spPr>
          <a:xfrm>
            <a:off x="777240" y="3200400"/>
            <a:ext cx="3931920" cy="731520"/>
          </a:xfrm>
          <a:prstGeom prst="rect">
            <a:avLst/>
          </a:prstGeom>
          <a:noFill/>
        </p:spPr>
        <p:txBody>
          <a:bodyPr wrap="square" lIns="0" rIns="0" tIns="0" bIns="0" anchor="ctr">
            <a:spAutoFit/>
          </a:bodyPr>
          <a:lstStyle/>
          <a:p>
            <a:pPr algn="l">
              <a:lnSpc>
                <a:spcPct val="115000"/>
              </a:lnSpc>
            </a:pPr>
            <a:r>
              <a:rPr sz="1400" b="1" i="0">
                <a:solidFill>
                  <a:srgbClr val="0B0B0B"/>
                </a:solidFill>
                <a:latin typeface="Segoe UI"/>
              </a:rPr>
              <a:t>Las pruebas de los módulos 1 y 2</a:t>
            </a:r>
          </a:p>
        </p:txBody>
      </p:sp>
      <p:sp>
        <p:nvSpPr>
          <p:cNvPr id="16" name="Rounded Rectangle 15"/>
          <p:cNvSpPr/>
          <p:nvPr/>
        </p:nvSpPr>
        <p:spPr>
          <a:xfrm>
            <a:off x="4892040" y="3392424"/>
            <a:ext cx="1097280" cy="292608"/>
          </a:xfrm>
          <a:prstGeom prst="roundRect">
            <a:avLst>
              <a:gd name="adj" fmla="val 50000"/>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D03B3B"/>
                </a:solidFill>
                <a:latin typeface="Segoe UI"/>
              </a:rPr>
              <a:t>E2</a:t>
            </a:r>
          </a:p>
        </p:txBody>
      </p:sp>
      <p:sp>
        <p:nvSpPr>
          <p:cNvPr id="17" name="TextBox 16"/>
          <p:cNvSpPr txBox="1"/>
          <p:nvPr/>
        </p:nvSpPr>
        <p:spPr>
          <a:xfrm>
            <a:off x="6492240" y="3218688"/>
            <a:ext cx="5029200" cy="365760"/>
          </a:xfrm>
          <a:prstGeom prst="rect">
            <a:avLst/>
          </a:prstGeom>
          <a:noFill/>
        </p:spPr>
        <p:txBody>
          <a:bodyPr wrap="square" lIns="0" rIns="0" tIns="0" bIns="0" anchor="t">
            <a:spAutoFit/>
          </a:bodyPr>
          <a:lstStyle/>
          <a:p>
            <a:pPr algn="l">
              <a:lnSpc>
                <a:spcPct val="110000"/>
              </a:lnSpc>
            </a:pPr>
            <a:r>
              <a:rPr sz="1300" b="1" i="0">
                <a:solidFill>
                  <a:srgbClr val="4A3AA7"/>
                </a:solidFill>
                <a:latin typeface="Consolas"/>
              </a:rPr>
              <a:t>npm run ia:preparar-generacion</a:t>
            </a:r>
          </a:p>
        </p:txBody>
      </p:sp>
      <p:sp>
        <p:nvSpPr>
          <p:cNvPr id="18" name="TextBox 17"/>
          <p:cNvSpPr txBox="1"/>
          <p:nvPr/>
        </p:nvSpPr>
        <p:spPr>
          <a:xfrm>
            <a:off x="6492240" y="3566160"/>
            <a:ext cx="5029200" cy="36576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una carpeta sin pruebas</a:t>
            </a:r>
          </a:p>
        </p:txBody>
      </p:sp>
      <p:sp>
        <p:nvSpPr>
          <p:cNvPr id="19" name="Rounded Rectangle 18"/>
          <p:cNvSpPr/>
          <p:nvPr/>
        </p:nvSpPr>
        <p:spPr>
          <a:xfrm>
            <a:off x="548640" y="4206240"/>
            <a:ext cx="11109960" cy="960120"/>
          </a:xfrm>
          <a:prstGeom prst="roundRect">
            <a:avLst>
              <a:gd name="adj" fmla="val 5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0" name="TextBox 19"/>
          <p:cNvSpPr txBox="1"/>
          <p:nvPr/>
        </p:nvSpPr>
        <p:spPr>
          <a:xfrm>
            <a:off x="777240" y="4343400"/>
            <a:ext cx="3931920" cy="731520"/>
          </a:xfrm>
          <a:prstGeom prst="rect">
            <a:avLst/>
          </a:prstGeom>
          <a:noFill/>
        </p:spPr>
        <p:txBody>
          <a:bodyPr wrap="square" lIns="0" rIns="0" tIns="0" bIns="0" anchor="ctr">
            <a:spAutoFit/>
          </a:bodyPr>
          <a:lstStyle/>
          <a:p>
            <a:pPr algn="l">
              <a:lnSpc>
                <a:spcPct val="115000"/>
              </a:lnSpc>
            </a:pPr>
            <a:r>
              <a:rPr sz="1400" b="1" i="0">
                <a:solidFill>
                  <a:srgbClr val="0B0B0B"/>
                </a:solidFill>
                <a:latin typeface="Segoe UI"/>
              </a:rPr>
              <a:t>El README y las pruebas del taller</a:t>
            </a:r>
          </a:p>
        </p:txBody>
      </p:sp>
      <p:sp>
        <p:nvSpPr>
          <p:cNvPr id="21" name="Rounded Rectangle 20"/>
          <p:cNvSpPr/>
          <p:nvPr/>
        </p:nvSpPr>
        <p:spPr>
          <a:xfrm>
            <a:off x="4892040" y="4535424"/>
            <a:ext cx="1097280" cy="292608"/>
          </a:xfrm>
          <a:prstGeom prst="roundRect">
            <a:avLst>
              <a:gd name="adj" fmla="val 50000"/>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D03B3B"/>
                </a:solidFill>
                <a:latin typeface="Segoe UI"/>
              </a:rPr>
              <a:t>E3</a:t>
            </a:r>
          </a:p>
        </p:txBody>
      </p:sp>
      <p:sp>
        <p:nvSpPr>
          <p:cNvPr id="22" name="TextBox 21"/>
          <p:cNvSpPr txBox="1"/>
          <p:nvPr/>
        </p:nvSpPr>
        <p:spPr>
          <a:xfrm>
            <a:off x="6492240" y="4361688"/>
            <a:ext cx="5029200" cy="365760"/>
          </a:xfrm>
          <a:prstGeom prst="rect">
            <a:avLst/>
          </a:prstGeom>
          <a:noFill/>
        </p:spPr>
        <p:txBody>
          <a:bodyPr wrap="square" lIns="0" rIns="0" tIns="0" bIns="0" anchor="t">
            <a:spAutoFit/>
          </a:bodyPr>
          <a:lstStyle/>
          <a:p>
            <a:pPr algn="l">
              <a:lnSpc>
                <a:spcPct val="110000"/>
              </a:lnSpc>
            </a:pPr>
            <a:r>
              <a:rPr sz="1300" b="1" i="0">
                <a:solidFill>
                  <a:srgbClr val="4A3AA7"/>
                </a:solidFill>
                <a:latin typeface="Segoe UI"/>
              </a:rPr>
              <a:t>caja negra: carpeta vacía</a:t>
            </a:r>
          </a:p>
        </p:txBody>
      </p:sp>
      <p:sp>
        <p:nvSpPr>
          <p:cNvPr id="23" name="TextBox 22"/>
          <p:cNvSpPr txBox="1"/>
          <p:nvPr/>
        </p:nvSpPr>
        <p:spPr>
          <a:xfrm>
            <a:off x="6492240" y="4709159"/>
            <a:ext cx="5029200" cy="36576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caja blanca: solo registraduria/</a:t>
            </a:r>
          </a:p>
        </p:txBody>
      </p:sp>
      <p:sp>
        <p:nvSpPr>
          <p:cNvPr id="24" name="TextBox 23"/>
          <p:cNvSpPr txBox="1"/>
          <p:nvPr/>
        </p:nvSpPr>
        <p:spPr>
          <a:xfrm>
            <a:off x="548640" y="5486400"/>
            <a:ext cx="11064240" cy="731520"/>
          </a:xfrm>
          <a:prstGeom prst="rect">
            <a:avLst/>
          </a:prstGeom>
          <a:noFill/>
        </p:spPr>
        <p:txBody>
          <a:bodyPr wrap="square" lIns="0" rIns="0" tIns="0" bIns="0" anchor="t">
            <a:spAutoFit/>
          </a:bodyPr>
          <a:lstStyle/>
          <a:p>
            <a:pPr algn="l">
              <a:lnSpc>
                <a:spcPct val="120000"/>
              </a:lnSpc>
            </a:pPr>
            <a:r>
              <a:rPr sz="1400" b="0" i="0">
                <a:solidFill>
                  <a:srgbClr val="52514E"/>
                </a:solidFill>
                <a:latin typeface="Segoe UI"/>
              </a:rPr>
              <a:t>En aprendizaje automático esto tiene nombre: evaluar un modelo con datos que ya vio. El resultado siempre sale espectacular y nunca significa nada.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MÓDULO 6 · E2, SABOTAJES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Que una prueba pase no dice si protege</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20</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6" name="TextBox 5"/>
          <p:cNvSpPr txBox="1"/>
          <p:nvPr/>
        </p:nvSpPr>
        <p:spPr>
          <a:xfrm>
            <a:off x="548640" y="1298448"/>
            <a:ext cx="5440680" cy="594360"/>
          </a:xfrm>
          <a:prstGeom prst="rect">
            <a:avLst/>
          </a:prstGeom>
          <a:noFill/>
        </p:spPr>
        <p:txBody>
          <a:bodyPr wrap="square" lIns="0" rIns="0" tIns="0" bIns="0" anchor="t">
            <a:spAutoFit/>
          </a:bodyPr>
          <a:lstStyle/>
          <a:p>
            <a:pPr algn="l">
              <a:lnSpc>
                <a:spcPct val="115000"/>
              </a:lnSpc>
            </a:pPr>
            <a:r>
              <a:rPr sz="1200" b="1" i="0">
                <a:solidFill>
                  <a:srgbClr val="0B0B0B"/>
                </a:solidFill>
                <a:latin typeface="Segoe UI"/>
              </a:rPr>
              <a:t>Es la idea de las pruebas de mutación: </a:t>
            </a:r>
            <a:r>
              <a:rPr sz="1200" b="0" i="0">
                <a:solidFill>
                  <a:srgbClr val="52514E"/>
                </a:solidFill>
                <a:latin typeface="Segoe UI"/>
              </a:rPr>
              <a:t>un proxy se pone delante de la Registraduría y altera sus respuestas para meter un defecto a la vez. Si alguna prueba falla, lo detectó.</a:t>
            </a:r>
          </a:p>
        </p:txBody>
      </p:sp>
      <p:sp>
        <p:nvSpPr>
          <p:cNvPr id="7" name="TextBox 6"/>
          <p:cNvSpPr txBox="1"/>
          <p:nvPr/>
        </p:nvSpPr>
        <p:spPr>
          <a:xfrm>
            <a:off x="6172200" y="1691640"/>
            <a:ext cx="2103120" cy="320040"/>
          </a:xfrm>
          <a:prstGeom prst="rect">
            <a:avLst/>
          </a:prstGeom>
          <a:noFill/>
        </p:spPr>
        <p:txBody>
          <a:bodyPr wrap="square" lIns="0" rIns="0" tIns="0" bIns="0" anchor="t">
            <a:spAutoFit/>
          </a:bodyPr>
          <a:lstStyle/>
          <a:p>
            <a:pPr algn="ctr">
              <a:lnSpc>
                <a:spcPct val="110000"/>
              </a:lnSpc>
            </a:pPr>
            <a:r>
              <a:rPr sz="1300" b="1" i="0">
                <a:solidFill>
                  <a:srgbClr val="0B0B0B"/>
                </a:solidFill>
                <a:latin typeface="Segoe UI"/>
              </a:rPr>
              <a:t>Suite del taller</a:t>
            </a:r>
          </a:p>
        </p:txBody>
      </p:sp>
      <p:sp>
        <p:nvSpPr>
          <p:cNvPr id="8" name="TextBox 7"/>
          <p:cNvSpPr txBox="1"/>
          <p:nvPr/>
        </p:nvSpPr>
        <p:spPr>
          <a:xfrm>
            <a:off x="8321040" y="1691640"/>
            <a:ext cx="2103120" cy="320040"/>
          </a:xfrm>
          <a:prstGeom prst="rect">
            <a:avLst/>
          </a:prstGeom>
          <a:noFill/>
        </p:spPr>
        <p:txBody>
          <a:bodyPr wrap="square" lIns="0" rIns="0" tIns="0" bIns="0" anchor="t">
            <a:spAutoFit/>
          </a:bodyPr>
          <a:lstStyle/>
          <a:p>
            <a:pPr algn="ctr">
              <a:lnSpc>
                <a:spcPct val="110000"/>
              </a:lnSpc>
            </a:pPr>
            <a:r>
              <a:rPr sz="1200" b="1" i="0">
                <a:solidFill>
                  <a:srgbClr val="0B0B0B"/>
                </a:solidFill>
                <a:latin typeface="Segoe UI"/>
              </a:rPr>
              <a:t>Ejemplo con defectos típicos</a:t>
            </a:r>
          </a:p>
        </p:txBody>
      </p:sp>
      <p:sp>
        <p:nvSpPr>
          <p:cNvPr id="9" name="Rounded Rectangle 8"/>
          <p:cNvSpPr/>
          <p:nvPr/>
        </p:nvSpPr>
        <p:spPr>
          <a:xfrm>
            <a:off x="548640" y="2093976"/>
            <a:ext cx="10058400" cy="475488"/>
          </a:xfrm>
          <a:prstGeom prst="roundRect">
            <a:avLst>
              <a:gd name="adj" fmla="val 10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0" name="TextBox 9"/>
          <p:cNvSpPr txBox="1"/>
          <p:nvPr/>
        </p:nvSpPr>
        <p:spPr>
          <a:xfrm>
            <a:off x="731520" y="2194560"/>
            <a:ext cx="5303520" cy="320040"/>
          </a:xfrm>
          <a:prstGeom prst="rect">
            <a:avLst/>
          </a:prstGeom>
          <a:noFill/>
        </p:spPr>
        <p:txBody>
          <a:bodyPr wrap="square" lIns="0" rIns="0" tIns="0" bIns="0" anchor="t">
            <a:spAutoFit/>
          </a:bodyPr>
          <a:lstStyle/>
          <a:p>
            <a:pPr algn="l">
              <a:lnSpc>
                <a:spcPct val="110000"/>
              </a:lnSpc>
            </a:pPr>
            <a:r>
              <a:rPr sz="1400" b="0" i="0">
                <a:solidFill>
                  <a:srgbClr val="0B0B0B"/>
                </a:solidFill>
                <a:latin typeface="Segoe UI"/>
              </a:rPr>
              <a:t>S1 · Se inscriben menores de edad</a:t>
            </a:r>
          </a:p>
        </p:txBody>
      </p:sp>
      <p:sp>
        <p:nvSpPr>
          <p:cNvPr id="11" name="Rounded Rectangle 10"/>
          <p:cNvSpPr/>
          <p:nvPr/>
        </p:nvSpPr>
        <p:spPr>
          <a:xfrm>
            <a:off x="6510528" y="2185416"/>
            <a:ext cx="141732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Detectado</a:t>
            </a:r>
          </a:p>
        </p:txBody>
      </p:sp>
      <p:sp>
        <p:nvSpPr>
          <p:cNvPr id="12" name="Rounded Rectangle 11"/>
          <p:cNvSpPr/>
          <p:nvPr/>
        </p:nvSpPr>
        <p:spPr>
          <a:xfrm>
            <a:off x="8659367" y="2185416"/>
            <a:ext cx="141732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Detectado</a:t>
            </a:r>
          </a:p>
        </p:txBody>
      </p:sp>
      <p:sp>
        <p:nvSpPr>
          <p:cNvPr id="13" name="TextBox 12"/>
          <p:cNvSpPr txBox="1"/>
          <p:nvPr/>
        </p:nvSpPr>
        <p:spPr>
          <a:xfrm>
            <a:off x="731520" y="2697480"/>
            <a:ext cx="5303520" cy="320040"/>
          </a:xfrm>
          <a:prstGeom prst="rect">
            <a:avLst/>
          </a:prstGeom>
          <a:noFill/>
        </p:spPr>
        <p:txBody>
          <a:bodyPr wrap="square" lIns="0" rIns="0" tIns="0" bIns="0" anchor="t">
            <a:spAutoFit/>
          </a:bodyPr>
          <a:lstStyle/>
          <a:p>
            <a:pPr algn="l">
              <a:lnSpc>
                <a:spcPct val="110000"/>
              </a:lnSpc>
            </a:pPr>
            <a:r>
              <a:rPr sz="1400" b="0" i="0">
                <a:solidFill>
                  <a:srgbClr val="0B0B0B"/>
                </a:solidFill>
                <a:latin typeface="Segoe UI"/>
              </a:rPr>
              <a:t>S2 · Se aceptan documentos repetidos</a:t>
            </a:r>
          </a:p>
        </p:txBody>
      </p:sp>
      <p:sp>
        <p:nvSpPr>
          <p:cNvPr id="14" name="Rounded Rectangle 13"/>
          <p:cNvSpPr/>
          <p:nvPr/>
        </p:nvSpPr>
        <p:spPr>
          <a:xfrm>
            <a:off x="6510528" y="2688336"/>
            <a:ext cx="141732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Detectado</a:t>
            </a:r>
          </a:p>
        </p:txBody>
      </p:sp>
      <p:sp>
        <p:nvSpPr>
          <p:cNvPr id="15" name="Rounded Rectangle 14"/>
          <p:cNvSpPr/>
          <p:nvPr/>
        </p:nvSpPr>
        <p:spPr>
          <a:xfrm>
            <a:off x="8659367" y="2688336"/>
            <a:ext cx="141732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Detectado</a:t>
            </a:r>
          </a:p>
        </p:txBody>
      </p:sp>
      <p:sp>
        <p:nvSpPr>
          <p:cNvPr id="16" name="Rounded Rectangle 15"/>
          <p:cNvSpPr/>
          <p:nvPr/>
        </p:nvSpPr>
        <p:spPr>
          <a:xfrm>
            <a:off x="548640" y="3099816"/>
            <a:ext cx="10058400" cy="475488"/>
          </a:xfrm>
          <a:prstGeom prst="roundRect">
            <a:avLst>
              <a:gd name="adj" fmla="val 10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7" name="TextBox 16"/>
          <p:cNvSpPr txBox="1"/>
          <p:nvPr/>
        </p:nvSpPr>
        <p:spPr>
          <a:xfrm>
            <a:off x="731520" y="3200400"/>
            <a:ext cx="5303520" cy="320040"/>
          </a:xfrm>
          <a:prstGeom prst="rect">
            <a:avLst/>
          </a:prstGeom>
          <a:noFill/>
        </p:spPr>
        <p:txBody>
          <a:bodyPr wrap="square" lIns="0" rIns="0" tIns="0" bIns="0" anchor="t">
            <a:spAutoFit/>
          </a:bodyPr>
          <a:lstStyle/>
          <a:p>
            <a:pPr algn="l">
              <a:lnSpc>
                <a:spcPct val="110000"/>
              </a:lnSpc>
            </a:pPr>
            <a:r>
              <a:rPr sz="1400" b="0" i="0">
                <a:solidFill>
                  <a:srgbClr val="0B0B0B"/>
                </a:solidFill>
                <a:latin typeface="Segoe UI"/>
              </a:rPr>
              <a:t>S3 · Se inscriben personas fallecidas</a:t>
            </a:r>
          </a:p>
        </p:txBody>
      </p:sp>
      <p:sp>
        <p:nvSpPr>
          <p:cNvPr id="18" name="Rounded Rectangle 17"/>
          <p:cNvSpPr/>
          <p:nvPr/>
        </p:nvSpPr>
        <p:spPr>
          <a:xfrm>
            <a:off x="6510528" y="3191256"/>
            <a:ext cx="141732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Detectado</a:t>
            </a:r>
          </a:p>
        </p:txBody>
      </p:sp>
      <p:sp>
        <p:nvSpPr>
          <p:cNvPr id="19" name="Rounded Rectangle 18"/>
          <p:cNvSpPr/>
          <p:nvPr/>
        </p:nvSpPr>
        <p:spPr>
          <a:xfrm>
            <a:off x="8659367" y="3191256"/>
            <a:ext cx="1417320" cy="292608"/>
          </a:xfrm>
          <a:prstGeom prst="roundRect">
            <a:avLst>
              <a:gd name="adj" fmla="val 50000"/>
            </a:avLst>
          </a:prstGeom>
          <a:solidFill>
            <a:srgbClr val="FDEC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7A5600"/>
                </a:solidFill>
                <a:latin typeface="Segoe UI"/>
              </a:rPr>
              <a:t>No ejercitado</a:t>
            </a:r>
          </a:p>
        </p:txBody>
      </p:sp>
      <p:sp>
        <p:nvSpPr>
          <p:cNvPr id="20" name="TextBox 19"/>
          <p:cNvSpPr txBox="1"/>
          <p:nvPr/>
        </p:nvSpPr>
        <p:spPr>
          <a:xfrm>
            <a:off x="731520" y="3703320"/>
            <a:ext cx="5303520" cy="320040"/>
          </a:xfrm>
          <a:prstGeom prst="rect">
            <a:avLst/>
          </a:prstGeom>
          <a:noFill/>
        </p:spPr>
        <p:txBody>
          <a:bodyPr wrap="square" lIns="0" rIns="0" tIns="0" bIns="0" anchor="t">
            <a:spAutoFit/>
          </a:bodyPr>
          <a:lstStyle/>
          <a:p>
            <a:pPr algn="l">
              <a:lnSpc>
                <a:spcPct val="110000"/>
              </a:lnSpc>
            </a:pPr>
            <a:r>
              <a:rPr sz="1400" b="0" i="0">
                <a:solidFill>
                  <a:srgbClr val="0B0B0B"/>
                </a:solidFill>
                <a:latin typeface="Segoe UI"/>
              </a:rPr>
              <a:t>S4 · La API acepta edades imposibles</a:t>
            </a:r>
          </a:p>
        </p:txBody>
      </p:sp>
      <p:sp>
        <p:nvSpPr>
          <p:cNvPr id="21" name="Rounded Rectangle 20"/>
          <p:cNvSpPr/>
          <p:nvPr/>
        </p:nvSpPr>
        <p:spPr>
          <a:xfrm>
            <a:off x="6510528" y="3694176"/>
            <a:ext cx="141732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Detectado</a:t>
            </a:r>
          </a:p>
        </p:txBody>
      </p:sp>
      <p:sp>
        <p:nvSpPr>
          <p:cNvPr id="22" name="Rounded Rectangle 21"/>
          <p:cNvSpPr/>
          <p:nvPr/>
        </p:nvSpPr>
        <p:spPr>
          <a:xfrm>
            <a:off x="8659367" y="3694176"/>
            <a:ext cx="1417320" cy="292608"/>
          </a:xfrm>
          <a:prstGeom prst="roundRect">
            <a:avLst>
              <a:gd name="adj" fmla="val 50000"/>
            </a:avLst>
          </a:prstGeom>
          <a:solidFill>
            <a:srgbClr val="FDEC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7A5600"/>
                </a:solidFill>
                <a:latin typeface="Segoe UI"/>
              </a:rPr>
              <a:t>No ejercitado</a:t>
            </a:r>
          </a:p>
        </p:txBody>
      </p:sp>
      <p:sp>
        <p:nvSpPr>
          <p:cNvPr id="23" name="Rounded Rectangle 22"/>
          <p:cNvSpPr/>
          <p:nvPr/>
        </p:nvSpPr>
        <p:spPr>
          <a:xfrm>
            <a:off x="548640" y="4105656"/>
            <a:ext cx="10058400" cy="475488"/>
          </a:xfrm>
          <a:prstGeom prst="roundRect">
            <a:avLst>
              <a:gd name="adj" fmla="val 10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24" name="TextBox 23"/>
          <p:cNvSpPr txBox="1"/>
          <p:nvPr/>
        </p:nvSpPr>
        <p:spPr>
          <a:xfrm>
            <a:off x="731520" y="4206240"/>
            <a:ext cx="5303520" cy="320040"/>
          </a:xfrm>
          <a:prstGeom prst="rect">
            <a:avLst/>
          </a:prstGeom>
          <a:noFill/>
        </p:spPr>
        <p:txBody>
          <a:bodyPr wrap="square" lIns="0" rIns="0" tIns="0" bIns="0" anchor="t">
            <a:spAutoFit/>
          </a:bodyPr>
          <a:lstStyle/>
          <a:p>
            <a:pPr algn="l">
              <a:lnSpc>
                <a:spcPct val="110000"/>
              </a:lnSpc>
            </a:pPr>
            <a:r>
              <a:rPr sz="1400" b="0" i="0">
                <a:solidFill>
                  <a:srgbClr val="0B0B0B"/>
                </a:solidFill>
                <a:latin typeface="Segoe UI"/>
              </a:rPr>
              <a:t>S5 · Desaparece la validación del navegador</a:t>
            </a:r>
          </a:p>
        </p:txBody>
      </p:sp>
      <p:sp>
        <p:nvSpPr>
          <p:cNvPr id="25" name="Rounded Rectangle 24"/>
          <p:cNvSpPr/>
          <p:nvPr/>
        </p:nvSpPr>
        <p:spPr>
          <a:xfrm>
            <a:off x="6510528" y="4197096"/>
            <a:ext cx="141732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Detectado</a:t>
            </a:r>
          </a:p>
        </p:txBody>
      </p:sp>
      <p:sp>
        <p:nvSpPr>
          <p:cNvPr id="26" name="Rounded Rectangle 25"/>
          <p:cNvSpPr/>
          <p:nvPr/>
        </p:nvSpPr>
        <p:spPr>
          <a:xfrm>
            <a:off x="8659367" y="4197096"/>
            <a:ext cx="1417320" cy="292608"/>
          </a:xfrm>
          <a:prstGeom prst="roundRect">
            <a:avLst>
              <a:gd name="adj" fmla="val 50000"/>
            </a:avLst>
          </a:prstGeom>
          <a:solidFill>
            <a:srgbClr val="D7EFD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006300"/>
                </a:solidFill>
                <a:latin typeface="Segoe UI"/>
              </a:rPr>
              <a:t>Detectado</a:t>
            </a:r>
          </a:p>
        </p:txBody>
      </p:sp>
      <p:sp>
        <p:nvSpPr>
          <p:cNvPr id="27" name="TextBox 26"/>
          <p:cNvSpPr txBox="1"/>
          <p:nvPr/>
        </p:nvSpPr>
        <p:spPr>
          <a:xfrm>
            <a:off x="731520" y="4709159"/>
            <a:ext cx="5303520" cy="320040"/>
          </a:xfrm>
          <a:prstGeom prst="rect">
            <a:avLst/>
          </a:prstGeom>
          <a:noFill/>
        </p:spPr>
        <p:txBody>
          <a:bodyPr wrap="square" lIns="0" rIns="0" tIns="0" bIns="0" anchor="t">
            <a:spAutoFit/>
          </a:bodyPr>
          <a:lstStyle/>
          <a:p>
            <a:pPr algn="l">
              <a:lnSpc>
                <a:spcPct val="110000"/>
              </a:lnSpc>
            </a:pPr>
            <a:r>
              <a:rPr sz="1400" b="0" i="0">
                <a:solidFill>
                  <a:srgbClr val="0B0B0B"/>
                </a:solidFill>
                <a:latin typeface="Segoe UI"/>
              </a:rPr>
              <a:t>S6 · El resultado deja de anunciarse</a:t>
            </a:r>
          </a:p>
        </p:txBody>
      </p:sp>
      <p:sp>
        <p:nvSpPr>
          <p:cNvPr id="28" name="Rounded Rectangle 27"/>
          <p:cNvSpPr/>
          <p:nvPr/>
        </p:nvSpPr>
        <p:spPr>
          <a:xfrm>
            <a:off x="6510528" y="4700016"/>
            <a:ext cx="1417320" cy="292608"/>
          </a:xfrm>
          <a:prstGeom prst="roundRect">
            <a:avLst>
              <a:gd name="adj" fmla="val 50000"/>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D03B3B"/>
                </a:solidFill>
                <a:latin typeface="Segoe UI"/>
              </a:rPr>
              <a:t>Sobrevivió</a:t>
            </a:r>
          </a:p>
        </p:txBody>
      </p:sp>
      <p:sp>
        <p:nvSpPr>
          <p:cNvPr id="29" name="Rounded Rectangle 28"/>
          <p:cNvSpPr/>
          <p:nvPr/>
        </p:nvSpPr>
        <p:spPr>
          <a:xfrm>
            <a:off x="8659367" y="4700016"/>
            <a:ext cx="1417320" cy="292608"/>
          </a:xfrm>
          <a:prstGeom prst="roundRect">
            <a:avLst>
              <a:gd name="adj" fmla="val 50000"/>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100" b="1">
                <a:solidFill>
                  <a:srgbClr val="D03B3B"/>
                </a:solidFill>
                <a:latin typeface="Segoe UI"/>
              </a:rPr>
              <a:t>Sobrevivió</a:t>
            </a:r>
          </a:p>
        </p:txBody>
      </p:sp>
      <p:sp>
        <p:nvSpPr>
          <p:cNvPr id="30" name="TextBox 29"/>
          <p:cNvSpPr txBox="1"/>
          <p:nvPr/>
        </p:nvSpPr>
        <p:spPr>
          <a:xfrm>
            <a:off x="6172200" y="5257800"/>
            <a:ext cx="2103120" cy="457200"/>
          </a:xfrm>
          <a:prstGeom prst="rect">
            <a:avLst/>
          </a:prstGeom>
          <a:noFill/>
        </p:spPr>
        <p:txBody>
          <a:bodyPr wrap="square" lIns="0" rIns="0" tIns="0" bIns="0" anchor="t">
            <a:spAutoFit/>
          </a:bodyPr>
          <a:lstStyle/>
          <a:p>
            <a:pPr algn="ctr">
              <a:lnSpc>
                <a:spcPct val="110000"/>
              </a:lnSpc>
            </a:pPr>
            <a:r>
              <a:rPr sz="2400" b="1" i="0">
                <a:solidFill>
                  <a:srgbClr val="006300"/>
                </a:solidFill>
                <a:latin typeface="Segoe UI"/>
              </a:rPr>
              <a:t>5 de 6</a:t>
            </a:r>
          </a:p>
        </p:txBody>
      </p:sp>
      <p:sp>
        <p:nvSpPr>
          <p:cNvPr id="31" name="TextBox 30"/>
          <p:cNvSpPr txBox="1"/>
          <p:nvPr/>
        </p:nvSpPr>
        <p:spPr>
          <a:xfrm>
            <a:off x="8321040" y="5257800"/>
            <a:ext cx="2103120" cy="457200"/>
          </a:xfrm>
          <a:prstGeom prst="rect">
            <a:avLst/>
          </a:prstGeom>
          <a:noFill/>
        </p:spPr>
        <p:txBody>
          <a:bodyPr wrap="square" lIns="0" rIns="0" tIns="0" bIns="0" anchor="t">
            <a:spAutoFit/>
          </a:bodyPr>
          <a:lstStyle/>
          <a:p>
            <a:pPr algn="ctr">
              <a:lnSpc>
                <a:spcPct val="110000"/>
              </a:lnSpc>
            </a:pPr>
            <a:r>
              <a:rPr sz="2400" b="1" i="0">
                <a:solidFill>
                  <a:srgbClr val="D03B3B"/>
                </a:solidFill>
                <a:latin typeface="Segoe UI"/>
              </a:rPr>
              <a:t>3 de 6</a:t>
            </a:r>
          </a:p>
        </p:txBody>
      </p:sp>
      <p:sp>
        <p:nvSpPr>
          <p:cNvPr id="32" name="TextBox 31"/>
          <p:cNvSpPr txBox="1"/>
          <p:nvPr/>
        </p:nvSpPr>
        <p:spPr>
          <a:xfrm>
            <a:off x="731520" y="5303520"/>
            <a:ext cx="5120640" cy="1005840"/>
          </a:xfrm>
          <a:prstGeom prst="rect">
            <a:avLst/>
          </a:prstGeom>
          <a:noFill/>
        </p:spPr>
        <p:txBody>
          <a:bodyPr wrap="square" lIns="0" rIns="0" tIns="0" bIns="0" anchor="t">
            <a:spAutoFit/>
          </a:bodyPr>
          <a:lstStyle/>
          <a:p>
            <a:pPr algn="l">
              <a:lnSpc>
                <a:spcPct val="120000"/>
              </a:lnSpc>
            </a:pPr>
            <a:r>
              <a:rPr sz="1300" b="1" i="0">
                <a:solidFill>
                  <a:srgbClr val="D03B3B"/>
                </a:solidFill>
                <a:latin typeface="Segoe UI"/>
              </a:rPr>
              <a:t>Sobrevivió </a:t>
            </a:r>
            <a:r>
              <a:rPr sz="1300" b="0" i="0">
                <a:solidFill>
                  <a:srgbClr val="52514E"/>
                </a:solidFill>
                <a:latin typeface="Segoe UI"/>
              </a:rPr>
              <a:t>es una aserción débil. </a:t>
            </a:r>
            <a:r>
              <a:rPr sz="1300" b="1" i="0">
                <a:solidFill>
                  <a:srgbClr val="7A5600"/>
                </a:solidFill>
                <a:latin typeface="Segoe UI"/>
              </a:rPr>
              <a:t>No ejercitado </a:t>
            </a:r>
            <a:r>
              <a:rPr sz="1300" b="0" i="0">
                <a:solidFill>
                  <a:srgbClr val="52514E"/>
                </a:solidFill>
                <a:latin typeface="Segoe UI"/>
              </a:rPr>
              <a:t>es un caso que no existe. </a:t>
            </a:r>
            <a:r>
              <a:rPr sz="1300" b="1" i="0">
                <a:solidFill>
                  <a:srgbClr val="0B0B0B"/>
                </a:solidFill>
                <a:latin typeface="Segoe UI"/>
              </a:rPr>
              <a:t>Las dos suites pasan en verde con la aplicación intacta.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HERRAMIENTAS</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Playwright o Selenium: la misma aplicación, dos pistas</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21</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graphicFrame>
        <p:nvGraphicFramePr>
          <p:cNvPr id="6" name="Table 5"/>
          <p:cNvGraphicFramePr>
            <a:graphicFrameLocks noGrp="1"/>
          </p:cNvGraphicFramePr>
          <p:nvPr/>
        </p:nvGraphicFramePr>
        <p:xfrm>
          <a:off x="548640" y="1600200"/>
          <a:ext cx="11091672" cy="3803904"/>
        </p:xfrm>
        <a:graphic>
          <a:graphicData uri="http://schemas.openxmlformats.org/drawingml/2006/table">
            <a:tbl>
              <a:tblPr firstRow="0" bandRow="0">
                <a:tableStyleId>{5C22544A-7EE6-4342-B048-85BDC9FD1C3A}</a:tableStyleId>
              </a:tblPr>
              <a:tblGrid>
                <a:gridCol w="3108960"/>
                <a:gridCol w="3995928"/>
                <a:gridCol w="3986784"/>
              </a:tblGrid>
              <a:tr h="475488">
                <a:tc>
                  <a:txBody>
                    <a:bodyPr/>
                    <a:lstStyle/>
                    <a:p>
                      <a:r>
                        <a:rPr sz="1500" b="1">
                          <a:solidFill>
                            <a:srgbClr val="0B0B0B"/>
                          </a:solidFill>
                          <a:latin typeface="Segoe UI"/>
                        </a:rPr>
                        <a:t/>
                      </a:r>
                    </a:p>
                  </a:txBody>
                  <a:tcPr marL="164592" anchor="ctr">
                    <a:solidFill>
                      <a:srgbClr val="FCFCFB"/>
                    </a:solidFill>
                  </a:tcPr>
                </a:tc>
                <a:tc>
                  <a:txBody>
                    <a:bodyPr/>
                    <a:lstStyle/>
                    <a:p>
                      <a:r>
                        <a:rPr sz="1500" b="1">
                          <a:solidFill>
                            <a:srgbClr val="2A78D6"/>
                          </a:solidFill>
                          <a:latin typeface="Segoe UI"/>
                        </a:rPr>
                        <a:t>Playwright</a:t>
                      </a:r>
                    </a:p>
                  </a:txBody>
                  <a:tcPr marL="164592" anchor="ctr">
                    <a:solidFill>
                      <a:srgbClr val="FCFCFB"/>
                    </a:solidFill>
                  </a:tcPr>
                </a:tc>
                <a:tc>
                  <a:txBody>
                    <a:bodyPr/>
                    <a:lstStyle/>
                    <a:p>
                      <a:r>
                        <a:rPr sz="1500" b="1">
                          <a:solidFill>
                            <a:srgbClr val="0B0B0B"/>
                          </a:solidFill>
                          <a:latin typeface="Segoe UI"/>
                        </a:rPr>
                        <a:t>Selenium</a:t>
                      </a:r>
                    </a:p>
                  </a:txBody>
                  <a:tcPr marL="164592" anchor="ctr">
                    <a:solidFill>
                      <a:srgbClr val="FCFCFB"/>
                    </a:solidFill>
                  </a:tcPr>
                </a:tc>
              </a:tr>
              <a:tr h="475488">
                <a:tc>
                  <a:txBody>
                    <a:bodyPr/>
                    <a:lstStyle/>
                    <a:p>
                      <a:r>
                        <a:rPr sz="1300" b="1">
                          <a:solidFill>
                            <a:srgbClr val="0B0B0B"/>
                          </a:solidFill>
                          <a:latin typeface="Segoe UI"/>
                        </a:rPr>
                        <a:t>Espera automática</a:t>
                      </a:r>
                    </a:p>
                  </a:txBody>
                  <a:tcPr marL="164592" anchor="ctr">
                    <a:solidFill>
                      <a:srgbClr val="FCFCFB"/>
                    </a:solidFill>
                  </a:tcPr>
                </a:tc>
                <a:tc>
                  <a:txBody>
                    <a:bodyPr/>
                    <a:lstStyle/>
                    <a:p>
                      <a:r>
                        <a:rPr sz="1300" b="0">
                          <a:solidFill>
                            <a:srgbClr val="52514E"/>
                          </a:solidFill>
                          <a:latin typeface="Segoe UI"/>
                        </a:rPr>
                        <a:t>Sí</a:t>
                      </a:r>
                    </a:p>
                  </a:txBody>
                  <a:tcPr marL="164592" anchor="ctr">
                    <a:solidFill>
                      <a:srgbClr val="FCFCFB"/>
                    </a:solidFill>
                  </a:tcPr>
                </a:tc>
                <a:tc>
                  <a:txBody>
                    <a:bodyPr/>
                    <a:lstStyle/>
                    <a:p>
                      <a:r>
                        <a:rPr sz="1300" b="0">
                          <a:solidFill>
                            <a:srgbClr val="52514E"/>
                          </a:solidFill>
                          <a:latin typeface="Segoe UI"/>
                        </a:rPr>
                        <a:t>Manual: se pide con WebDriverWait</a:t>
                      </a:r>
                    </a:p>
                  </a:txBody>
                  <a:tcPr marL="164592" anchor="ctr">
                    <a:solidFill>
                      <a:srgbClr val="FCFCFB"/>
                    </a:solidFill>
                  </a:tcPr>
                </a:tc>
              </a:tr>
              <a:tr h="475488">
                <a:tc>
                  <a:txBody>
                    <a:bodyPr/>
                    <a:lstStyle/>
                    <a:p>
                      <a:r>
                        <a:rPr sz="1300" b="1">
                          <a:solidFill>
                            <a:srgbClr val="0B0B0B"/>
                          </a:solidFill>
                          <a:latin typeface="Segoe UI"/>
                        </a:rPr>
                        <a:t>Levanta la aplicación</a:t>
                      </a:r>
                    </a:p>
                  </a:txBody>
                  <a:tcPr marL="164592" anchor="ctr">
                    <a:solidFill>
                      <a:srgbClr val="F3F2EE"/>
                    </a:solidFill>
                  </a:tcPr>
                </a:tc>
                <a:tc>
                  <a:txBody>
                    <a:bodyPr/>
                    <a:lstStyle/>
                    <a:p>
                      <a:r>
                        <a:rPr sz="1300" b="0">
                          <a:solidFill>
                            <a:srgbClr val="52514E"/>
                          </a:solidFill>
                          <a:latin typeface="Segoe UI"/>
                        </a:rPr>
                        <a:t>Sí, con webServer en la configuración</a:t>
                      </a:r>
                    </a:p>
                  </a:txBody>
                  <a:tcPr marL="164592" anchor="ctr">
                    <a:solidFill>
                      <a:srgbClr val="F3F2EE"/>
                    </a:solidFill>
                  </a:tcPr>
                </a:tc>
                <a:tc>
                  <a:txBody>
                    <a:bodyPr/>
                    <a:lstStyle/>
                    <a:p>
                      <a:r>
                        <a:rPr sz="1300" b="0">
                          <a:solidFill>
                            <a:srgbClr val="52514E"/>
                          </a:solidFill>
                          <a:latin typeface="Segoe UI"/>
                        </a:rPr>
                        <a:t>No: hay que arrancarla antes</a:t>
                      </a:r>
                    </a:p>
                  </a:txBody>
                  <a:tcPr marL="164592" anchor="ctr">
                    <a:solidFill>
                      <a:srgbClr val="F3F2EE"/>
                    </a:solidFill>
                  </a:tcPr>
                </a:tc>
              </a:tr>
              <a:tr h="475488">
                <a:tc>
                  <a:txBody>
                    <a:bodyPr/>
                    <a:lstStyle/>
                    <a:p>
                      <a:r>
                        <a:rPr sz="1300" b="1">
                          <a:solidFill>
                            <a:srgbClr val="0B0B0B"/>
                          </a:solidFill>
                          <a:latin typeface="Segoe UI"/>
                        </a:rPr>
                        <a:t>Accesibilidad</a:t>
                      </a:r>
                    </a:p>
                  </a:txBody>
                  <a:tcPr marL="164592" anchor="ctr">
                    <a:solidFill>
                      <a:srgbClr val="FCFCFB"/>
                    </a:solidFill>
                  </a:tcPr>
                </a:tc>
                <a:tc>
                  <a:txBody>
                    <a:bodyPr/>
                    <a:lstStyle/>
                    <a:p>
                      <a:r>
                        <a:rPr sz="1300" b="0">
                          <a:solidFill>
                            <a:srgbClr val="52514E"/>
                          </a:solidFill>
                          <a:latin typeface="Segoe UI"/>
                        </a:rPr>
                        <a:t>@axe-core/playwright</a:t>
                      </a:r>
                    </a:p>
                  </a:txBody>
                  <a:tcPr marL="164592" anchor="ctr">
                    <a:solidFill>
                      <a:srgbClr val="FCFCFB"/>
                    </a:solidFill>
                  </a:tcPr>
                </a:tc>
                <a:tc>
                  <a:txBody>
                    <a:bodyPr/>
                    <a:lstStyle/>
                    <a:p>
                      <a:r>
                        <a:rPr sz="1300" b="0">
                          <a:solidFill>
                            <a:srgbClr val="52514E"/>
                          </a:solidFill>
                          <a:latin typeface="Segoe UI"/>
                        </a:rPr>
                        <a:t>Requiere integración</a:t>
                      </a:r>
                    </a:p>
                  </a:txBody>
                  <a:tcPr marL="164592" anchor="ctr">
                    <a:solidFill>
                      <a:srgbClr val="FCFCFB"/>
                    </a:solidFill>
                  </a:tcPr>
                </a:tc>
              </a:tr>
              <a:tr h="475488">
                <a:tc>
                  <a:txBody>
                    <a:bodyPr/>
                    <a:lstStyle/>
                    <a:p>
                      <a:r>
                        <a:rPr sz="1300" b="1">
                          <a:solidFill>
                            <a:srgbClr val="0B0B0B"/>
                          </a:solidFill>
                          <a:latin typeface="Segoe UI"/>
                        </a:rPr>
                        <a:t>Regresión visual</a:t>
                      </a:r>
                    </a:p>
                  </a:txBody>
                  <a:tcPr marL="164592" anchor="ctr">
                    <a:solidFill>
                      <a:srgbClr val="F3F2EE"/>
                    </a:solidFill>
                  </a:tcPr>
                </a:tc>
                <a:tc>
                  <a:txBody>
                    <a:bodyPr/>
                    <a:lstStyle/>
                    <a:p>
                      <a:r>
                        <a:rPr sz="1300" b="0">
                          <a:solidFill>
                            <a:srgbClr val="52514E"/>
                          </a:solidFill>
                          <a:latin typeface="Segoe UI"/>
                        </a:rPr>
                        <a:t>Nativa</a:t>
                      </a:r>
                    </a:p>
                  </a:txBody>
                  <a:tcPr marL="164592" anchor="ctr">
                    <a:solidFill>
                      <a:srgbClr val="F3F2EE"/>
                    </a:solidFill>
                  </a:tcPr>
                </a:tc>
                <a:tc>
                  <a:txBody>
                    <a:bodyPr/>
                    <a:lstStyle/>
                    <a:p>
                      <a:r>
                        <a:rPr sz="1300" b="0">
                          <a:solidFill>
                            <a:srgbClr val="52514E"/>
                          </a:solidFill>
                          <a:latin typeface="Segoe UI"/>
                        </a:rPr>
                        <a:t>Librería externa</a:t>
                      </a:r>
                    </a:p>
                  </a:txBody>
                  <a:tcPr marL="164592" anchor="ctr">
                    <a:solidFill>
                      <a:srgbClr val="F3F2EE"/>
                    </a:solidFill>
                  </a:tcPr>
                </a:tc>
              </a:tr>
              <a:tr h="475488">
                <a:tc>
                  <a:txBody>
                    <a:bodyPr/>
                    <a:lstStyle/>
                    <a:p>
                      <a:r>
                        <a:rPr sz="1300" b="1">
                          <a:solidFill>
                            <a:srgbClr val="0B0B0B"/>
                          </a:solidFill>
                          <a:latin typeface="Segoe UI"/>
                        </a:rPr>
                        <a:t>Lenguajes</a:t>
                      </a:r>
                    </a:p>
                  </a:txBody>
                  <a:tcPr marL="164592" anchor="ctr">
                    <a:solidFill>
                      <a:srgbClr val="FCFCFB"/>
                    </a:solidFill>
                  </a:tcPr>
                </a:tc>
                <a:tc>
                  <a:txBody>
                    <a:bodyPr/>
                    <a:lstStyle/>
                    <a:p>
                      <a:r>
                        <a:rPr sz="1300" b="0">
                          <a:solidFill>
                            <a:srgbClr val="52514E"/>
                          </a:solidFill>
                          <a:latin typeface="Segoe UI"/>
                        </a:rPr>
                        <a:t>JS/TS, Python, Java, .NET</a:t>
                      </a:r>
                    </a:p>
                  </a:txBody>
                  <a:tcPr marL="164592" anchor="ctr">
                    <a:solidFill>
                      <a:srgbClr val="FCFCFB"/>
                    </a:solidFill>
                  </a:tcPr>
                </a:tc>
                <a:tc>
                  <a:txBody>
                    <a:bodyPr/>
                    <a:lstStyle/>
                    <a:p>
                      <a:r>
                        <a:rPr sz="1300" b="0">
                          <a:solidFill>
                            <a:srgbClr val="52514E"/>
                          </a:solidFill>
                          <a:latin typeface="Segoe UI"/>
                        </a:rPr>
                        <a:t>Prácticamente todos</a:t>
                      </a:r>
                    </a:p>
                  </a:txBody>
                  <a:tcPr marL="164592" anchor="ctr">
                    <a:solidFill>
                      <a:srgbClr val="FCFCFB"/>
                    </a:solidFill>
                  </a:tcPr>
                </a:tc>
              </a:tr>
              <a:tr h="475488">
                <a:tc>
                  <a:txBody>
                    <a:bodyPr/>
                    <a:lstStyle/>
                    <a:p>
                      <a:r>
                        <a:rPr sz="1300" b="1">
                          <a:solidFill>
                            <a:srgbClr val="0B0B0B"/>
                          </a:solidFill>
                          <a:latin typeface="Segoe UI"/>
                        </a:rPr>
                        <a:t>Industria</a:t>
                      </a:r>
                    </a:p>
                  </a:txBody>
                  <a:tcPr marL="164592" anchor="ctr">
                    <a:solidFill>
                      <a:srgbClr val="F3F2EE"/>
                    </a:solidFill>
                  </a:tcPr>
                </a:tc>
                <a:tc>
                  <a:txBody>
                    <a:bodyPr/>
                    <a:lstStyle/>
                    <a:p>
                      <a:r>
                        <a:rPr sz="1300" b="0">
                          <a:solidFill>
                            <a:srgbClr val="52514E"/>
                          </a:solidFill>
                          <a:latin typeface="Segoe UI"/>
                        </a:rPr>
                        <a:t>En crecimiento</a:t>
                      </a:r>
                    </a:p>
                  </a:txBody>
                  <a:tcPr marL="164592" anchor="ctr">
                    <a:solidFill>
                      <a:srgbClr val="F3F2EE"/>
                    </a:solidFill>
                  </a:tcPr>
                </a:tc>
                <a:tc>
                  <a:txBody>
                    <a:bodyPr/>
                    <a:lstStyle/>
                    <a:p>
                      <a:r>
                        <a:rPr sz="1300" b="0">
                          <a:solidFill>
                            <a:srgbClr val="52514E"/>
                          </a:solidFill>
                          <a:latin typeface="Segoe UI"/>
                        </a:rPr>
                        <a:t>Estándar histórico</a:t>
                      </a:r>
                    </a:p>
                  </a:txBody>
                  <a:tcPr marL="164592" anchor="ctr">
                    <a:solidFill>
                      <a:srgbClr val="F3F2EE"/>
                    </a:solidFill>
                  </a:tcPr>
                </a:tc>
              </a:tr>
              <a:tr h="475488">
                <a:tc>
                  <a:txBody>
                    <a:bodyPr/>
                    <a:lstStyle/>
                    <a:p>
                      <a:r>
                        <a:rPr sz="1300" b="1">
                          <a:solidFill>
                            <a:srgbClr val="0B0B0B"/>
                          </a:solidFill>
                          <a:latin typeface="Segoe UI"/>
                        </a:rPr>
                        <a:t>En este taller</a:t>
                      </a:r>
                    </a:p>
                  </a:txBody>
                  <a:tcPr marL="164592" anchor="ctr">
                    <a:solidFill>
                      <a:srgbClr val="FCFCFB"/>
                    </a:solidFill>
                  </a:tcPr>
                </a:tc>
                <a:tc>
                  <a:txBody>
                    <a:bodyPr/>
                    <a:lstStyle/>
                    <a:p>
                      <a:r>
                        <a:rPr sz="1300" b="0">
                          <a:solidFill>
                            <a:srgbClr val="52514E"/>
                          </a:solidFill>
                          <a:latin typeface="Segoe UI"/>
                        </a:rPr>
                        <a:t>Pista principal · 28 pruebas</a:t>
                      </a:r>
                    </a:p>
                  </a:txBody>
                  <a:tcPr marL="164592" anchor="ctr">
                    <a:solidFill>
                      <a:srgbClr val="FCFCFB"/>
                    </a:solidFill>
                  </a:tcPr>
                </a:tc>
                <a:tc>
                  <a:txBody>
                    <a:bodyPr/>
                    <a:lstStyle/>
                    <a:p>
                      <a:r>
                        <a:rPr sz="1300" b="0">
                          <a:solidFill>
                            <a:srgbClr val="52514E"/>
                          </a:solidFill>
                          <a:latin typeface="Segoe UI"/>
                        </a:rPr>
                        <a:t>Pista alternativa · 7 pruebas</a:t>
                      </a:r>
                    </a:p>
                  </a:txBody>
                  <a:tcPr marL="164592" anchor="ctr">
                    <a:solidFill>
                      <a:srgbClr val="FCFCFB"/>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lnSpc>
                <a:spcPct val="110000"/>
              </a:lnSpc>
            </a:pPr>
            <a:r>
              <a:rPr sz="1100" b="1" i="0" spc="150">
                <a:solidFill>
                  <a:srgbClr val="2A78D6"/>
                </a:solidFill>
                <a:latin typeface="Segoe UI"/>
              </a:rPr>
              <a:t>ENTREGA</a:t>
            </a:r>
          </a:p>
        </p:txBody>
      </p:sp>
      <p:sp>
        <p:nvSpPr>
          <p:cNvPr id="3" name="TextBox 2"/>
          <p:cNvSpPr txBox="1"/>
          <p:nvPr/>
        </p:nvSpPr>
        <p:spPr>
          <a:xfrm>
            <a:off x="548640" y="566928"/>
            <a:ext cx="11064240" cy="731520"/>
          </a:xfrm>
          <a:prstGeom prst="rect">
            <a:avLst/>
          </a:prstGeom>
          <a:noFill/>
        </p:spPr>
        <p:txBody>
          <a:bodyPr wrap="square" lIns="0" rIns="0" tIns="0" bIns="0" anchor="t">
            <a:spAutoFit/>
          </a:bodyPr>
          <a:lstStyle/>
          <a:p>
            <a:pPr algn="l">
              <a:lnSpc>
                <a:spcPct val="110000"/>
              </a:lnSpc>
            </a:pPr>
            <a:r>
              <a:rPr sz="2800" b="1" i="0">
                <a:solidFill>
                  <a:srgbClr val="0B0B0B"/>
                </a:solidFill>
                <a:latin typeface="Segoe UI"/>
              </a:rPr>
              <a:t>Cómo se califica la entrega</a:t>
            </a:r>
          </a:p>
        </p:txBody>
      </p:sp>
      <p:sp>
        <p:nvSpPr>
          <p:cNvPr id="4" name="TextBox 3"/>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22</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graphicFrame>
        <p:nvGraphicFramePr>
          <p:cNvPr id="6" name="Chart 5"/>
          <p:cNvGraphicFramePr>
            <a:graphicFrameLocks noGrp="1"/>
          </p:cNvGraphicFramePr>
          <p:nvPr/>
        </p:nvGraphicFramePr>
        <p:xfrm>
          <a:off x="411480" y="1463040"/>
          <a:ext cx="6309360" cy="4754880"/>
        </p:xfrm>
        <a:graphic>
          <a:graphicData uri="http://schemas.openxmlformats.org/drawingml/2006/chart">
            <c:chart xmlns:c="http://schemas.openxmlformats.org/drawingml/2006/chart" r:id="rId3"/>
          </a:graphicData>
        </a:graphic>
      </p:graphicFrame>
      <p:sp>
        <p:nvSpPr>
          <p:cNvPr id="7" name="TextBox 6"/>
          <p:cNvSpPr txBox="1"/>
          <p:nvPr/>
        </p:nvSpPr>
        <p:spPr>
          <a:xfrm>
            <a:off x="7132320" y="1554480"/>
            <a:ext cx="4572000" cy="822960"/>
          </a:xfrm>
          <a:prstGeom prst="rect">
            <a:avLst/>
          </a:prstGeom>
          <a:noFill/>
        </p:spPr>
        <p:txBody>
          <a:bodyPr wrap="square" lIns="0" rIns="0" tIns="0" bIns="0" anchor="t">
            <a:spAutoFit/>
          </a:bodyPr>
          <a:lstStyle/>
          <a:p>
            <a:pPr algn="l">
              <a:lnSpc>
                <a:spcPct val="110000"/>
              </a:lnSpc>
            </a:pPr>
            <a:r>
              <a:rPr sz="4000" b="1" i="0">
                <a:solidFill>
                  <a:srgbClr val="184F95"/>
                </a:solidFill>
                <a:latin typeface="Segoe UI"/>
              </a:rPr>
              <a:t>65 puntos</a:t>
            </a:r>
          </a:p>
        </p:txBody>
      </p:sp>
      <p:sp>
        <p:nvSpPr>
          <p:cNvPr id="8" name="TextBox 7"/>
          <p:cNvSpPr txBox="1"/>
          <p:nvPr/>
        </p:nvSpPr>
        <p:spPr>
          <a:xfrm>
            <a:off x="7132320" y="2286000"/>
            <a:ext cx="4572000" cy="640080"/>
          </a:xfrm>
          <a:prstGeom prst="rect">
            <a:avLst/>
          </a:prstGeom>
          <a:noFill/>
        </p:spPr>
        <p:txBody>
          <a:bodyPr wrap="square" lIns="0" rIns="0" tIns="0" bIns="0" anchor="t">
            <a:spAutoFit/>
          </a:bodyPr>
          <a:lstStyle/>
          <a:p>
            <a:pPr algn="l">
              <a:lnSpc>
                <a:spcPct val="115000"/>
              </a:lnSpc>
            </a:pPr>
            <a:r>
              <a:rPr sz="1300" b="0" i="0">
                <a:solidFill>
                  <a:srgbClr val="52514E"/>
                </a:solidFill>
                <a:latin typeface="Segoe UI"/>
              </a:rPr>
              <a:t>13 criterios × 5. E2E, accesibilidad y usabilidad valen por dos.</a:t>
            </a:r>
          </a:p>
        </p:txBody>
      </p:sp>
      <p:sp>
        <p:nvSpPr>
          <p:cNvPr id="9" name="TextBox 8"/>
          <p:cNvSpPr txBox="1"/>
          <p:nvPr/>
        </p:nvSpPr>
        <p:spPr>
          <a:xfrm>
            <a:off x="7132320" y="3063240"/>
            <a:ext cx="1097280" cy="32004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59 – 65</a:t>
            </a:r>
          </a:p>
        </p:txBody>
      </p:sp>
      <p:sp>
        <p:nvSpPr>
          <p:cNvPr id="10" name="TextBox 9"/>
          <p:cNvSpPr txBox="1"/>
          <p:nvPr/>
        </p:nvSpPr>
        <p:spPr>
          <a:xfrm>
            <a:off x="8275320" y="3063240"/>
            <a:ext cx="3383280" cy="3200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Excelente dominio técnico y metodológico</a:t>
            </a:r>
          </a:p>
        </p:txBody>
      </p:sp>
      <p:sp>
        <p:nvSpPr>
          <p:cNvPr id="11" name="TextBox 10"/>
          <p:cNvSpPr txBox="1"/>
          <p:nvPr/>
        </p:nvSpPr>
        <p:spPr>
          <a:xfrm>
            <a:off x="7132320" y="3493008"/>
            <a:ext cx="1097280" cy="32004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46 – 58</a:t>
            </a:r>
          </a:p>
        </p:txBody>
      </p:sp>
      <p:sp>
        <p:nvSpPr>
          <p:cNvPr id="12" name="TextBox 11"/>
          <p:cNvSpPr txBox="1"/>
          <p:nvPr/>
        </p:nvSpPr>
        <p:spPr>
          <a:xfrm>
            <a:off x="8275320" y="3493008"/>
            <a:ext cx="3383280" cy="3200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Buen trabajo, análisis parcial</a:t>
            </a:r>
          </a:p>
        </p:txBody>
      </p:sp>
      <p:sp>
        <p:nvSpPr>
          <p:cNvPr id="13" name="TextBox 12"/>
          <p:cNvSpPr txBox="1"/>
          <p:nvPr/>
        </p:nvSpPr>
        <p:spPr>
          <a:xfrm>
            <a:off x="7132320" y="3922776"/>
            <a:ext cx="1097280" cy="32004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39 – 45</a:t>
            </a:r>
          </a:p>
        </p:txBody>
      </p:sp>
      <p:sp>
        <p:nvSpPr>
          <p:cNvPr id="14" name="TextBox 13"/>
          <p:cNvSpPr txBox="1"/>
          <p:nvPr/>
        </p:nvSpPr>
        <p:spPr>
          <a:xfrm>
            <a:off x="8275320" y="3922776"/>
            <a:ext cx="3383280" cy="3200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Cumple lo básico, sin profundidad</a:t>
            </a:r>
          </a:p>
        </p:txBody>
      </p:sp>
      <p:sp>
        <p:nvSpPr>
          <p:cNvPr id="15" name="TextBox 14"/>
          <p:cNvSpPr txBox="1"/>
          <p:nvPr/>
        </p:nvSpPr>
        <p:spPr>
          <a:xfrm>
            <a:off x="7132320" y="4352544"/>
            <a:ext cx="1097280" cy="320040"/>
          </a:xfrm>
          <a:prstGeom prst="rect">
            <a:avLst/>
          </a:prstGeom>
          <a:noFill/>
        </p:spPr>
        <p:txBody>
          <a:bodyPr wrap="square" lIns="0" rIns="0" tIns="0" bIns="0" anchor="t">
            <a:spAutoFit/>
          </a:bodyPr>
          <a:lstStyle/>
          <a:p>
            <a:pPr algn="l">
              <a:lnSpc>
                <a:spcPct val="110000"/>
              </a:lnSpc>
            </a:pPr>
            <a:r>
              <a:rPr sz="1300" b="1" i="0">
                <a:solidFill>
                  <a:srgbClr val="0B0B0B"/>
                </a:solidFill>
                <a:latin typeface="Segoe UI"/>
              </a:rPr>
              <a:t>&lt; 39</a:t>
            </a:r>
          </a:p>
        </p:txBody>
      </p:sp>
      <p:sp>
        <p:nvSpPr>
          <p:cNvPr id="16" name="TextBox 15"/>
          <p:cNvSpPr txBox="1"/>
          <p:nvPr/>
        </p:nvSpPr>
        <p:spPr>
          <a:xfrm>
            <a:off x="8275320" y="4352544"/>
            <a:ext cx="3383280" cy="320040"/>
          </a:xfrm>
          <a:prstGeom prst="rect">
            <a:avLst/>
          </a:prstGeom>
          <a:noFill/>
        </p:spPr>
        <p:txBody>
          <a:bodyPr wrap="square" lIns="0" rIns="0" tIns="0" bIns="0" anchor="t">
            <a:spAutoFit/>
          </a:bodyPr>
          <a:lstStyle/>
          <a:p>
            <a:pPr algn="l">
              <a:lnSpc>
                <a:spcPct val="110000"/>
              </a:lnSpc>
            </a:pPr>
            <a:r>
              <a:rPr sz="1200" b="0" i="0">
                <a:solidFill>
                  <a:srgbClr val="52514E"/>
                </a:solidFill>
                <a:latin typeface="Segoe UI"/>
              </a:rPr>
              <a:t>No cumple los mínimos</a:t>
            </a:r>
          </a:p>
        </p:txBody>
      </p:sp>
      <p:sp>
        <p:nvSpPr>
          <p:cNvPr id="17" name="Rounded Rectangle 16"/>
          <p:cNvSpPr/>
          <p:nvPr/>
        </p:nvSpPr>
        <p:spPr>
          <a:xfrm>
            <a:off x="7132320" y="4892040"/>
            <a:ext cx="4526280" cy="1188720"/>
          </a:xfrm>
          <a:prstGeom prst="roundRect">
            <a:avLst>
              <a:gd name="adj" fmla="val 5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8" name="TextBox 17"/>
          <p:cNvSpPr txBox="1"/>
          <p:nvPr/>
        </p:nvSpPr>
        <p:spPr>
          <a:xfrm>
            <a:off x="7360920" y="5029200"/>
            <a:ext cx="4114800" cy="1005840"/>
          </a:xfrm>
          <a:prstGeom prst="rect">
            <a:avLst/>
          </a:prstGeom>
          <a:noFill/>
        </p:spPr>
        <p:txBody>
          <a:bodyPr wrap="square" lIns="0" rIns="0" tIns="0" bIns="0" anchor="t">
            <a:spAutoFit/>
          </a:bodyPr>
          <a:lstStyle/>
          <a:p>
            <a:pPr algn="l">
              <a:lnSpc>
                <a:spcPct val="115000"/>
              </a:lnSpc>
            </a:pPr>
            <a:r>
              <a:rPr sz="1200" b="1" i="0">
                <a:solidFill>
                  <a:srgbClr val="184F95"/>
                </a:solidFill>
                <a:latin typeface="Segoe UI"/>
              </a:rPr>
              <a:t>Antes de entregar: </a:t>
            </a:r>
            <a:r>
              <a:rPr sz="1200" b="0" i="0">
                <a:solidFill>
                  <a:srgbClr val="0B0B0B"/>
                </a:solidFill>
                <a:latin typeface="Segoe UI"/>
              </a:rPr>
              <a:t>clone su propio repositorio en otra carpeta y ejecute npm test. Si no queda en verde sin pasos manuales, falta algo.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11064240" y="6446520"/>
            <a:ext cx="731520" cy="274320"/>
          </a:xfrm>
          <a:prstGeom prst="rect">
            <a:avLst/>
          </a:prstGeom>
          <a:noFill/>
        </p:spPr>
        <p:txBody>
          <a:bodyPr wrap="square" lIns="0" rIns="0" tIns="0" bIns="0" anchor="t">
            <a:spAutoFit/>
          </a:bodyPr>
          <a:lstStyle/>
          <a:p>
            <a:pPr algn="r">
              <a:lnSpc>
                <a:spcPct val="110000"/>
              </a:lnSpc>
            </a:pPr>
            <a:r>
              <a:rPr sz="1000" b="0" i="0">
                <a:solidFill>
                  <a:srgbClr val="898781"/>
                </a:solidFill>
                <a:latin typeface="Segoe UI"/>
              </a:rPr>
              <a:t>23</a:t>
            </a:r>
          </a:p>
        </p:txBody>
      </p:sp>
      <p:sp>
        <p:nvSpPr>
          <p:cNvPr id="3" name="TextBox 2"/>
          <p:cNvSpPr txBox="1"/>
          <p:nvPr/>
        </p:nvSpPr>
        <p:spPr>
          <a:xfrm>
            <a:off x="548640" y="6446520"/>
            <a:ext cx="7315200" cy="274320"/>
          </a:xfrm>
          <a:prstGeom prst="rect">
            <a:avLst/>
          </a:prstGeom>
          <a:noFill/>
        </p:spPr>
        <p:txBody>
          <a:bodyPr wrap="square" lIns="0" rIns="0" tIns="0" bIns="0" anchor="t">
            <a:spAutoFit/>
          </a:bodyPr>
          <a:lstStyle/>
          <a:p>
            <a:pPr algn="l">
              <a:lnSpc>
                <a:spcPct val="110000"/>
              </a:lnSpc>
            </a:pPr>
            <a:r>
              <a:rPr sz="1000" b="0" i="0">
                <a:solidFill>
                  <a:srgbClr val="898781"/>
                </a:solidFill>
                <a:latin typeface="Segoe UI"/>
              </a:rPr>
              <a:t>Taller de pruebas de UI y UX</a:t>
            </a:r>
          </a:p>
        </p:txBody>
      </p:sp>
      <p:sp>
        <p:nvSpPr>
          <p:cNvPr id="4" name="TextBox 3"/>
          <p:cNvSpPr txBox="1"/>
          <p:nvPr/>
        </p:nvSpPr>
        <p:spPr>
          <a:xfrm>
            <a:off x="548640" y="1188720"/>
            <a:ext cx="10058400" cy="274320"/>
          </a:xfrm>
          <a:prstGeom prst="rect">
            <a:avLst/>
          </a:prstGeom>
          <a:noFill/>
        </p:spPr>
        <p:txBody>
          <a:bodyPr wrap="square" lIns="0" rIns="0" tIns="0" bIns="0" anchor="t">
            <a:spAutoFit/>
          </a:bodyPr>
          <a:lstStyle/>
          <a:p>
            <a:pPr algn="l">
              <a:lnSpc>
                <a:spcPct val="110000"/>
              </a:lnSpc>
            </a:pPr>
            <a:r>
              <a:rPr sz="1200" b="1" i="0" spc="150">
                <a:solidFill>
                  <a:srgbClr val="EB6834"/>
                </a:solidFill>
                <a:latin typeface="Segoe UI"/>
              </a:rPr>
              <a:t>LA PREGUNTA QUE CIERRA EL TALLER</a:t>
            </a:r>
          </a:p>
        </p:txBody>
      </p:sp>
      <p:sp>
        <p:nvSpPr>
          <p:cNvPr id="5" name="TextBox 4"/>
          <p:cNvSpPr txBox="1"/>
          <p:nvPr/>
        </p:nvSpPr>
        <p:spPr>
          <a:xfrm>
            <a:off x="548640" y="1600200"/>
            <a:ext cx="10607040" cy="2194560"/>
          </a:xfrm>
          <a:prstGeom prst="rect">
            <a:avLst/>
          </a:prstGeom>
          <a:noFill/>
        </p:spPr>
        <p:txBody>
          <a:bodyPr wrap="square" lIns="0" rIns="0" tIns="0" bIns="0" anchor="t">
            <a:spAutoFit/>
          </a:bodyPr>
          <a:lstStyle/>
          <a:p>
            <a:pPr algn="l">
              <a:lnSpc>
                <a:spcPct val="110000"/>
              </a:lnSpc>
            </a:pPr>
            <a:r>
              <a:rPr sz="3600" b="1" i="0">
                <a:solidFill>
                  <a:srgbClr val="0B0B0B"/>
                </a:solidFill>
                <a:latin typeface="Segoe UI"/>
              </a:rPr>
              <a:t>¿Qué problema encontraron los usuarios que ninguna de las 28 pruebas automatizadas podía detectar?</a:t>
            </a:r>
          </a:p>
        </p:txBody>
      </p:sp>
      <p:sp>
        <p:nvSpPr>
          <p:cNvPr id="6" name="Oval 5"/>
          <p:cNvSpPr/>
          <p:nvPr/>
        </p:nvSpPr>
        <p:spPr>
          <a:xfrm>
            <a:off x="612648" y="4233672"/>
            <a:ext cx="146304" cy="146304"/>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160520"/>
            <a:ext cx="10515600" cy="502920"/>
          </a:xfrm>
          <a:prstGeom prst="rect">
            <a:avLst/>
          </a:prstGeom>
          <a:noFill/>
        </p:spPr>
        <p:txBody>
          <a:bodyPr wrap="square" lIns="0" rIns="0" tIns="0" bIns="0" anchor="t">
            <a:spAutoFit/>
          </a:bodyPr>
          <a:lstStyle/>
          <a:p>
            <a:pPr algn="l">
              <a:lnSpc>
                <a:spcPct val="115000"/>
              </a:lnSpc>
            </a:pPr>
            <a:r>
              <a:rPr sz="1600" b="0" i="0">
                <a:solidFill>
                  <a:srgbClr val="52514E"/>
                </a:solidFill>
                <a:latin typeface="Segoe UI"/>
              </a:rPr>
              <a:t>¿Qué encontró axe que usted no habría notado mirando la pantalla?</a:t>
            </a:r>
          </a:p>
        </p:txBody>
      </p:sp>
      <p:sp>
        <p:nvSpPr>
          <p:cNvPr id="8" name="Oval 7"/>
          <p:cNvSpPr/>
          <p:nvPr/>
        </p:nvSpPr>
        <p:spPr>
          <a:xfrm>
            <a:off x="612648" y="4800600"/>
            <a:ext cx="146304" cy="146304"/>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727448"/>
            <a:ext cx="10515600" cy="502920"/>
          </a:xfrm>
          <a:prstGeom prst="rect">
            <a:avLst/>
          </a:prstGeom>
          <a:noFill/>
        </p:spPr>
        <p:txBody>
          <a:bodyPr wrap="square" lIns="0" rIns="0" tIns="0" bIns="0" anchor="t">
            <a:spAutoFit/>
          </a:bodyPr>
          <a:lstStyle/>
          <a:p>
            <a:pPr algn="l">
              <a:lnSpc>
                <a:spcPct val="115000"/>
              </a:lnSpc>
            </a:pPr>
            <a:r>
              <a:rPr sz="1600" b="0" i="0">
                <a:solidFill>
                  <a:srgbClr val="52514E"/>
                </a:solidFill>
                <a:latin typeface="Segoe UI"/>
              </a:rPr>
              <a:t>¿Qué le costó más: escribir las pruebas o mantenerlas estables?</a:t>
            </a:r>
          </a:p>
        </p:txBody>
      </p:sp>
      <p:sp>
        <p:nvSpPr>
          <p:cNvPr id="10" name="Oval 9"/>
          <p:cNvSpPr/>
          <p:nvPr/>
        </p:nvSpPr>
        <p:spPr>
          <a:xfrm>
            <a:off x="612648" y="5367528"/>
            <a:ext cx="146304" cy="146304"/>
          </a:xfrm>
          <a:prstGeom prst="ellipse">
            <a:avLst/>
          </a:prstGeom>
          <a:solidFill>
            <a:srgbClr val="2A78D6"/>
          </a:solidFill>
          <a:ln w="19050">
            <a:solidFill>
              <a:srgbClr val="FCFC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294376"/>
            <a:ext cx="10515600" cy="502920"/>
          </a:xfrm>
          <a:prstGeom prst="rect">
            <a:avLst/>
          </a:prstGeom>
          <a:noFill/>
        </p:spPr>
        <p:txBody>
          <a:bodyPr wrap="square" lIns="0" rIns="0" tIns="0" bIns="0" anchor="t">
            <a:spAutoFit/>
          </a:bodyPr>
          <a:lstStyle/>
          <a:p>
            <a:pPr algn="l">
              <a:lnSpc>
                <a:spcPct val="115000"/>
              </a:lnSpc>
            </a:pPr>
            <a:r>
              <a:rPr sz="1600" b="0" i="0">
                <a:solidFill>
                  <a:srgbClr val="52514E"/>
                </a:solidFill>
                <a:latin typeface="Segoe UI"/>
              </a:rPr>
              <a:t>Si hizo el módulo 6: ¿para qué tarea usaría una IA al probar, para cuál no, y qué verificación manual no se saltaría nunca?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